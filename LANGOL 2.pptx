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Hind Siliguri Bold" charset="1" panose="02000000000000000000"/>
      <p:regular r:id="rId29"/>
    </p:embeddedFont>
    <p:embeddedFont>
      <p:font typeface="Gordita Bold" charset="1" panose="00000000000000000000"/>
      <p:regular r:id="rId30"/>
    </p:embeddedFont>
    <p:embeddedFont>
      <p:font typeface="Agrandir Bold" charset="1" panose="00000800000000000000"/>
      <p:regular r:id="rId31"/>
    </p:embeddedFont>
    <p:embeddedFont>
      <p:font typeface="Agrandir" charset="1" panose="00000500000000000000"/>
      <p:regular r:id="rId32"/>
    </p:embeddedFont>
    <p:embeddedFont>
      <p:font typeface="TT Hoves Bold" charset="1" panose="02000003020000060003"/>
      <p:regular r:id="rId33"/>
    </p:embeddedFont>
    <p:embeddedFont>
      <p:font typeface="Gordita" charset="1" panose="00000000000000000000"/>
      <p:regular r:id="rId34"/>
    </p:embeddedFont>
    <p:embeddedFont>
      <p:font typeface="Gordita Italics" charset="1" panose="00000000000000000000"/>
      <p:regular r:id="rId35"/>
    </p:embeddedFont>
    <p:embeddedFont>
      <p:font typeface="Agrandir Bold Italics" charset="1" panose="00000800000000000000"/>
      <p:regular r:id="rId36"/>
    </p:embeddedFont>
    <p:embeddedFont>
      <p:font typeface="Agrandir Italics" charset="1" panose="00000500000000000000"/>
      <p:regular r:id="rId37"/>
    </p:embeddedFont>
    <p:embeddedFont>
      <p:font typeface="Canva Sans" charset="1" panose="020B0503030501040103"/>
      <p:regular r:id="rId38"/>
    </p:embeddedFont>
    <p:embeddedFont>
      <p:font typeface="Canva Sans Bold" charset="1" panose="020B0803030501040103"/>
      <p:regular r:id="rId39"/>
    </p:embeddedFont>
    <p:embeddedFont>
      <p:font typeface="TT Hoves" charset="1" panose="02000003020000060003"/>
      <p:regular r:id="rId40"/>
    </p:embeddedFont>
    <p:embeddedFont>
      <p:font typeface="Marykate" charset="1" panose="000000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7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embeddings/oleObject1.bin" Type="http://schemas.openxmlformats.org/officeDocument/2006/relationships/oleObject"/><Relationship Id="rId5" Target="../media/image40.png" Type="http://schemas.openxmlformats.org/officeDocument/2006/relationships/image"/><Relationship Id="rId6" Target="../embeddings/oleObject2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embeddings/oleObject3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embeddings/oleObject4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png" Type="http://schemas.openxmlformats.org/officeDocument/2006/relationships/image"/><Relationship Id="rId12" Target="../media/image55.svg" Type="http://schemas.openxmlformats.org/officeDocument/2006/relationships/image"/><Relationship Id="rId13" Target="../media/image56.png" Type="http://schemas.openxmlformats.org/officeDocument/2006/relationships/image"/><Relationship Id="rId14" Target="../media/image57.svg" Type="http://schemas.openxmlformats.org/officeDocument/2006/relationships/image"/><Relationship Id="rId15" Target="../media/image58.png" Type="http://schemas.openxmlformats.org/officeDocument/2006/relationships/image"/><Relationship Id="rId16" Target="../media/image59.svg" Type="http://schemas.openxmlformats.org/officeDocument/2006/relationships/image"/><Relationship Id="rId2" Target="../media/image46.png" Type="http://schemas.openxmlformats.org/officeDocument/2006/relationships/image"/><Relationship Id="rId3" Target="../media/image47.png" Type="http://schemas.openxmlformats.org/officeDocument/2006/relationships/image"/><Relationship Id="rId4" Target="../media/image48.sv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51.png" Type="http://schemas.openxmlformats.org/officeDocument/2006/relationships/image"/><Relationship Id="rId8" Target="../media/image52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jpe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Relationship Id="rId5" Target="../media/image63.png" Type="http://schemas.openxmlformats.org/officeDocument/2006/relationships/image"/><Relationship Id="rId6" Target="../media/image6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58877" y="-1646650"/>
            <a:ext cx="6515936" cy="6382178"/>
          </a:xfrm>
          <a:custGeom>
            <a:avLst/>
            <a:gdLst/>
            <a:ahLst/>
            <a:cxnLst/>
            <a:rect r="r" b="b" t="t" l="l"/>
            <a:pathLst>
              <a:path h="6382178" w="6515936">
                <a:moveTo>
                  <a:pt x="0" y="0"/>
                </a:moveTo>
                <a:lnTo>
                  <a:pt x="6515936" y="0"/>
                </a:lnTo>
                <a:lnTo>
                  <a:pt x="6515936" y="6382179"/>
                </a:lnTo>
                <a:lnTo>
                  <a:pt x="0" y="6382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00325">
            <a:off x="-266576" y="1482619"/>
            <a:ext cx="4631804" cy="4536723"/>
          </a:xfrm>
          <a:custGeom>
            <a:avLst/>
            <a:gdLst/>
            <a:ahLst/>
            <a:cxnLst/>
            <a:rect r="r" b="b" t="t" l="l"/>
            <a:pathLst>
              <a:path h="4536723" w="4631804">
                <a:moveTo>
                  <a:pt x="0" y="0"/>
                </a:moveTo>
                <a:lnTo>
                  <a:pt x="4631804" y="0"/>
                </a:lnTo>
                <a:lnTo>
                  <a:pt x="4631804" y="4536722"/>
                </a:lnTo>
                <a:lnTo>
                  <a:pt x="0" y="45367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28031" y="5279206"/>
            <a:ext cx="18744063" cy="5117332"/>
            <a:chOff x="0" y="0"/>
            <a:chExt cx="2980460" cy="8136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80460" cy="813698"/>
            </a:xfrm>
            <a:custGeom>
              <a:avLst/>
              <a:gdLst/>
              <a:ahLst/>
              <a:cxnLst/>
              <a:rect r="r" b="b" t="t" l="l"/>
              <a:pathLst>
                <a:path h="813698" w="2980460">
                  <a:moveTo>
                    <a:pt x="10326" y="0"/>
                  </a:moveTo>
                  <a:lnTo>
                    <a:pt x="2970134" y="0"/>
                  </a:lnTo>
                  <a:cubicBezTo>
                    <a:pt x="2972872" y="0"/>
                    <a:pt x="2975499" y="1088"/>
                    <a:pt x="2977435" y="3024"/>
                  </a:cubicBezTo>
                  <a:cubicBezTo>
                    <a:pt x="2979372" y="4961"/>
                    <a:pt x="2980460" y="7587"/>
                    <a:pt x="2980460" y="10326"/>
                  </a:cubicBezTo>
                  <a:lnTo>
                    <a:pt x="2980460" y="803372"/>
                  </a:lnTo>
                  <a:cubicBezTo>
                    <a:pt x="2980460" y="809075"/>
                    <a:pt x="2975837" y="813698"/>
                    <a:pt x="2970134" y="813698"/>
                  </a:cubicBezTo>
                  <a:lnTo>
                    <a:pt x="10326" y="813698"/>
                  </a:lnTo>
                  <a:cubicBezTo>
                    <a:pt x="4623" y="813698"/>
                    <a:pt x="0" y="809075"/>
                    <a:pt x="0" y="803372"/>
                  </a:cubicBezTo>
                  <a:lnTo>
                    <a:pt x="0" y="10326"/>
                  </a:lnTo>
                  <a:cubicBezTo>
                    <a:pt x="0" y="4623"/>
                    <a:pt x="4623" y="0"/>
                    <a:pt x="10326" y="0"/>
                  </a:cubicBezTo>
                  <a:close/>
                </a:path>
              </a:pathLst>
            </a:custGeom>
            <a:blipFill>
              <a:blip r:embed="rId4"/>
              <a:stretch>
                <a:fillRect l="-21354" t="0" r="51374" b="11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71062" y="5279206"/>
            <a:ext cx="19747229" cy="5117332"/>
            <a:chOff x="0" y="0"/>
            <a:chExt cx="26329639" cy="68231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069356" cy="6823110"/>
            </a:xfrm>
            <a:custGeom>
              <a:avLst/>
              <a:gdLst/>
              <a:ahLst/>
              <a:cxnLst/>
              <a:rect r="r" b="b" t="t" l="l"/>
              <a:pathLst>
                <a:path h="6823110" w="9069356">
                  <a:moveTo>
                    <a:pt x="0" y="0"/>
                  </a:moveTo>
                  <a:lnTo>
                    <a:pt x="9069356" y="0"/>
                  </a:lnTo>
                  <a:lnTo>
                    <a:pt x="9069356" y="6823110"/>
                  </a:lnTo>
                  <a:lnTo>
                    <a:pt x="0" y="6823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65" t="0" r="-10483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611901" y="0"/>
              <a:ext cx="8717738" cy="6823110"/>
            </a:xfrm>
            <a:custGeom>
              <a:avLst/>
              <a:gdLst/>
              <a:ahLst/>
              <a:cxnLst/>
              <a:rect r="r" b="b" t="t" l="l"/>
              <a:pathLst>
                <a:path h="6823110" w="8717738">
                  <a:moveTo>
                    <a:pt x="0" y="0"/>
                  </a:moveTo>
                  <a:lnTo>
                    <a:pt x="8717738" y="0"/>
                  </a:lnTo>
                  <a:lnTo>
                    <a:pt x="8717738" y="6823110"/>
                  </a:lnTo>
                  <a:lnTo>
                    <a:pt x="0" y="6823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194" t="0" r="-8205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069356" y="0"/>
              <a:ext cx="8542545" cy="6823110"/>
            </a:xfrm>
            <a:custGeom>
              <a:avLst/>
              <a:gdLst/>
              <a:ahLst/>
              <a:cxnLst/>
              <a:rect r="r" b="b" t="t" l="l"/>
              <a:pathLst>
                <a:path h="6823110" w="8542545">
                  <a:moveTo>
                    <a:pt x="0" y="0"/>
                  </a:moveTo>
                  <a:lnTo>
                    <a:pt x="8542545" y="0"/>
                  </a:lnTo>
                  <a:lnTo>
                    <a:pt x="8542545" y="6823110"/>
                  </a:lnTo>
                  <a:lnTo>
                    <a:pt x="0" y="6823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365" t="0" r="-413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8167" y="834391"/>
            <a:ext cx="18288000" cy="3571615"/>
            <a:chOff x="0" y="0"/>
            <a:chExt cx="4816593" cy="940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16592" cy="940672"/>
            </a:xfrm>
            <a:custGeom>
              <a:avLst/>
              <a:gdLst/>
              <a:ahLst/>
              <a:cxnLst/>
              <a:rect r="r" b="b" t="t" l="l"/>
              <a:pathLst>
                <a:path h="94067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40672"/>
                  </a:lnTo>
                  <a:lnTo>
                    <a:pt x="0" y="940672"/>
                  </a:lnTo>
                  <a:close/>
                </a:path>
              </a:pathLst>
            </a:custGeom>
            <a:gradFill rotWithShape="true">
              <a:gsLst>
                <a:gs pos="0">
                  <a:srgbClr val="FAFFD7">
                    <a:alpha val="100000"/>
                  </a:srgbClr>
                </a:gs>
                <a:gs pos="100000">
                  <a:srgbClr val="7DA185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4816593" cy="1026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1755" y="834391"/>
            <a:ext cx="3352631" cy="863597"/>
            <a:chOff x="0" y="0"/>
            <a:chExt cx="4470174" cy="1151463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3745922" cy="1151463"/>
              <a:chOff x="0" y="0"/>
              <a:chExt cx="739935" cy="22744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739935" cy="227449"/>
              </a:xfrm>
              <a:custGeom>
                <a:avLst/>
                <a:gdLst/>
                <a:ahLst/>
                <a:cxnLst/>
                <a:rect r="r" b="b" t="t" l="l"/>
                <a:pathLst>
                  <a:path h="227449" w="739935">
                    <a:moveTo>
                      <a:pt x="113725" y="0"/>
                    </a:moveTo>
                    <a:lnTo>
                      <a:pt x="626211" y="0"/>
                    </a:lnTo>
                    <a:cubicBezTo>
                      <a:pt x="656372" y="0"/>
                      <a:pt x="685299" y="11982"/>
                      <a:pt x="706626" y="33309"/>
                    </a:cubicBezTo>
                    <a:cubicBezTo>
                      <a:pt x="727954" y="54637"/>
                      <a:pt x="739935" y="83563"/>
                      <a:pt x="739935" y="113725"/>
                    </a:cubicBezTo>
                    <a:lnTo>
                      <a:pt x="739935" y="113725"/>
                    </a:lnTo>
                    <a:cubicBezTo>
                      <a:pt x="739935" y="176533"/>
                      <a:pt x="689019" y="227449"/>
                      <a:pt x="626211" y="227449"/>
                    </a:cubicBezTo>
                    <a:lnTo>
                      <a:pt x="113725" y="227449"/>
                    </a:lnTo>
                    <a:cubicBezTo>
                      <a:pt x="83563" y="227449"/>
                      <a:pt x="54637" y="215468"/>
                      <a:pt x="33309" y="194140"/>
                    </a:cubicBezTo>
                    <a:cubicBezTo>
                      <a:pt x="11982" y="172813"/>
                      <a:pt x="0" y="143886"/>
                      <a:pt x="0" y="113725"/>
                    </a:cubicBezTo>
                    <a:lnTo>
                      <a:pt x="0" y="113725"/>
                    </a:lnTo>
                    <a:cubicBezTo>
                      <a:pt x="0" y="83563"/>
                      <a:pt x="11982" y="54637"/>
                      <a:pt x="33309" y="33309"/>
                    </a:cubicBezTo>
                    <a:cubicBezTo>
                      <a:pt x="54637" y="11982"/>
                      <a:pt x="83563" y="0"/>
                      <a:pt x="113725" y="0"/>
                    </a:cubicBezTo>
                    <a:close/>
                  </a:path>
                </a:pathLst>
              </a:custGeom>
              <a:solidFill>
                <a:srgbClr val="F7C03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739935" cy="2655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88719" y="126324"/>
              <a:ext cx="892384" cy="892384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-20" t="0" r="-20" b="0"/>
                </a:stretch>
              </a:blip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1334061" y="170855"/>
              <a:ext cx="3136114" cy="8478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48"/>
                </a:lnSpc>
              </a:pPr>
              <a:r>
                <a:rPr lang="en-US" sz="2400" b="true">
                  <a:solidFill>
                    <a:srgbClr val="023D1E"/>
                  </a:solidFill>
                  <a:latin typeface="Hind Siliguri Bold"/>
                  <a:ea typeface="Hind Siliguri Bold"/>
                  <a:cs typeface="Hind Siliguri Bold"/>
                  <a:sym typeface="Hind Siliguri Bold"/>
                </a:rPr>
                <a:t>LANGOL</a:t>
              </a:r>
            </a:p>
            <a:p>
              <a:pPr algn="l">
                <a:lnSpc>
                  <a:spcPts val="2448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023D1E"/>
                  </a:solidFill>
                  <a:latin typeface="Hind Siliguri Bold"/>
                  <a:ea typeface="Hind Siliguri Bold"/>
                  <a:cs typeface="Hind Siliguri Bold"/>
                  <a:sym typeface="Hind Siliguri Bold"/>
                </a:rPr>
                <a:t>লাঙ্গল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729519" y="300557"/>
            <a:ext cx="3480711" cy="1740356"/>
          </a:xfrm>
          <a:custGeom>
            <a:avLst/>
            <a:gdLst/>
            <a:ahLst/>
            <a:cxnLst/>
            <a:rect r="r" b="b" t="t" l="l"/>
            <a:pathLst>
              <a:path h="1740356" w="3480711">
                <a:moveTo>
                  <a:pt x="0" y="0"/>
                </a:moveTo>
                <a:lnTo>
                  <a:pt x="3480711" y="0"/>
                </a:lnTo>
                <a:lnTo>
                  <a:pt x="3480711" y="1740356"/>
                </a:lnTo>
                <a:lnTo>
                  <a:pt x="0" y="17403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244661" y="1802763"/>
            <a:ext cx="5798679" cy="273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708"/>
              </a:lnSpc>
            </a:pPr>
            <a:r>
              <a:rPr lang="en-US" sz="9824" b="true">
                <a:solidFill>
                  <a:srgbClr val="025A2C"/>
                </a:solidFill>
                <a:latin typeface="Gordita Bold"/>
                <a:ea typeface="Gordita Bold"/>
                <a:cs typeface="Gordita Bold"/>
                <a:sym typeface="Gordita Bold"/>
              </a:rPr>
              <a:t>LANGOL</a:t>
            </a:r>
          </a:p>
          <a:p>
            <a:pPr algn="just">
              <a:lnSpc>
                <a:spcPts val="10708"/>
              </a:lnSpc>
            </a:pPr>
            <a:r>
              <a:rPr lang="en-US" sz="9824" b="true">
                <a:solidFill>
                  <a:srgbClr val="025A2C"/>
                </a:solidFill>
                <a:latin typeface="Hind Siliguri Bold"/>
                <a:ea typeface="Hind Siliguri Bold"/>
                <a:cs typeface="Hind Siliguri Bold"/>
                <a:sym typeface="Hind Siliguri Bold"/>
              </a:rPr>
              <a:t>লাঙ্গল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00100"/>
            <a:ext cx="5777558" cy="98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Situation Analysis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184624"/>
            <a:ext cx="7466086" cy="3551489"/>
            <a:chOff x="0" y="0"/>
            <a:chExt cx="9954781" cy="473531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954781" cy="4735319"/>
              <a:chOff x="0" y="0"/>
              <a:chExt cx="1989309" cy="94628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989309" cy="946280"/>
              </a:xfrm>
              <a:custGeom>
                <a:avLst/>
                <a:gdLst/>
                <a:ahLst/>
                <a:cxnLst/>
                <a:rect r="r" b="b" t="t" l="l"/>
                <a:pathLst>
                  <a:path h="946280" w="1989309">
                    <a:moveTo>
                      <a:pt x="40008" y="0"/>
                    </a:moveTo>
                    <a:lnTo>
                      <a:pt x="1949301" y="0"/>
                    </a:lnTo>
                    <a:cubicBezTo>
                      <a:pt x="1959912" y="0"/>
                      <a:pt x="1970088" y="4215"/>
                      <a:pt x="1977591" y="11718"/>
                    </a:cubicBezTo>
                    <a:cubicBezTo>
                      <a:pt x="1985094" y="19221"/>
                      <a:pt x="1989309" y="29397"/>
                      <a:pt x="1989309" y="40008"/>
                    </a:cubicBezTo>
                    <a:lnTo>
                      <a:pt x="1989309" y="906272"/>
                    </a:lnTo>
                    <a:cubicBezTo>
                      <a:pt x="1989309" y="916883"/>
                      <a:pt x="1985094" y="927059"/>
                      <a:pt x="1977591" y="934562"/>
                    </a:cubicBezTo>
                    <a:cubicBezTo>
                      <a:pt x="1970088" y="942065"/>
                      <a:pt x="1959912" y="946280"/>
                      <a:pt x="1949301" y="946280"/>
                    </a:cubicBezTo>
                    <a:lnTo>
                      <a:pt x="40008" y="946280"/>
                    </a:lnTo>
                    <a:cubicBezTo>
                      <a:pt x="29397" y="946280"/>
                      <a:pt x="19221" y="942065"/>
                      <a:pt x="11718" y="934562"/>
                    </a:cubicBezTo>
                    <a:cubicBezTo>
                      <a:pt x="4215" y="927059"/>
                      <a:pt x="0" y="916883"/>
                      <a:pt x="0" y="906272"/>
                    </a:cubicBezTo>
                    <a:lnTo>
                      <a:pt x="0" y="40008"/>
                    </a:lnTo>
                    <a:cubicBezTo>
                      <a:pt x="0" y="29397"/>
                      <a:pt x="4215" y="19221"/>
                      <a:pt x="11718" y="11718"/>
                    </a:cubicBezTo>
                    <a:cubicBezTo>
                      <a:pt x="19221" y="4215"/>
                      <a:pt x="29397" y="0"/>
                      <a:pt x="40008" y="0"/>
                    </a:cubicBezTo>
                    <a:close/>
                  </a:path>
                </a:pathLst>
              </a:custGeom>
              <a:ln w="38100" cap="rnd">
                <a:solidFill>
                  <a:srgbClr val="147138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104775"/>
                <a:ext cx="1989309" cy="1051055"/>
              </a:xfrm>
              <a:prstGeom prst="rect">
                <a:avLst/>
              </a:prstGeom>
            </p:spPr>
            <p:txBody>
              <a:bodyPr anchor="ctr" rtlCol="false" tIns="48155" lIns="48155" bIns="48155" rIns="48155"/>
              <a:lstStyle/>
              <a:p>
                <a:pPr algn="l">
                  <a:lnSpc>
                    <a:spcPts val="293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29836" y="275106"/>
              <a:ext cx="9512871" cy="42562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5"/>
                </a:lnSpc>
              </a:pPr>
              <a:r>
                <a:rPr lang="en-US" sz="2246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Bangladesh Agriculture is Stuck in a Mechanization Deadlock</a:t>
              </a:r>
            </a:p>
            <a:p>
              <a:pPr algn="l" marL="485100" indent="-242550" lvl="1">
                <a:lnSpc>
                  <a:spcPts val="3145"/>
                </a:lnSpc>
                <a:buFont typeface="Arial"/>
                <a:buChar char="•"/>
              </a:pPr>
              <a:r>
                <a:rPr lang="en-US" sz="2246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৳3,020 CRORE g</a:t>
              </a:r>
              <a:r>
                <a:rPr lang="en-US" sz="2246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overnment subsidy program → FROZEN </a:t>
              </a:r>
            </a:p>
            <a:p>
              <a:pPr algn="l" marL="485100" indent="-242550" lvl="1">
                <a:lnSpc>
                  <a:spcPts val="3145"/>
                </a:lnSpc>
                <a:buFont typeface="Arial"/>
                <a:buChar char="•"/>
              </a:pPr>
              <a:r>
                <a:rPr lang="en-US" sz="2246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80-90% drop in new machinery sales since subsidy collapse</a:t>
              </a:r>
            </a:p>
            <a:p>
              <a:pPr algn="l" marL="485100" indent="-242550" lvl="1">
                <a:lnSpc>
                  <a:spcPts val="3145"/>
                </a:lnSpc>
                <a:buFont typeface="Arial"/>
                <a:buChar char="•"/>
              </a:pPr>
              <a:r>
                <a:rPr lang="en-US" sz="2246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40,000+ machines already distributed → sitting IDLE 40-60% of time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74348" y="2184624"/>
            <a:ext cx="6666880" cy="3551489"/>
            <a:chOff x="0" y="0"/>
            <a:chExt cx="8889173" cy="4735319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0">
              <a:off x="-888917" y="-665888"/>
              <a:ext cx="10667008" cy="6290126"/>
            </a:xfrm>
            <a:prstGeom prst="rect">
              <a:avLst/>
            </a:prstGeom>
          </p:spPr>
        </p:pic>
        <p:sp>
          <p:nvSpPr>
            <p:cNvPr name="TextBox 10" id="10"/>
            <p:cNvSpPr txBox="true"/>
            <p:nvPr/>
          </p:nvSpPr>
          <p:spPr>
            <a:xfrm rot="0">
              <a:off x="1979476" y="-85725"/>
              <a:ext cx="5189279" cy="4464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4"/>
                </a:lnSpc>
                <a:spcBef>
                  <a:spcPct val="0"/>
                </a:spcBef>
              </a:pPr>
              <a:r>
                <a:rPr lang="en-US" b="true" sz="1803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Ext</a:t>
              </a:r>
              <a:r>
                <a:rPr lang="en-US" b="true" sz="1803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reme Mechanization Imbalance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025759" y="6011293"/>
            <a:ext cx="4236482" cy="540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b="true" sz="2725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Th</a:t>
            </a:r>
            <a:r>
              <a:rPr lang="en-US" b="true" sz="2725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ree Converging Crises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883028" y="6860133"/>
            <a:ext cx="14582641" cy="3348792"/>
            <a:chOff x="0" y="0"/>
            <a:chExt cx="19443522" cy="446505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016190" cy="4169884"/>
              <a:chOff x="0" y="0"/>
              <a:chExt cx="1199947" cy="83169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199947" cy="831696"/>
              </a:xfrm>
              <a:custGeom>
                <a:avLst/>
                <a:gdLst/>
                <a:ahLst/>
                <a:cxnLst/>
                <a:rect r="r" b="b" t="t" l="l"/>
                <a:pathLst>
                  <a:path h="831696" w="1199947">
                    <a:moveTo>
                      <a:pt x="66327" y="0"/>
                    </a:moveTo>
                    <a:lnTo>
                      <a:pt x="1133620" y="0"/>
                    </a:lnTo>
                    <a:cubicBezTo>
                      <a:pt x="1151211" y="0"/>
                      <a:pt x="1168081" y="6988"/>
                      <a:pt x="1180520" y="19427"/>
                    </a:cubicBezTo>
                    <a:cubicBezTo>
                      <a:pt x="1192959" y="31865"/>
                      <a:pt x="1199947" y="48736"/>
                      <a:pt x="1199947" y="66327"/>
                    </a:cubicBezTo>
                    <a:lnTo>
                      <a:pt x="1199947" y="765369"/>
                    </a:lnTo>
                    <a:cubicBezTo>
                      <a:pt x="1199947" y="782960"/>
                      <a:pt x="1192959" y="799830"/>
                      <a:pt x="1180520" y="812269"/>
                    </a:cubicBezTo>
                    <a:cubicBezTo>
                      <a:pt x="1168081" y="824708"/>
                      <a:pt x="1151211" y="831696"/>
                      <a:pt x="1133620" y="831696"/>
                    </a:cubicBezTo>
                    <a:lnTo>
                      <a:pt x="66327" y="831696"/>
                    </a:lnTo>
                    <a:cubicBezTo>
                      <a:pt x="48736" y="831696"/>
                      <a:pt x="31865" y="824708"/>
                      <a:pt x="19427" y="812269"/>
                    </a:cubicBezTo>
                    <a:cubicBezTo>
                      <a:pt x="6988" y="799830"/>
                      <a:pt x="0" y="782960"/>
                      <a:pt x="0" y="765369"/>
                    </a:cubicBezTo>
                    <a:lnTo>
                      <a:pt x="0" y="66327"/>
                    </a:lnTo>
                    <a:cubicBezTo>
                      <a:pt x="0" y="48736"/>
                      <a:pt x="6988" y="31865"/>
                      <a:pt x="19427" y="19427"/>
                    </a:cubicBezTo>
                    <a:cubicBezTo>
                      <a:pt x="31865" y="6988"/>
                      <a:pt x="48736" y="0"/>
                      <a:pt x="66327" y="0"/>
                    </a:cubicBezTo>
                    <a:close/>
                  </a:path>
                </a:pathLst>
              </a:custGeom>
              <a:ln w="38100" cap="rnd">
                <a:solidFill>
                  <a:srgbClr val="147138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04775"/>
                <a:ext cx="1199947" cy="936471"/>
              </a:xfrm>
              <a:prstGeom prst="rect">
                <a:avLst/>
              </a:prstGeom>
            </p:spPr>
            <p:txBody>
              <a:bodyPr anchor="ctr" rtlCol="false" tIns="48155" lIns="48155" bIns="48155" rIns="48155"/>
              <a:lstStyle/>
              <a:p>
                <a:pPr algn="l">
                  <a:lnSpc>
                    <a:spcPts val="293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6968" y="387188"/>
              <a:ext cx="5882254" cy="33150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02"/>
                </a:lnSpc>
              </a:pPr>
              <a:r>
                <a:rPr lang="en-US" b="true" sz="2358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LABOR SHORTAGE</a:t>
              </a:r>
            </a:p>
            <a:p>
              <a:pPr algn="l" marL="419039" indent="-209519" lvl="1">
                <a:lnSpc>
                  <a:spcPts val="2717"/>
                </a:lnSpc>
                <a:buFont typeface="Arial"/>
                <a:buChar char="•"/>
              </a:pPr>
              <a:r>
                <a:rPr lang="en-US" sz="1940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Youth abandoning farming for cities</a:t>
              </a:r>
            </a:p>
            <a:p>
              <a:pPr algn="l" marL="419039" indent="-209519" lvl="1">
                <a:lnSpc>
                  <a:spcPts val="2717"/>
                </a:lnSpc>
                <a:buFont typeface="Arial"/>
                <a:buChar char="•"/>
              </a:pPr>
              <a:r>
                <a:rPr lang="en-US" sz="1940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Labor wages: ৳600-700/day (all-time high)</a:t>
              </a:r>
            </a:p>
            <a:p>
              <a:pPr algn="l" marL="419039" indent="-209519" lvl="1">
                <a:lnSpc>
                  <a:spcPts val="2717"/>
                </a:lnSpc>
                <a:buFont typeface="Arial"/>
                <a:buChar char="•"/>
              </a:pPr>
              <a:r>
                <a:rPr lang="en-US" sz="1940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Peak season: Workers unavailable at ANY price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13427332" y="0"/>
              <a:ext cx="6016190" cy="4169884"/>
              <a:chOff x="0" y="0"/>
              <a:chExt cx="1199947" cy="83169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99947" cy="831696"/>
              </a:xfrm>
              <a:custGeom>
                <a:avLst/>
                <a:gdLst/>
                <a:ahLst/>
                <a:cxnLst/>
                <a:rect r="r" b="b" t="t" l="l"/>
                <a:pathLst>
                  <a:path h="831696" w="1199947">
                    <a:moveTo>
                      <a:pt x="66327" y="0"/>
                    </a:moveTo>
                    <a:lnTo>
                      <a:pt x="1133620" y="0"/>
                    </a:lnTo>
                    <a:cubicBezTo>
                      <a:pt x="1151211" y="0"/>
                      <a:pt x="1168081" y="6988"/>
                      <a:pt x="1180520" y="19427"/>
                    </a:cubicBezTo>
                    <a:cubicBezTo>
                      <a:pt x="1192959" y="31865"/>
                      <a:pt x="1199947" y="48736"/>
                      <a:pt x="1199947" y="66327"/>
                    </a:cubicBezTo>
                    <a:lnTo>
                      <a:pt x="1199947" y="765369"/>
                    </a:lnTo>
                    <a:cubicBezTo>
                      <a:pt x="1199947" y="782960"/>
                      <a:pt x="1192959" y="799830"/>
                      <a:pt x="1180520" y="812269"/>
                    </a:cubicBezTo>
                    <a:cubicBezTo>
                      <a:pt x="1168081" y="824708"/>
                      <a:pt x="1151211" y="831696"/>
                      <a:pt x="1133620" y="831696"/>
                    </a:cubicBezTo>
                    <a:lnTo>
                      <a:pt x="66327" y="831696"/>
                    </a:lnTo>
                    <a:cubicBezTo>
                      <a:pt x="48736" y="831696"/>
                      <a:pt x="31865" y="824708"/>
                      <a:pt x="19427" y="812269"/>
                    </a:cubicBezTo>
                    <a:cubicBezTo>
                      <a:pt x="6988" y="799830"/>
                      <a:pt x="0" y="782960"/>
                      <a:pt x="0" y="765369"/>
                    </a:cubicBezTo>
                    <a:lnTo>
                      <a:pt x="0" y="66327"/>
                    </a:lnTo>
                    <a:cubicBezTo>
                      <a:pt x="0" y="48736"/>
                      <a:pt x="6988" y="31865"/>
                      <a:pt x="19427" y="19427"/>
                    </a:cubicBezTo>
                    <a:cubicBezTo>
                      <a:pt x="31865" y="6988"/>
                      <a:pt x="48736" y="0"/>
                      <a:pt x="66327" y="0"/>
                    </a:cubicBezTo>
                    <a:close/>
                  </a:path>
                </a:pathLst>
              </a:custGeom>
              <a:ln w="38100" cap="rnd">
                <a:solidFill>
                  <a:srgbClr val="147138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04775"/>
                <a:ext cx="1199947" cy="936471"/>
              </a:xfrm>
              <a:prstGeom prst="rect">
                <a:avLst/>
              </a:prstGeom>
            </p:spPr>
            <p:txBody>
              <a:bodyPr anchor="ctr" rtlCol="false" tIns="48155" lIns="48155" bIns="48155" rIns="48155"/>
              <a:lstStyle/>
              <a:p>
                <a:pPr algn="l">
                  <a:lnSpc>
                    <a:spcPts val="293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3394994" y="365484"/>
              <a:ext cx="5890141" cy="33150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05"/>
                </a:lnSpc>
              </a:pPr>
              <a:r>
                <a:rPr lang="en-US" b="true" sz="2361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THE MIDDLEMAN TAX</a:t>
              </a:r>
            </a:p>
            <a:p>
              <a:pPr algn="l" marL="419553" indent="-209777" lvl="1">
                <a:lnSpc>
                  <a:spcPts val="2720"/>
                </a:lnSpc>
                <a:buFont typeface="Arial"/>
                <a:buChar char="•"/>
              </a:pPr>
              <a:r>
                <a:rPr lang="en-US" sz="1943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Traditional brokers charge 20-40% commission</a:t>
              </a:r>
            </a:p>
            <a:p>
              <a:pPr algn="l" marL="419553" indent="-209777" lvl="1">
                <a:lnSpc>
                  <a:spcPts val="2720"/>
                </a:lnSpc>
                <a:buFont typeface="Arial"/>
                <a:buChar char="•"/>
              </a:pPr>
              <a:r>
                <a:rPr lang="en-US" sz="1943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Eye-ball area measurement = 10-15% payment dispute</a:t>
              </a:r>
            </a:p>
            <a:p>
              <a:pPr algn="l" marL="419553" indent="-209777" lvl="1">
                <a:lnSpc>
                  <a:spcPts val="2720"/>
                </a:lnSpc>
                <a:buFont typeface="Arial"/>
                <a:buChar char="•"/>
              </a:pPr>
              <a:r>
                <a:rPr lang="en-US" sz="1943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Farmer effective cost: ৳5,882/acre (should be ৳4,000)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6879851" y="0"/>
              <a:ext cx="5984644" cy="4157837"/>
              <a:chOff x="0" y="0"/>
              <a:chExt cx="1199947" cy="83366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199947" cy="833664"/>
              </a:xfrm>
              <a:custGeom>
                <a:avLst/>
                <a:gdLst/>
                <a:ahLst/>
                <a:cxnLst/>
                <a:rect r="r" b="b" t="t" l="l"/>
                <a:pathLst>
                  <a:path h="833664" w="1199947">
                    <a:moveTo>
                      <a:pt x="66676" y="0"/>
                    </a:moveTo>
                    <a:lnTo>
                      <a:pt x="1133270" y="0"/>
                    </a:lnTo>
                    <a:cubicBezTo>
                      <a:pt x="1150954" y="0"/>
                      <a:pt x="1167913" y="7025"/>
                      <a:pt x="1180418" y="19529"/>
                    </a:cubicBezTo>
                    <a:cubicBezTo>
                      <a:pt x="1192922" y="32033"/>
                      <a:pt x="1199947" y="48993"/>
                      <a:pt x="1199947" y="66676"/>
                    </a:cubicBezTo>
                    <a:lnTo>
                      <a:pt x="1199947" y="766988"/>
                    </a:lnTo>
                    <a:cubicBezTo>
                      <a:pt x="1199947" y="803812"/>
                      <a:pt x="1170095" y="833664"/>
                      <a:pt x="1133270" y="833664"/>
                    </a:cubicBezTo>
                    <a:lnTo>
                      <a:pt x="66676" y="833664"/>
                    </a:lnTo>
                    <a:cubicBezTo>
                      <a:pt x="48993" y="833664"/>
                      <a:pt x="32033" y="826639"/>
                      <a:pt x="19529" y="814135"/>
                    </a:cubicBezTo>
                    <a:cubicBezTo>
                      <a:pt x="7025" y="801631"/>
                      <a:pt x="0" y="784671"/>
                      <a:pt x="0" y="766988"/>
                    </a:cubicBezTo>
                    <a:lnTo>
                      <a:pt x="0" y="66676"/>
                    </a:lnTo>
                    <a:cubicBezTo>
                      <a:pt x="0" y="48993"/>
                      <a:pt x="7025" y="32033"/>
                      <a:pt x="19529" y="19529"/>
                    </a:cubicBezTo>
                    <a:cubicBezTo>
                      <a:pt x="32033" y="7025"/>
                      <a:pt x="48993" y="0"/>
                      <a:pt x="66676" y="0"/>
                    </a:cubicBezTo>
                    <a:close/>
                  </a:path>
                </a:pathLst>
              </a:custGeom>
              <a:ln w="38100" cap="rnd">
                <a:solidFill>
                  <a:srgbClr val="147138"/>
                </a:soli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04775"/>
                <a:ext cx="1199947" cy="938439"/>
              </a:xfrm>
              <a:prstGeom prst="rect">
                <a:avLst/>
              </a:prstGeom>
            </p:spPr>
            <p:txBody>
              <a:bodyPr anchor="ctr" rtlCol="false" tIns="47902" lIns="47902" bIns="47902" rIns="47902"/>
              <a:lstStyle/>
              <a:p>
                <a:pPr algn="l">
                  <a:lnSpc>
                    <a:spcPts val="293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6879851" y="854075"/>
              <a:ext cx="5805913" cy="36109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3600" indent="-206800" lvl="1">
                <a:lnSpc>
                  <a:spcPts val="2681"/>
                </a:lnSpc>
                <a:buFont typeface="Arial"/>
                <a:buChar char="•"/>
              </a:pPr>
              <a:r>
                <a:rPr lang="en-US" sz="1915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Lack of precision tech results 10-14% loss in cereals and up to 50% loss in fruits and vegetables</a:t>
              </a:r>
            </a:p>
            <a:p>
              <a:pPr algn="l" marL="413600" indent="-206800" lvl="1">
                <a:lnSpc>
                  <a:spcPts val="2681"/>
                </a:lnSpc>
                <a:buFont typeface="Arial"/>
                <a:buChar char="•"/>
              </a:pPr>
              <a:r>
                <a:rPr lang="en-US" sz="1915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Inefficiency stems from a total lack of organized connectivity between machine owners and smallholder farmers</a:t>
              </a:r>
            </a:p>
            <a:p>
              <a:pPr algn="l">
                <a:lnSpc>
                  <a:spcPts val="2681"/>
                </a:lnSpc>
              </a:pPr>
              <a:r>
                <a:rPr lang="en-US" sz="1915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 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073384" y="6983958"/>
            <a:ext cx="4411691" cy="40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b="true" sz="2360">
                <a:solidFill>
                  <a:srgbClr val="147138"/>
                </a:solidFill>
                <a:latin typeface="TT Hoves Bold"/>
                <a:ea typeface="TT Hoves Bold"/>
                <a:cs typeface="TT Hoves Bold"/>
                <a:sym typeface="TT Hoves Bold"/>
              </a:rPr>
              <a:t>POST HARVEST LEAKAGE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65942" y="4186449"/>
            <a:ext cx="395400" cy="395400"/>
          </a:xfrm>
          <a:custGeom>
            <a:avLst/>
            <a:gdLst/>
            <a:ahLst/>
            <a:cxnLst/>
            <a:rect r="r" b="b" t="t" l="l"/>
            <a:pathLst>
              <a:path h="395400" w="395400">
                <a:moveTo>
                  <a:pt x="0" y="0"/>
                </a:moveTo>
                <a:lnTo>
                  <a:pt x="395400" y="0"/>
                </a:lnTo>
                <a:lnTo>
                  <a:pt x="395400" y="395399"/>
                </a:lnTo>
                <a:lnTo>
                  <a:pt x="0" y="3953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71550"/>
            <a:ext cx="8612549" cy="1346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5800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Problem Statement</a:t>
            </a:r>
          </a:p>
          <a:p>
            <a:pPr algn="l" marL="0" indent="0" lvl="0">
              <a:lnSpc>
                <a:spcPts val="3500"/>
              </a:lnSpc>
              <a:spcBef>
                <a:spcPct val="0"/>
              </a:spcBef>
            </a:pPr>
            <a:r>
              <a:rPr lang="en-US" sz="350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Agri-Machinery </a:t>
            </a:r>
            <a:r>
              <a:rPr lang="en-US" sz="350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Distribution Crisis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406453"/>
            <a:ext cx="15063312" cy="106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৳11,000</a:t>
            </a:r>
            <a:r>
              <a:rPr lang="en-US" sz="27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 CRORE machinery market + 40,000 machines already exist + High farmer demand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= Machines IDLE while crops ROT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699751"/>
            <a:ext cx="6857941" cy="1641951"/>
            <a:chOff x="0" y="0"/>
            <a:chExt cx="2074539" cy="4966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4539" cy="496693"/>
            </a:xfrm>
            <a:custGeom>
              <a:avLst/>
              <a:gdLst/>
              <a:ahLst/>
              <a:cxnLst/>
              <a:rect r="r" b="b" t="t" l="l"/>
              <a:pathLst>
                <a:path h="496693" w="2074539">
                  <a:moveTo>
                    <a:pt x="32738" y="0"/>
                  </a:moveTo>
                  <a:lnTo>
                    <a:pt x="2041801" y="0"/>
                  </a:lnTo>
                  <a:cubicBezTo>
                    <a:pt x="2059882" y="0"/>
                    <a:pt x="2074539" y="14657"/>
                    <a:pt x="2074539" y="32738"/>
                  </a:cubicBezTo>
                  <a:lnTo>
                    <a:pt x="2074539" y="463955"/>
                  </a:lnTo>
                  <a:cubicBezTo>
                    <a:pt x="2074539" y="472637"/>
                    <a:pt x="2071090" y="480964"/>
                    <a:pt x="2064950" y="487104"/>
                  </a:cubicBezTo>
                  <a:cubicBezTo>
                    <a:pt x="2058811" y="493244"/>
                    <a:pt x="2050484" y="496693"/>
                    <a:pt x="2041801" y="496693"/>
                  </a:cubicBezTo>
                  <a:lnTo>
                    <a:pt x="32738" y="496693"/>
                  </a:lnTo>
                  <a:cubicBezTo>
                    <a:pt x="24055" y="496693"/>
                    <a:pt x="15728" y="493244"/>
                    <a:pt x="9589" y="487104"/>
                  </a:cubicBezTo>
                  <a:cubicBezTo>
                    <a:pt x="3449" y="480964"/>
                    <a:pt x="0" y="472637"/>
                    <a:pt x="0" y="463955"/>
                  </a:cubicBezTo>
                  <a:lnTo>
                    <a:pt x="0" y="32738"/>
                  </a:lnTo>
                  <a:cubicBezTo>
                    <a:pt x="0" y="24055"/>
                    <a:pt x="3449" y="15728"/>
                    <a:pt x="9589" y="9589"/>
                  </a:cubicBezTo>
                  <a:cubicBezTo>
                    <a:pt x="15728" y="3449"/>
                    <a:pt x="24055" y="0"/>
                    <a:pt x="32738" y="0"/>
                  </a:cubicBezTo>
                  <a:close/>
                </a:path>
              </a:pathLst>
            </a:custGeom>
            <a:solidFill>
              <a:srgbClr val="1471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074539" cy="544318"/>
            </a:xfrm>
            <a:prstGeom prst="rect">
              <a:avLst/>
            </a:prstGeom>
          </p:spPr>
          <p:txBody>
            <a:bodyPr anchor="ctr" rtlCol="false" tIns="44229" lIns="44229" bIns="44229" rIns="44229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4568575" y="2056363"/>
            <a:ext cx="311150" cy="6873033"/>
          </a:xfrm>
          <a:custGeom>
            <a:avLst/>
            <a:gdLst/>
            <a:ahLst/>
            <a:cxnLst/>
            <a:rect r="r" b="b" t="t" l="l"/>
            <a:pathLst>
              <a:path h="6873033" w="311150">
                <a:moveTo>
                  <a:pt x="0" y="0"/>
                </a:moveTo>
                <a:lnTo>
                  <a:pt x="311150" y="0"/>
                </a:lnTo>
                <a:lnTo>
                  <a:pt x="311150" y="6873033"/>
                </a:lnTo>
                <a:lnTo>
                  <a:pt x="0" y="6873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</a:blip>
            <a:stretch>
              <a:fillRect l="0" t="0" r="-77151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604513" y="4401926"/>
            <a:ext cx="1435910" cy="434848"/>
          </a:xfrm>
          <a:custGeom>
            <a:avLst/>
            <a:gdLst/>
            <a:ahLst/>
            <a:cxnLst/>
            <a:rect r="r" b="b" t="t" l="l"/>
            <a:pathLst>
              <a:path h="434848" w="1435910">
                <a:moveTo>
                  <a:pt x="0" y="0"/>
                </a:moveTo>
                <a:lnTo>
                  <a:pt x="1435910" y="0"/>
                </a:lnTo>
                <a:lnTo>
                  <a:pt x="1435910" y="434848"/>
                </a:lnTo>
                <a:lnTo>
                  <a:pt x="0" y="434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667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79618" y="3901395"/>
            <a:ext cx="6881048" cy="1609536"/>
            <a:chOff x="0" y="0"/>
            <a:chExt cx="2081529" cy="4868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1529" cy="486888"/>
            </a:xfrm>
            <a:custGeom>
              <a:avLst/>
              <a:gdLst/>
              <a:ahLst/>
              <a:cxnLst/>
              <a:rect r="r" b="b" t="t" l="l"/>
              <a:pathLst>
                <a:path h="486888" w="2081529">
                  <a:moveTo>
                    <a:pt x="32628" y="0"/>
                  </a:moveTo>
                  <a:lnTo>
                    <a:pt x="2048901" y="0"/>
                  </a:lnTo>
                  <a:cubicBezTo>
                    <a:pt x="2057554" y="0"/>
                    <a:pt x="2065853" y="3438"/>
                    <a:pt x="2071972" y="9557"/>
                  </a:cubicBezTo>
                  <a:cubicBezTo>
                    <a:pt x="2078091" y="15676"/>
                    <a:pt x="2081529" y="23975"/>
                    <a:pt x="2081529" y="32628"/>
                  </a:cubicBezTo>
                  <a:lnTo>
                    <a:pt x="2081529" y="454259"/>
                  </a:lnTo>
                  <a:cubicBezTo>
                    <a:pt x="2081529" y="462913"/>
                    <a:pt x="2078091" y="471212"/>
                    <a:pt x="2071972" y="477331"/>
                  </a:cubicBezTo>
                  <a:cubicBezTo>
                    <a:pt x="2065853" y="483450"/>
                    <a:pt x="2057554" y="486888"/>
                    <a:pt x="2048901" y="486888"/>
                  </a:cubicBezTo>
                  <a:lnTo>
                    <a:pt x="32628" y="486888"/>
                  </a:lnTo>
                  <a:cubicBezTo>
                    <a:pt x="23975" y="486888"/>
                    <a:pt x="15676" y="483450"/>
                    <a:pt x="9557" y="477331"/>
                  </a:cubicBezTo>
                  <a:cubicBezTo>
                    <a:pt x="3438" y="471212"/>
                    <a:pt x="0" y="462913"/>
                    <a:pt x="0" y="454259"/>
                  </a:cubicBezTo>
                  <a:lnTo>
                    <a:pt x="0" y="32628"/>
                  </a:lnTo>
                  <a:cubicBezTo>
                    <a:pt x="0" y="23975"/>
                    <a:pt x="3438" y="15676"/>
                    <a:pt x="9557" y="9557"/>
                  </a:cubicBezTo>
                  <a:cubicBezTo>
                    <a:pt x="15676" y="3438"/>
                    <a:pt x="23975" y="0"/>
                    <a:pt x="32628" y="0"/>
                  </a:cubicBezTo>
                  <a:close/>
                </a:path>
              </a:pathLst>
            </a:custGeom>
            <a:solidFill>
              <a:srgbClr val="FAFFD7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081529" cy="534513"/>
            </a:xfrm>
            <a:prstGeom prst="rect">
              <a:avLst/>
            </a:prstGeom>
          </p:spPr>
          <p:txBody>
            <a:bodyPr anchor="ctr" rtlCol="false" tIns="44229" lIns="44229" bIns="44229" rIns="44229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1428929" y="4500789"/>
            <a:ext cx="691602" cy="990223"/>
            <a:chOff x="0" y="0"/>
            <a:chExt cx="660400" cy="9455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0400" cy="945548"/>
            </a:xfrm>
            <a:custGeom>
              <a:avLst/>
              <a:gdLst/>
              <a:ahLst/>
              <a:cxnLst/>
              <a:rect r="r" b="b" t="t" l="l"/>
              <a:pathLst>
                <a:path h="945548" w="660400">
                  <a:moveTo>
                    <a:pt x="220252" y="926479"/>
                  </a:moveTo>
                  <a:cubicBezTo>
                    <a:pt x="254109" y="937993"/>
                    <a:pt x="292600" y="945548"/>
                    <a:pt x="330378" y="945548"/>
                  </a:cubicBezTo>
                  <a:cubicBezTo>
                    <a:pt x="368157" y="945548"/>
                    <a:pt x="404509" y="939071"/>
                    <a:pt x="438009" y="927557"/>
                  </a:cubicBezTo>
                  <a:cubicBezTo>
                    <a:pt x="438723" y="927198"/>
                    <a:pt x="439435" y="927198"/>
                    <a:pt x="440148" y="926838"/>
                  </a:cubicBezTo>
                  <a:cubicBezTo>
                    <a:pt x="565955" y="880783"/>
                    <a:pt x="658618" y="759169"/>
                    <a:pt x="660400" y="61409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13642"/>
                  </a:lnTo>
                  <a:cubicBezTo>
                    <a:pt x="1782" y="759888"/>
                    <a:pt x="93019" y="881503"/>
                    <a:pt x="220252" y="926479"/>
                  </a:cubicBezTo>
                  <a:close/>
                </a:path>
              </a:pathLst>
            </a:custGeom>
            <a:solidFill>
              <a:srgbClr val="14713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660400" cy="866173"/>
            </a:xfrm>
            <a:prstGeom prst="rect">
              <a:avLst/>
            </a:prstGeom>
          </p:spPr>
          <p:txBody>
            <a:bodyPr anchor="ctr" rtlCol="false" tIns="44229" lIns="44229" bIns="44229" rIns="44229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22136" y="4710266"/>
            <a:ext cx="705187" cy="523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8"/>
              </a:lnSpc>
              <a:spcBef>
                <a:spcPct val="0"/>
              </a:spcBef>
            </a:pPr>
            <a:r>
              <a:rPr lang="en-US" b="true" sz="3134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77232" y="4812189"/>
            <a:ext cx="5583434" cy="343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4"/>
              </a:lnSpc>
            </a:pPr>
            <a:r>
              <a:rPr lang="en-US" sz="209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Smallholders can't buy ৳32 Lakh machines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539892" y="4094469"/>
            <a:ext cx="415688" cy="414649"/>
          </a:xfrm>
          <a:custGeom>
            <a:avLst/>
            <a:gdLst/>
            <a:ahLst/>
            <a:cxnLst/>
            <a:rect r="r" b="b" t="t" l="l"/>
            <a:pathLst>
              <a:path h="414649" w="415688">
                <a:moveTo>
                  <a:pt x="0" y="0"/>
                </a:moveTo>
                <a:lnTo>
                  <a:pt x="415688" y="0"/>
                </a:lnTo>
                <a:lnTo>
                  <a:pt x="415688" y="414649"/>
                </a:lnTo>
                <a:lnTo>
                  <a:pt x="0" y="4146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9" id="19"/>
          <p:cNvGrpSpPr/>
          <p:nvPr/>
        </p:nvGrpSpPr>
        <p:grpSpPr>
          <a:xfrm rot="0">
            <a:off x="1028700" y="5762755"/>
            <a:ext cx="6857941" cy="1641951"/>
            <a:chOff x="0" y="0"/>
            <a:chExt cx="2074539" cy="4966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74539" cy="496693"/>
            </a:xfrm>
            <a:custGeom>
              <a:avLst/>
              <a:gdLst/>
              <a:ahLst/>
              <a:cxnLst/>
              <a:rect r="r" b="b" t="t" l="l"/>
              <a:pathLst>
                <a:path h="496693" w="2074539">
                  <a:moveTo>
                    <a:pt x="32738" y="0"/>
                  </a:moveTo>
                  <a:lnTo>
                    <a:pt x="2041801" y="0"/>
                  </a:lnTo>
                  <a:cubicBezTo>
                    <a:pt x="2059882" y="0"/>
                    <a:pt x="2074539" y="14657"/>
                    <a:pt x="2074539" y="32738"/>
                  </a:cubicBezTo>
                  <a:lnTo>
                    <a:pt x="2074539" y="463955"/>
                  </a:lnTo>
                  <a:cubicBezTo>
                    <a:pt x="2074539" y="472637"/>
                    <a:pt x="2071090" y="480964"/>
                    <a:pt x="2064950" y="487104"/>
                  </a:cubicBezTo>
                  <a:cubicBezTo>
                    <a:pt x="2058811" y="493244"/>
                    <a:pt x="2050484" y="496693"/>
                    <a:pt x="2041801" y="496693"/>
                  </a:cubicBezTo>
                  <a:lnTo>
                    <a:pt x="32738" y="496693"/>
                  </a:lnTo>
                  <a:cubicBezTo>
                    <a:pt x="24055" y="496693"/>
                    <a:pt x="15728" y="493244"/>
                    <a:pt x="9589" y="487104"/>
                  </a:cubicBezTo>
                  <a:cubicBezTo>
                    <a:pt x="3449" y="480964"/>
                    <a:pt x="0" y="472637"/>
                    <a:pt x="0" y="463955"/>
                  </a:cubicBezTo>
                  <a:lnTo>
                    <a:pt x="0" y="32738"/>
                  </a:lnTo>
                  <a:cubicBezTo>
                    <a:pt x="0" y="24055"/>
                    <a:pt x="3449" y="15728"/>
                    <a:pt x="9589" y="9589"/>
                  </a:cubicBezTo>
                  <a:cubicBezTo>
                    <a:pt x="15728" y="3449"/>
                    <a:pt x="24055" y="0"/>
                    <a:pt x="32738" y="0"/>
                  </a:cubicBezTo>
                  <a:close/>
                </a:path>
              </a:pathLst>
            </a:custGeom>
            <a:solidFill>
              <a:srgbClr val="1471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074539" cy="544318"/>
            </a:xfrm>
            <a:prstGeom prst="rect">
              <a:avLst/>
            </a:prstGeom>
          </p:spPr>
          <p:txBody>
            <a:bodyPr anchor="ctr" rtlCol="false" tIns="44229" lIns="44229" bIns="44229" rIns="44229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-5400000">
            <a:off x="4568575" y="4119367"/>
            <a:ext cx="311150" cy="6873033"/>
          </a:xfrm>
          <a:custGeom>
            <a:avLst/>
            <a:gdLst/>
            <a:ahLst/>
            <a:cxnLst/>
            <a:rect r="r" b="b" t="t" l="l"/>
            <a:pathLst>
              <a:path h="6873033" w="311150">
                <a:moveTo>
                  <a:pt x="0" y="0"/>
                </a:moveTo>
                <a:lnTo>
                  <a:pt x="311150" y="0"/>
                </a:lnTo>
                <a:lnTo>
                  <a:pt x="311150" y="6873033"/>
                </a:lnTo>
                <a:lnTo>
                  <a:pt x="0" y="6873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</a:blip>
            <a:stretch>
              <a:fillRect l="0" t="0" r="-771515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5400000">
            <a:off x="604513" y="6464930"/>
            <a:ext cx="1435910" cy="434848"/>
          </a:xfrm>
          <a:custGeom>
            <a:avLst/>
            <a:gdLst/>
            <a:ahLst/>
            <a:cxnLst/>
            <a:rect r="r" b="b" t="t" l="l"/>
            <a:pathLst>
              <a:path h="434848" w="1435910">
                <a:moveTo>
                  <a:pt x="0" y="0"/>
                </a:moveTo>
                <a:lnTo>
                  <a:pt x="1435910" y="0"/>
                </a:lnTo>
                <a:lnTo>
                  <a:pt x="1435910" y="434848"/>
                </a:lnTo>
                <a:lnTo>
                  <a:pt x="0" y="434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667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279618" y="5964399"/>
            <a:ext cx="6881048" cy="1609536"/>
            <a:chOff x="0" y="0"/>
            <a:chExt cx="2081529" cy="4868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81529" cy="486888"/>
            </a:xfrm>
            <a:custGeom>
              <a:avLst/>
              <a:gdLst/>
              <a:ahLst/>
              <a:cxnLst/>
              <a:rect r="r" b="b" t="t" l="l"/>
              <a:pathLst>
                <a:path h="486888" w="2081529">
                  <a:moveTo>
                    <a:pt x="32628" y="0"/>
                  </a:moveTo>
                  <a:lnTo>
                    <a:pt x="2048901" y="0"/>
                  </a:lnTo>
                  <a:cubicBezTo>
                    <a:pt x="2057554" y="0"/>
                    <a:pt x="2065853" y="3438"/>
                    <a:pt x="2071972" y="9557"/>
                  </a:cubicBezTo>
                  <a:cubicBezTo>
                    <a:pt x="2078091" y="15676"/>
                    <a:pt x="2081529" y="23975"/>
                    <a:pt x="2081529" y="32628"/>
                  </a:cubicBezTo>
                  <a:lnTo>
                    <a:pt x="2081529" y="454259"/>
                  </a:lnTo>
                  <a:cubicBezTo>
                    <a:pt x="2081529" y="462913"/>
                    <a:pt x="2078091" y="471212"/>
                    <a:pt x="2071972" y="477331"/>
                  </a:cubicBezTo>
                  <a:cubicBezTo>
                    <a:pt x="2065853" y="483450"/>
                    <a:pt x="2057554" y="486888"/>
                    <a:pt x="2048901" y="486888"/>
                  </a:cubicBezTo>
                  <a:lnTo>
                    <a:pt x="32628" y="486888"/>
                  </a:lnTo>
                  <a:cubicBezTo>
                    <a:pt x="23975" y="486888"/>
                    <a:pt x="15676" y="483450"/>
                    <a:pt x="9557" y="477331"/>
                  </a:cubicBezTo>
                  <a:cubicBezTo>
                    <a:pt x="3438" y="471212"/>
                    <a:pt x="0" y="462913"/>
                    <a:pt x="0" y="454259"/>
                  </a:cubicBezTo>
                  <a:lnTo>
                    <a:pt x="0" y="32628"/>
                  </a:lnTo>
                  <a:cubicBezTo>
                    <a:pt x="0" y="23975"/>
                    <a:pt x="3438" y="15676"/>
                    <a:pt x="9557" y="9557"/>
                  </a:cubicBezTo>
                  <a:cubicBezTo>
                    <a:pt x="15676" y="3438"/>
                    <a:pt x="23975" y="0"/>
                    <a:pt x="32628" y="0"/>
                  </a:cubicBezTo>
                  <a:close/>
                </a:path>
              </a:pathLst>
            </a:custGeom>
            <a:solidFill>
              <a:srgbClr val="FAFFD7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081529" cy="534513"/>
            </a:xfrm>
            <a:prstGeom prst="rect">
              <a:avLst/>
            </a:prstGeom>
          </p:spPr>
          <p:txBody>
            <a:bodyPr anchor="ctr" rtlCol="false" tIns="44229" lIns="44229" bIns="44229" rIns="44229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5400000">
            <a:off x="1428929" y="6563793"/>
            <a:ext cx="691602" cy="990223"/>
            <a:chOff x="0" y="0"/>
            <a:chExt cx="660400" cy="9455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0400" cy="945548"/>
            </a:xfrm>
            <a:custGeom>
              <a:avLst/>
              <a:gdLst/>
              <a:ahLst/>
              <a:cxnLst/>
              <a:rect r="r" b="b" t="t" l="l"/>
              <a:pathLst>
                <a:path h="945548" w="660400">
                  <a:moveTo>
                    <a:pt x="220252" y="926479"/>
                  </a:moveTo>
                  <a:cubicBezTo>
                    <a:pt x="254109" y="937993"/>
                    <a:pt x="292600" y="945548"/>
                    <a:pt x="330378" y="945548"/>
                  </a:cubicBezTo>
                  <a:cubicBezTo>
                    <a:pt x="368157" y="945548"/>
                    <a:pt x="404509" y="939071"/>
                    <a:pt x="438009" y="927557"/>
                  </a:cubicBezTo>
                  <a:cubicBezTo>
                    <a:pt x="438723" y="927198"/>
                    <a:pt x="439435" y="927198"/>
                    <a:pt x="440148" y="926838"/>
                  </a:cubicBezTo>
                  <a:cubicBezTo>
                    <a:pt x="565955" y="880783"/>
                    <a:pt x="658618" y="759169"/>
                    <a:pt x="660400" y="61409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13642"/>
                  </a:lnTo>
                  <a:cubicBezTo>
                    <a:pt x="1782" y="759888"/>
                    <a:pt x="93019" y="881503"/>
                    <a:pt x="220252" y="926479"/>
                  </a:cubicBezTo>
                  <a:close/>
                </a:path>
              </a:pathLst>
            </a:custGeom>
            <a:solidFill>
              <a:srgbClr val="14713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60400" cy="866173"/>
            </a:xfrm>
            <a:prstGeom prst="rect">
              <a:avLst/>
            </a:prstGeom>
          </p:spPr>
          <p:txBody>
            <a:bodyPr anchor="ctr" rtlCol="false" tIns="44229" lIns="44229" bIns="44229" rIns="44229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22136" y="6773270"/>
            <a:ext cx="705187" cy="523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8"/>
              </a:lnSpc>
              <a:spcBef>
                <a:spcPct val="0"/>
              </a:spcBef>
            </a:pPr>
            <a:r>
              <a:rPr lang="en-US" b="true" sz="3134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539892" y="6157473"/>
            <a:ext cx="415688" cy="414649"/>
          </a:xfrm>
          <a:custGeom>
            <a:avLst/>
            <a:gdLst/>
            <a:ahLst/>
            <a:cxnLst/>
            <a:rect r="r" b="b" t="t" l="l"/>
            <a:pathLst>
              <a:path h="414649" w="415688">
                <a:moveTo>
                  <a:pt x="0" y="0"/>
                </a:moveTo>
                <a:lnTo>
                  <a:pt x="415688" y="0"/>
                </a:lnTo>
                <a:lnTo>
                  <a:pt x="415688" y="414649"/>
                </a:lnTo>
                <a:lnTo>
                  <a:pt x="0" y="4146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2" id="32"/>
          <p:cNvGrpSpPr/>
          <p:nvPr/>
        </p:nvGrpSpPr>
        <p:grpSpPr>
          <a:xfrm rot="0">
            <a:off x="1028700" y="7825759"/>
            <a:ext cx="6857941" cy="1641951"/>
            <a:chOff x="0" y="0"/>
            <a:chExt cx="2074539" cy="49669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74539" cy="496693"/>
            </a:xfrm>
            <a:custGeom>
              <a:avLst/>
              <a:gdLst/>
              <a:ahLst/>
              <a:cxnLst/>
              <a:rect r="r" b="b" t="t" l="l"/>
              <a:pathLst>
                <a:path h="496693" w="2074539">
                  <a:moveTo>
                    <a:pt x="32738" y="0"/>
                  </a:moveTo>
                  <a:lnTo>
                    <a:pt x="2041801" y="0"/>
                  </a:lnTo>
                  <a:cubicBezTo>
                    <a:pt x="2059882" y="0"/>
                    <a:pt x="2074539" y="14657"/>
                    <a:pt x="2074539" y="32738"/>
                  </a:cubicBezTo>
                  <a:lnTo>
                    <a:pt x="2074539" y="463955"/>
                  </a:lnTo>
                  <a:cubicBezTo>
                    <a:pt x="2074539" y="472637"/>
                    <a:pt x="2071090" y="480964"/>
                    <a:pt x="2064950" y="487104"/>
                  </a:cubicBezTo>
                  <a:cubicBezTo>
                    <a:pt x="2058811" y="493244"/>
                    <a:pt x="2050484" y="496693"/>
                    <a:pt x="2041801" y="496693"/>
                  </a:cubicBezTo>
                  <a:lnTo>
                    <a:pt x="32738" y="496693"/>
                  </a:lnTo>
                  <a:cubicBezTo>
                    <a:pt x="24055" y="496693"/>
                    <a:pt x="15728" y="493244"/>
                    <a:pt x="9589" y="487104"/>
                  </a:cubicBezTo>
                  <a:cubicBezTo>
                    <a:pt x="3449" y="480964"/>
                    <a:pt x="0" y="472637"/>
                    <a:pt x="0" y="463955"/>
                  </a:cubicBezTo>
                  <a:lnTo>
                    <a:pt x="0" y="32738"/>
                  </a:lnTo>
                  <a:cubicBezTo>
                    <a:pt x="0" y="24055"/>
                    <a:pt x="3449" y="15728"/>
                    <a:pt x="9589" y="9589"/>
                  </a:cubicBezTo>
                  <a:cubicBezTo>
                    <a:pt x="15728" y="3449"/>
                    <a:pt x="24055" y="0"/>
                    <a:pt x="32738" y="0"/>
                  </a:cubicBezTo>
                  <a:close/>
                </a:path>
              </a:pathLst>
            </a:custGeom>
            <a:solidFill>
              <a:srgbClr val="1471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074539" cy="544318"/>
            </a:xfrm>
            <a:prstGeom prst="rect">
              <a:avLst/>
            </a:prstGeom>
          </p:spPr>
          <p:txBody>
            <a:bodyPr anchor="ctr" rtlCol="false" tIns="44229" lIns="44229" bIns="44229" rIns="44229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-5400000">
            <a:off x="4568575" y="6182371"/>
            <a:ext cx="311150" cy="6873033"/>
          </a:xfrm>
          <a:custGeom>
            <a:avLst/>
            <a:gdLst/>
            <a:ahLst/>
            <a:cxnLst/>
            <a:rect r="r" b="b" t="t" l="l"/>
            <a:pathLst>
              <a:path h="6873033" w="311150">
                <a:moveTo>
                  <a:pt x="0" y="0"/>
                </a:moveTo>
                <a:lnTo>
                  <a:pt x="311150" y="0"/>
                </a:lnTo>
                <a:lnTo>
                  <a:pt x="311150" y="6873033"/>
                </a:lnTo>
                <a:lnTo>
                  <a:pt x="0" y="6873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</a:blip>
            <a:stretch>
              <a:fillRect l="0" t="0" r="-771515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-5400000">
            <a:off x="604513" y="8527934"/>
            <a:ext cx="1435910" cy="434848"/>
          </a:xfrm>
          <a:custGeom>
            <a:avLst/>
            <a:gdLst/>
            <a:ahLst/>
            <a:cxnLst/>
            <a:rect r="r" b="b" t="t" l="l"/>
            <a:pathLst>
              <a:path h="434848" w="1435910">
                <a:moveTo>
                  <a:pt x="0" y="0"/>
                </a:moveTo>
                <a:lnTo>
                  <a:pt x="1435910" y="0"/>
                </a:lnTo>
                <a:lnTo>
                  <a:pt x="1435910" y="434848"/>
                </a:lnTo>
                <a:lnTo>
                  <a:pt x="0" y="434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667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279618" y="8027403"/>
            <a:ext cx="6881048" cy="1609536"/>
            <a:chOff x="0" y="0"/>
            <a:chExt cx="2081529" cy="4868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81529" cy="486888"/>
            </a:xfrm>
            <a:custGeom>
              <a:avLst/>
              <a:gdLst/>
              <a:ahLst/>
              <a:cxnLst/>
              <a:rect r="r" b="b" t="t" l="l"/>
              <a:pathLst>
                <a:path h="486888" w="2081529">
                  <a:moveTo>
                    <a:pt x="32628" y="0"/>
                  </a:moveTo>
                  <a:lnTo>
                    <a:pt x="2048901" y="0"/>
                  </a:lnTo>
                  <a:cubicBezTo>
                    <a:pt x="2057554" y="0"/>
                    <a:pt x="2065853" y="3438"/>
                    <a:pt x="2071972" y="9557"/>
                  </a:cubicBezTo>
                  <a:cubicBezTo>
                    <a:pt x="2078091" y="15676"/>
                    <a:pt x="2081529" y="23975"/>
                    <a:pt x="2081529" y="32628"/>
                  </a:cubicBezTo>
                  <a:lnTo>
                    <a:pt x="2081529" y="454259"/>
                  </a:lnTo>
                  <a:cubicBezTo>
                    <a:pt x="2081529" y="462913"/>
                    <a:pt x="2078091" y="471212"/>
                    <a:pt x="2071972" y="477331"/>
                  </a:cubicBezTo>
                  <a:cubicBezTo>
                    <a:pt x="2065853" y="483450"/>
                    <a:pt x="2057554" y="486888"/>
                    <a:pt x="2048901" y="486888"/>
                  </a:cubicBezTo>
                  <a:lnTo>
                    <a:pt x="32628" y="486888"/>
                  </a:lnTo>
                  <a:cubicBezTo>
                    <a:pt x="23975" y="486888"/>
                    <a:pt x="15676" y="483450"/>
                    <a:pt x="9557" y="477331"/>
                  </a:cubicBezTo>
                  <a:cubicBezTo>
                    <a:pt x="3438" y="471212"/>
                    <a:pt x="0" y="462913"/>
                    <a:pt x="0" y="454259"/>
                  </a:cubicBezTo>
                  <a:lnTo>
                    <a:pt x="0" y="32628"/>
                  </a:lnTo>
                  <a:cubicBezTo>
                    <a:pt x="0" y="23975"/>
                    <a:pt x="3438" y="15676"/>
                    <a:pt x="9557" y="9557"/>
                  </a:cubicBezTo>
                  <a:cubicBezTo>
                    <a:pt x="15676" y="3438"/>
                    <a:pt x="23975" y="0"/>
                    <a:pt x="32628" y="0"/>
                  </a:cubicBezTo>
                  <a:close/>
                </a:path>
              </a:pathLst>
            </a:custGeom>
            <a:solidFill>
              <a:srgbClr val="FAFFD7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081529" cy="534513"/>
            </a:xfrm>
            <a:prstGeom prst="rect">
              <a:avLst/>
            </a:prstGeom>
          </p:spPr>
          <p:txBody>
            <a:bodyPr anchor="ctr" rtlCol="false" tIns="44229" lIns="44229" bIns="44229" rIns="44229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5400000">
            <a:off x="1428929" y="8626797"/>
            <a:ext cx="691602" cy="990223"/>
            <a:chOff x="0" y="0"/>
            <a:chExt cx="660400" cy="94554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60400" cy="945548"/>
            </a:xfrm>
            <a:custGeom>
              <a:avLst/>
              <a:gdLst/>
              <a:ahLst/>
              <a:cxnLst/>
              <a:rect r="r" b="b" t="t" l="l"/>
              <a:pathLst>
                <a:path h="945548" w="660400">
                  <a:moveTo>
                    <a:pt x="220252" y="926479"/>
                  </a:moveTo>
                  <a:cubicBezTo>
                    <a:pt x="254109" y="937993"/>
                    <a:pt x="292600" y="945548"/>
                    <a:pt x="330378" y="945548"/>
                  </a:cubicBezTo>
                  <a:cubicBezTo>
                    <a:pt x="368157" y="945548"/>
                    <a:pt x="404509" y="939071"/>
                    <a:pt x="438009" y="927557"/>
                  </a:cubicBezTo>
                  <a:cubicBezTo>
                    <a:pt x="438723" y="927198"/>
                    <a:pt x="439435" y="927198"/>
                    <a:pt x="440148" y="926838"/>
                  </a:cubicBezTo>
                  <a:cubicBezTo>
                    <a:pt x="565955" y="880783"/>
                    <a:pt x="658618" y="759169"/>
                    <a:pt x="660400" y="61409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13642"/>
                  </a:lnTo>
                  <a:cubicBezTo>
                    <a:pt x="1782" y="759888"/>
                    <a:pt x="93019" y="881503"/>
                    <a:pt x="220252" y="926479"/>
                  </a:cubicBezTo>
                  <a:close/>
                </a:path>
              </a:pathLst>
            </a:custGeom>
            <a:solidFill>
              <a:srgbClr val="147138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660400" cy="866173"/>
            </a:xfrm>
            <a:prstGeom prst="rect">
              <a:avLst/>
            </a:prstGeom>
          </p:spPr>
          <p:txBody>
            <a:bodyPr anchor="ctr" rtlCol="false" tIns="44229" lIns="44229" bIns="44229" rIns="44229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422136" y="8836275"/>
            <a:ext cx="705187" cy="523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8"/>
              </a:lnSpc>
              <a:spcBef>
                <a:spcPct val="0"/>
              </a:spcBef>
            </a:pPr>
            <a:r>
              <a:rPr lang="en-US" b="true" sz="3134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539892" y="8220477"/>
            <a:ext cx="415688" cy="414649"/>
          </a:xfrm>
          <a:custGeom>
            <a:avLst/>
            <a:gdLst/>
            <a:ahLst/>
            <a:cxnLst/>
            <a:rect r="r" b="b" t="t" l="l"/>
            <a:pathLst>
              <a:path h="414649" w="415688">
                <a:moveTo>
                  <a:pt x="0" y="0"/>
                </a:moveTo>
                <a:lnTo>
                  <a:pt x="415688" y="0"/>
                </a:lnTo>
                <a:lnTo>
                  <a:pt x="415688" y="414649"/>
                </a:lnTo>
                <a:lnTo>
                  <a:pt x="0" y="4146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5" id="45"/>
          <p:cNvGrpSpPr/>
          <p:nvPr/>
        </p:nvGrpSpPr>
        <p:grpSpPr>
          <a:xfrm rot="0">
            <a:off x="9791740" y="3699751"/>
            <a:ext cx="6857941" cy="1641951"/>
            <a:chOff x="0" y="0"/>
            <a:chExt cx="2074539" cy="49669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74539" cy="496693"/>
            </a:xfrm>
            <a:custGeom>
              <a:avLst/>
              <a:gdLst/>
              <a:ahLst/>
              <a:cxnLst/>
              <a:rect r="r" b="b" t="t" l="l"/>
              <a:pathLst>
                <a:path h="496693" w="2074539">
                  <a:moveTo>
                    <a:pt x="32738" y="0"/>
                  </a:moveTo>
                  <a:lnTo>
                    <a:pt x="2041801" y="0"/>
                  </a:lnTo>
                  <a:cubicBezTo>
                    <a:pt x="2059882" y="0"/>
                    <a:pt x="2074539" y="14657"/>
                    <a:pt x="2074539" y="32738"/>
                  </a:cubicBezTo>
                  <a:lnTo>
                    <a:pt x="2074539" y="463955"/>
                  </a:lnTo>
                  <a:cubicBezTo>
                    <a:pt x="2074539" y="472637"/>
                    <a:pt x="2071090" y="480964"/>
                    <a:pt x="2064950" y="487104"/>
                  </a:cubicBezTo>
                  <a:cubicBezTo>
                    <a:pt x="2058811" y="493244"/>
                    <a:pt x="2050484" y="496693"/>
                    <a:pt x="2041801" y="496693"/>
                  </a:cubicBezTo>
                  <a:lnTo>
                    <a:pt x="32738" y="496693"/>
                  </a:lnTo>
                  <a:cubicBezTo>
                    <a:pt x="24055" y="496693"/>
                    <a:pt x="15728" y="493244"/>
                    <a:pt x="9589" y="487104"/>
                  </a:cubicBezTo>
                  <a:cubicBezTo>
                    <a:pt x="3449" y="480964"/>
                    <a:pt x="0" y="472637"/>
                    <a:pt x="0" y="463955"/>
                  </a:cubicBezTo>
                  <a:lnTo>
                    <a:pt x="0" y="32738"/>
                  </a:lnTo>
                  <a:cubicBezTo>
                    <a:pt x="0" y="24055"/>
                    <a:pt x="3449" y="15728"/>
                    <a:pt x="9589" y="9589"/>
                  </a:cubicBezTo>
                  <a:cubicBezTo>
                    <a:pt x="15728" y="3449"/>
                    <a:pt x="24055" y="0"/>
                    <a:pt x="32738" y="0"/>
                  </a:cubicBezTo>
                  <a:close/>
                </a:path>
              </a:pathLst>
            </a:custGeom>
            <a:solidFill>
              <a:srgbClr val="1471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2074539" cy="544318"/>
            </a:xfrm>
            <a:prstGeom prst="rect">
              <a:avLst/>
            </a:prstGeom>
          </p:spPr>
          <p:txBody>
            <a:bodyPr anchor="ctr" rtlCol="false" tIns="44229" lIns="44229" bIns="44229" rIns="44229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-5400000">
            <a:off x="13331615" y="2056363"/>
            <a:ext cx="311150" cy="6873033"/>
          </a:xfrm>
          <a:custGeom>
            <a:avLst/>
            <a:gdLst/>
            <a:ahLst/>
            <a:cxnLst/>
            <a:rect r="r" b="b" t="t" l="l"/>
            <a:pathLst>
              <a:path h="6873033" w="311150">
                <a:moveTo>
                  <a:pt x="0" y="0"/>
                </a:moveTo>
                <a:lnTo>
                  <a:pt x="311150" y="0"/>
                </a:lnTo>
                <a:lnTo>
                  <a:pt x="311150" y="6873033"/>
                </a:lnTo>
                <a:lnTo>
                  <a:pt x="0" y="6873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</a:blip>
            <a:stretch>
              <a:fillRect l="0" t="0" r="-771515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-5400000">
            <a:off x="9367553" y="4401926"/>
            <a:ext cx="1435910" cy="434848"/>
          </a:xfrm>
          <a:custGeom>
            <a:avLst/>
            <a:gdLst/>
            <a:ahLst/>
            <a:cxnLst/>
            <a:rect r="r" b="b" t="t" l="l"/>
            <a:pathLst>
              <a:path h="434848" w="1435910">
                <a:moveTo>
                  <a:pt x="0" y="0"/>
                </a:moveTo>
                <a:lnTo>
                  <a:pt x="1435910" y="0"/>
                </a:lnTo>
                <a:lnTo>
                  <a:pt x="1435910" y="434848"/>
                </a:lnTo>
                <a:lnTo>
                  <a:pt x="0" y="434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667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0042658" y="3901395"/>
            <a:ext cx="6881048" cy="1609536"/>
            <a:chOff x="0" y="0"/>
            <a:chExt cx="2081529" cy="4868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81529" cy="486888"/>
            </a:xfrm>
            <a:custGeom>
              <a:avLst/>
              <a:gdLst/>
              <a:ahLst/>
              <a:cxnLst/>
              <a:rect r="r" b="b" t="t" l="l"/>
              <a:pathLst>
                <a:path h="486888" w="2081529">
                  <a:moveTo>
                    <a:pt x="32628" y="0"/>
                  </a:moveTo>
                  <a:lnTo>
                    <a:pt x="2048901" y="0"/>
                  </a:lnTo>
                  <a:cubicBezTo>
                    <a:pt x="2057554" y="0"/>
                    <a:pt x="2065853" y="3438"/>
                    <a:pt x="2071972" y="9557"/>
                  </a:cubicBezTo>
                  <a:cubicBezTo>
                    <a:pt x="2078091" y="15676"/>
                    <a:pt x="2081529" y="23975"/>
                    <a:pt x="2081529" y="32628"/>
                  </a:cubicBezTo>
                  <a:lnTo>
                    <a:pt x="2081529" y="454259"/>
                  </a:lnTo>
                  <a:cubicBezTo>
                    <a:pt x="2081529" y="462913"/>
                    <a:pt x="2078091" y="471212"/>
                    <a:pt x="2071972" y="477331"/>
                  </a:cubicBezTo>
                  <a:cubicBezTo>
                    <a:pt x="2065853" y="483450"/>
                    <a:pt x="2057554" y="486888"/>
                    <a:pt x="2048901" y="486888"/>
                  </a:cubicBezTo>
                  <a:lnTo>
                    <a:pt x="32628" y="486888"/>
                  </a:lnTo>
                  <a:cubicBezTo>
                    <a:pt x="23975" y="486888"/>
                    <a:pt x="15676" y="483450"/>
                    <a:pt x="9557" y="477331"/>
                  </a:cubicBezTo>
                  <a:cubicBezTo>
                    <a:pt x="3438" y="471212"/>
                    <a:pt x="0" y="462913"/>
                    <a:pt x="0" y="454259"/>
                  </a:cubicBezTo>
                  <a:lnTo>
                    <a:pt x="0" y="32628"/>
                  </a:lnTo>
                  <a:cubicBezTo>
                    <a:pt x="0" y="23975"/>
                    <a:pt x="3438" y="15676"/>
                    <a:pt x="9557" y="9557"/>
                  </a:cubicBezTo>
                  <a:cubicBezTo>
                    <a:pt x="15676" y="3438"/>
                    <a:pt x="23975" y="0"/>
                    <a:pt x="32628" y="0"/>
                  </a:cubicBezTo>
                  <a:close/>
                </a:path>
              </a:pathLst>
            </a:custGeom>
            <a:solidFill>
              <a:srgbClr val="FAFFD7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2081529" cy="534513"/>
            </a:xfrm>
            <a:prstGeom prst="rect">
              <a:avLst/>
            </a:prstGeom>
          </p:spPr>
          <p:txBody>
            <a:bodyPr anchor="ctr" rtlCol="false" tIns="44229" lIns="44229" bIns="44229" rIns="44229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-5400000">
            <a:off x="10191969" y="4500789"/>
            <a:ext cx="691602" cy="990223"/>
            <a:chOff x="0" y="0"/>
            <a:chExt cx="660400" cy="9455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60400" cy="945548"/>
            </a:xfrm>
            <a:custGeom>
              <a:avLst/>
              <a:gdLst/>
              <a:ahLst/>
              <a:cxnLst/>
              <a:rect r="r" b="b" t="t" l="l"/>
              <a:pathLst>
                <a:path h="945548" w="660400">
                  <a:moveTo>
                    <a:pt x="220252" y="926479"/>
                  </a:moveTo>
                  <a:cubicBezTo>
                    <a:pt x="254109" y="937993"/>
                    <a:pt x="292600" y="945548"/>
                    <a:pt x="330378" y="945548"/>
                  </a:cubicBezTo>
                  <a:cubicBezTo>
                    <a:pt x="368157" y="945548"/>
                    <a:pt x="404509" y="939071"/>
                    <a:pt x="438009" y="927557"/>
                  </a:cubicBezTo>
                  <a:cubicBezTo>
                    <a:pt x="438723" y="927198"/>
                    <a:pt x="439435" y="927198"/>
                    <a:pt x="440148" y="926838"/>
                  </a:cubicBezTo>
                  <a:cubicBezTo>
                    <a:pt x="565955" y="880783"/>
                    <a:pt x="658618" y="759169"/>
                    <a:pt x="660400" y="61409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13642"/>
                  </a:lnTo>
                  <a:cubicBezTo>
                    <a:pt x="1782" y="759888"/>
                    <a:pt x="93019" y="881503"/>
                    <a:pt x="220252" y="926479"/>
                  </a:cubicBezTo>
                  <a:close/>
                </a:path>
              </a:pathLst>
            </a:custGeom>
            <a:solidFill>
              <a:srgbClr val="147138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60400" cy="866173"/>
            </a:xfrm>
            <a:prstGeom prst="rect">
              <a:avLst/>
            </a:prstGeom>
          </p:spPr>
          <p:txBody>
            <a:bodyPr anchor="ctr" rtlCol="false" tIns="44229" lIns="44229" bIns="44229" rIns="44229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0185176" y="4710266"/>
            <a:ext cx="705187" cy="523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8"/>
              </a:lnSpc>
              <a:spcBef>
                <a:spcPct val="0"/>
              </a:spcBef>
            </a:pPr>
            <a:r>
              <a:rPr lang="en-US" b="true" sz="3134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10302932" y="4094469"/>
            <a:ext cx="415688" cy="414649"/>
          </a:xfrm>
          <a:custGeom>
            <a:avLst/>
            <a:gdLst/>
            <a:ahLst/>
            <a:cxnLst/>
            <a:rect r="r" b="b" t="t" l="l"/>
            <a:pathLst>
              <a:path h="414649" w="415688">
                <a:moveTo>
                  <a:pt x="0" y="0"/>
                </a:moveTo>
                <a:lnTo>
                  <a:pt x="415688" y="0"/>
                </a:lnTo>
                <a:lnTo>
                  <a:pt x="415688" y="414649"/>
                </a:lnTo>
                <a:lnTo>
                  <a:pt x="0" y="4146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8" id="58"/>
          <p:cNvGrpSpPr/>
          <p:nvPr/>
        </p:nvGrpSpPr>
        <p:grpSpPr>
          <a:xfrm rot="0">
            <a:off x="9791740" y="5762755"/>
            <a:ext cx="6857941" cy="1641951"/>
            <a:chOff x="0" y="0"/>
            <a:chExt cx="2074539" cy="49669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74539" cy="496693"/>
            </a:xfrm>
            <a:custGeom>
              <a:avLst/>
              <a:gdLst/>
              <a:ahLst/>
              <a:cxnLst/>
              <a:rect r="r" b="b" t="t" l="l"/>
              <a:pathLst>
                <a:path h="496693" w="2074539">
                  <a:moveTo>
                    <a:pt x="32738" y="0"/>
                  </a:moveTo>
                  <a:lnTo>
                    <a:pt x="2041801" y="0"/>
                  </a:lnTo>
                  <a:cubicBezTo>
                    <a:pt x="2059882" y="0"/>
                    <a:pt x="2074539" y="14657"/>
                    <a:pt x="2074539" y="32738"/>
                  </a:cubicBezTo>
                  <a:lnTo>
                    <a:pt x="2074539" y="463955"/>
                  </a:lnTo>
                  <a:cubicBezTo>
                    <a:pt x="2074539" y="472637"/>
                    <a:pt x="2071090" y="480964"/>
                    <a:pt x="2064950" y="487104"/>
                  </a:cubicBezTo>
                  <a:cubicBezTo>
                    <a:pt x="2058811" y="493244"/>
                    <a:pt x="2050484" y="496693"/>
                    <a:pt x="2041801" y="496693"/>
                  </a:cubicBezTo>
                  <a:lnTo>
                    <a:pt x="32738" y="496693"/>
                  </a:lnTo>
                  <a:cubicBezTo>
                    <a:pt x="24055" y="496693"/>
                    <a:pt x="15728" y="493244"/>
                    <a:pt x="9589" y="487104"/>
                  </a:cubicBezTo>
                  <a:cubicBezTo>
                    <a:pt x="3449" y="480964"/>
                    <a:pt x="0" y="472637"/>
                    <a:pt x="0" y="463955"/>
                  </a:cubicBezTo>
                  <a:lnTo>
                    <a:pt x="0" y="32738"/>
                  </a:lnTo>
                  <a:cubicBezTo>
                    <a:pt x="0" y="24055"/>
                    <a:pt x="3449" y="15728"/>
                    <a:pt x="9589" y="9589"/>
                  </a:cubicBezTo>
                  <a:cubicBezTo>
                    <a:pt x="15728" y="3449"/>
                    <a:pt x="24055" y="0"/>
                    <a:pt x="32738" y="0"/>
                  </a:cubicBezTo>
                  <a:close/>
                </a:path>
              </a:pathLst>
            </a:custGeom>
            <a:solidFill>
              <a:srgbClr val="1471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2074539" cy="544318"/>
            </a:xfrm>
            <a:prstGeom prst="rect">
              <a:avLst/>
            </a:prstGeom>
          </p:spPr>
          <p:txBody>
            <a:bodyPr anchor="ctr" rtlCol="false" tIns="44229" lIns="44229" bIns="44229" rIns="44229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-5400000">
            <a:off x="13331615" y="4119367"/>
            <a:ext cx="311150" cy="6873033"/>
          </a:xfrm>
          <a:custGeom>
            <a:avLst/>
            <a:gdLst/>
            <a:ahLst/>
            <a:cxnLst/>
            <a:rect r="r" b="b" t="t" l="l"/>
            <a:pathLst>
              <a:path h="6873033" w="311150">
                <a:moveTo>
                  <a:pt x="0" y="0"/>
                </a:moveTo>
                <a:lnTo>
                  <a:pt x="311150" y="0"/>
                </a:lnTo>
                <a:lnTo>
                  <a:pt x="311150" y="6873033"/>
                </a:lnTo>
                <a:lnTo>
                  <a:pt x="0" y="6873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</a:blip>
            <a:stretch>
              <a:fillRect l="0" t="0" r="-771515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-5400000">
            <a:off x="9367553" y="6464930"/>
            <a:ext cx="1435910" cy="434848"/>
          </a:xfrm>
          <a:custGeom>
            <a:avLst/>
            <a:gdLst/>
            <a:ahLst/>
            <a:cxnLst/>
            <a:rect r="r" b="b" t="t" l="l"/>
            <a:pathLst>
              <a:path h="434848" w="1435910">
                <a:moveTo>
                  <a:pt x="0" y="0"/>
                </a:moveTo>
                <a:lnTo>
                  <a:pt x="1435910" y="0"/>
                </a:lnTo>
                <a:lnTo>
                  <a:pt x="1435910" y="434848"/>
                </a:lnTo>
                <a:lnTo>
                  <a:pt x="0" y="434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667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10042658" y="5964399"/>
            <a:ext cx="6881048" cy="1609536"/>
            <a:chOff x="0" y="0"/>
            <a:chExt cx="2081529" cy="48688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81529" cy="486888"/>
            </a:xfrm>
            <a:custGeom>
              <a:avLst/>
              <a:gdLst/>
              <a:ahLst/>
              <a:cxnLst/>
              <a:rect r="r" b="b" t="t" l="l"/>
              <a:pathLst>
                <a:path h="486888" w="2081529">
                  <a:moveTo>
                    <a:pt x="32628" y="0"/>
                  </a:moveTo>
                  <a:lnTo>
                    <a:pt x="2048901" y="0"/>
                  </a:lnTo>
                  <a:cubicBezTo>
                    <a:pt x="2057554" y="0"/>
                    <a:pt x="2065853" y="3438"/>
                    <a:pt x="2071972" y="9557"/>
                  </a:cubicBezTo>
                  <a:cubicBezTo>
                    <a:pt x="2078091" y="15676"/>
                    <a:pt x="2081529" y="23975"/>
                    <a:pt x="2081529" y="32628"/>
                  </a:cubicBezTo>
                  <a:lnTo>
                    <a:pt x="2081529" y="454259"/>
                  </a:lnTo>
                  <a:cubicBezTo>
                    <a:pt x="2081529" y="462913"/>
                    <a:pt x="2078091" y="471212"/>
                    <a:pt x="2071972" y="477331"/>
                  </a:cubicBezTo>
                  <a:cubicBezTo>
                    <a:pt x="2065853" y="483450"/>
                    <a:pt x="2057554" y="486888"/>
                    <a:pt x="2048901" y="486888"/>
                  </a:cubicBezTo>
                  <a:lnTo>
                    <a:pt x="32628" y="486888"/>
                  </a:lnTo>
                  <a:cubicBezTo>
                    <a:pt x="23975" y="486888"/>
                    <a:pt x="15676" y="483450"/>
                    <a:pt x="9557" y="477331"/>
                  </a:cubicBezTo>
                  <a:cubicBezTo>
                    <a:pt x="3438" y="471212"/>
                    <a:pt x="0" y="462913"/>
                    <a:pt x="0" y="454259"/>
                  </a:cubicBezTo>
                  <a:lnTo>
                    <a:pt x="0" y="32628"/>
                  </a:lnTo>
                  <a:cubicBezTo>
                    <a:pt x="0" y="23975"/>
                    <a:pt x="3438" y="15676"/>
                    <a:pt x="9557" y="9557"/>
                  </a:cubicBezTo>
                  <a:cubicBezTo>
                    <a:pt x="15676" y="3438"/>
                    <a:pt x="23975" y="0"/>
                    <a:pt x="32628" y="0"/>
                  </a:cubicBezTo>
                  <a:close/>
                </a:path>
              </a:pathLst>
            </a:custGeom>
            <a:solidFill>
              <a:srgbClr val="FAFFD7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2081529" cy="534513"/>
            </a:xfrm>
            <a:prstGeom prst="rect">
              <a:avLst/>
            </a:prstGeom>
          </p:spPr>
          <p:txBody>
            <a:bodyPr anchor="ctr" rtlCol="false" tIns="44229" lIns="44229" bIns="44229" rIns="44229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-5400000">
            <a:off x="10191969" y="6563793"/>
            <a:ext cx="691602" cy="990223"/>
            <a:chOff x="0" y="0"/>
            <a:chExt cx="660400" cy="94554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60400" cy="945548"/>
            </a:xfrm>
            <a:custGeom>
              <a:avLst/>
              <a:gdLst/>
              <a:ahLst/>
              <a:cxnLst/>
              <a:rect r="r" b="b" t="t" l="l"/>
              <a:pathLst>
                <a:path h="945548" w="660400">
                  <a:moveTo>
                    <a:pt x="220252" y="926479"/>
                  </a:moveTo>
                  <a:cubicBezTo>
                    <a:pt x="254109" y="937993"/>
                    <a:pt x="292600" y="945548"/>
                    <a:pt x="330378" y="945548"/>
                  </a:cubicBezTo>
                  <a:cubicBezTo>
                    <a:pt x="368157" y="945548"/>
                    <a:pt x="404509" y="939071"/>
                    <a:pt x="438009" y="927557"/>
                  </a:cubicBezTo>
                  <a:cubicBezTo>
                    <a:pt x="438723" y="927198"/>
                    <a:pt x="439435" y="927198"/>
                    <a:pt x="440148" y="926838"/>
                  </a:cubicBezTo>
                  <a:cubicBezTo>
                    <a:pt x="565955" y="880783"/>
                    <a:pt x="658618" y="759169"/>
                    <a:pt x="660400" y="61409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13642"/>
                  </a:lnTo>
                  <a:cubicBezTo>
                    <a:pt x="1782" y="759888"/>
                    <a:pt x="93019" y="881503"/>
                    <a:pt x="220252" y="926479"/>
                  </a:cubicBezTo>
                  <a:close/>
                </a:path>
              </a:pathLst>
            </a:custGeom>
            <a:solidFill>
              <a:srgbClr val="147138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660400" cy="866173"/>
            </a:xfrm>
            <a:prstGeom prst="rect">
              <a:avLst/>
            </a:prstGeom>
          </p:spPr>
          <p:txBody>
            <a:bodyPr anchor="ctr" rtlCol="false" tIns="44229" lIns="44229" bIns="44229" rIns="44229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0185176" y="6773270"/>
            <a:ext cx="705187" cy="523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8"/>
              </a:lnSpc>
              <a:spcBef>
                <a:spcPct val="0"/>
              </a:spcBef>
            </a:pPr>
            <a:r>
              <a:rPr lang="en-US" b="true" sz="3134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  <p:sp>
        <p:nvSpPr>
          <p:cNvPr name="Freeform 70" id="70"/>
          <p:cNvSpPr/>
          <p:nvPr/>
        </p:nvSpPr>
        <p:spPr>
          <a:xfrm flipH="false" flipV="false" rot="0">
            <a:off x="10302932" y="6157473"/>
            <a:ext cx="415688" cy="414649"/>
          </a:xfrm>
          <a:custGeom>
            <a:avLst/>
            <a:gdLst/>
            <a:ahLst/>
            <a:cxnLst/>
            <a:rect r="r" b="b" t="t" l="l"/>
            <a:pathLst>
              <a:path h="414649" w="415688">
                <a:moveTo>
                  <a:pt x="0" y="0"/>
                </a:moveTo>
                <a:lnTo>
                  <a:pt x="415688" y="0"/>
                </a:lnTo>
                <a:lnTo>
                  <a:pt x="415688" y="414649"/>
                </a:lnTo>
                <a:lnTo>
                  <a:pt x="0" y="4146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1" id="71"/>
          <p:cNvGrpSpPr/>
          <p:nvPr/>
        </p:nvGrpSpPr>
        <p:grpSpPr>
          <a:xfrm rot="0">
            <a:off x="9791740" y="7825759"/>
            <a:ext cx="6857941" cy="1641951"/>
            <a:chOff x="0" y="0"/>
            <a:chExt cx="2074539" cy="49669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074539" cy="496693"/>
            </a:xfrm>
            <a:custGeom>
              <a:avLst/>
              <a:gdLst/>
              <a:ahLst/>
              <a:cxnLst/>
              <a:rect r="r" b="b" t="t" l="l"/>
              <a:pathLst>
                <a:path h="496693" w="2074539">
                  <a:moveTo>
                    <a:pt x="32738" y="0"/>
                  </a:moveTo>
                  <a:lnTo>
                    <a:pt x="2041801" y="0"/>
                  </a:lnTo>
                  <a:cubicBezTo>
                    <a:pt x="2059882" y="0"/>
                    <a:pt x="2074539" y="14657"/>
                    <a:pt x="2074539" y="32738"/>
                  </a:cubicBezTo>
                  <a:lnTo>
                    <a:pt x="2074539" y="463955"/>
                  </a:lnTo>
                  <a:cubicBezTo>
                    <a:pt x="2074539" y="472637"/>
                    <a:pt x="2071090" y="480964"/>
                    <a:pt x="2064950" y="487104"/>
                  </a:cubicBezTo>
                  <a:cubicBezTo>
                    <a:pt x="2058811" y="493244"/>
                    <a:pt x="2050484" y="496693"/>
                    <a:pt x="2041801" y="496693"/>
                  </a:cubicBezTo>
                  <a:lnTo>
                    <a:pt x="32738" y="496693"/>
                  </a:lnTo>
                  <a:cubicBezTo>
                    <a:pt x="24055" y="496693"/>
                    <a:pt x="15728" y="493244"/>
                    <a:pt x="9589" y="487104"/>
                  </a:cubicBezTo>
                  <a:cubicBezTo>
                    <a:pt x="3449" y="480964"/>
                    <a:pt x="0" y="472637"/>
                    <a:pt x="0" y="463955"/>
                  </a:cubicBezTo>
                  <a:lnTo>
                    <a:pt x="0" y="32738"/>
                  </a:lnTo>
                  <a:cubicBezTo>
                    <a:pt x="0" y="24055"/>
                    <a:pt x="3449" y="15728"/>
                    <a:pt x="9589" y="9589"/>
                  </a:cubicBezTo>
                  <a:cubicBezTo>
                    <a:pt x="15728" y="3449"/>
                    <a:pt x="24055" y="0"/>
                    <a:pt x="32738" y="0"/>
                  </a:cubicBezTo>
                  <a:close/>
                </a:path>
              </a:pathLst>
            </a:custGeom>
            <a:solidFill>
              <a:srgbClr val="147138"/>
            </a:solidFill>
            <a:ln cap="rnd">
              <a:noFill/>
              <a:prstDash val="solid"/>
              <a:round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2074539" cy="544318"/>
            </a:xfrm>
            <a:prstGeom prst="rect">
              <a:avLst/>
            </a:prstGeom>
          </p:spPr>
          <p:txBody>
            <a:bodyPr anchor="ctr" rtlCol="false" tIns="44229" lIns="44229" bIns="44229" rIns="44229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-5400000">
            <a:off x="13331615" y="6182371"/>
            <a:ext cx="311150" cy="6873033"/>
          </a:xfrm>
          <a:custGeom>
            <a:avLst/>
            <a:gdLst/>
            <a:ahLst/>
            <a:cxnLst/>
            <a:rect r="r" b="b" t="t" l="l"/>
            <a:pathLst>
              <a:path h="6873033" w="311150">
                <a:moveTo>
                  <a:pt x="0" y="0"/>
                </a:moveTo>
                <a:lnTo>
                  <a:pt x="311150" y="0"/>
                </a:lnTo>
                <a:lnTo>
                  <a:pt x="311150" y="6873033"/>
                </a:lnTo>
                <a:lnTo>
                  <a:pt x="0" y="6873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</a:blip>
            <a:stretch>
              <a:fillRect l="0" t="0" r="-771515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-5400000">
            <a:off x="9367553" y="8527934"/>
            <a:ext cx="1435910" cy="434848"/>
          </a:xfrm>
          <a:custGeom>
            <a:avLst/>
            <a:gdLst/>
            <a:ahLst/>
            <a:cxnLst/>
            <a:rect r="r" b="b" t="t" l="l"/>
            <a:pathLst>
              <a:path h="434848" w="1435910">
                <a:moveTo>
                  <a:pt x="0" y="0"/>
                </a:moveTo>
                <a:lnTo>
                  <a:pt x="1435910" y="0"/>
                </a:lnTo>
                <a:lnTo>
                  <a:pt x="1435910" y="434848"/>
                </a:lnTo>
                <a:lnTo>
                  <a:pt x="0" y="434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667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10042658" y="8027403"/>
            <a:ext cx="6881048" cy="1609536"/>
            <a:chOff x="0" y="0"/>
            <a:chExt cx="2081529" cy="48688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081529" cy="486888"/>
            </a:xfrm>
            <a:custGeom>
              <a:avLst/>
              <a:gdLst/>
              <a:ahLst/>
              <a:cxnLst/>
              <a:rect r="r" b="b" t="t" l="l"/>
              <a:pathLst>
                <a:path h="486888" w="2081529">
                  <a:moveTo>
                    <a:pt x="32628" y="0"/>
                  </a:moveTo>
                  <a:lnTo>
                    <a:pt x="2048901" y="0"/>
                  </a:lnTo>
                  <a:cubicBezTo>
                    <a:pt x="2057554" y="0"/>
                    <a:pt x="2065853" y="3438"/>
                    <a:pt x="2071972" y="9557"/>
                  </a:cubicBezTo>
                  <a:cubicBezTo>
                    <a:pt x="2078091" y="15676"/>
                    <a:pt x="2081529" y="23975"/>
                    <a:pt x="2081529" y="32628"/>
                  </a:cubicBezTo>
                  <a:lnTo>
                    <a:pt x="2081529" y="454259"/>
                  </a:lnTo>
                  <a:cubicBezTo>
                    <a:pt x="2081529" y="462913"/>
                    <a:pt x="2078091" y="471212"/>
                    <a:pt x="2071972" y="477331"/>
                  </a:cubicBezTo>
                  <a:cubicBezTo>
                    <a:pt x="2065853" y="483450"/>
                    <a:pt x="2057554" y="486888"/>
                    <a:pt x="2048901" y="486888"/>
                  </a:cubicBezTo>
                  <a:lnTo>
                    <a:pt x="32628" y="486888"/>
                  </a:lnTo>
                  <a:cubicBezTo>
                    <a:pt x="23975" y="486888"/>
                    <a:pt x="15676" y="483450"/>
                    <a:pt x="9557" y="477331"/>
                  </a:cubicBezTo>
                  <a:cubicBezTo>
                    <a:pt x="3438" y="471212"/>
                    <a:pt x="0" y="462913"/>
                    <a:pt x="0" y="454259"/>
                  </a:cubicBezTo>
                  <a:lnTo>
                    <a:pt x="0" y="32628"/>
                  </a:lnTo>
                  <a:cubicBezTo>
                    <a:pt x="0" y="23975"/>
                    <a:pt x="3438" y="15676"/>
                    <a:pt x="9557" y="9557"/>
                  </a:cubicBezTo>
                  <a:cubicBezTo>
                    <a:pt x="15676" y="3438"/>
                    <a:pt x="23975" y="0"/>
                    <a:pt x="32628" y="0"/>
                  </a:cubicBezTo>
                  <a:close/>
                </a:path>
              </a:pathLst>
            </a:custGeom>
            <a:solidFill>
              <a:srgbClr val="FAFFD7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2081529" cy="534513"/>
            </a:xfrm>
            <a:prstGeom prst="rect">
              <a:avLst/>
            </a:prstGeom>
          </p:spPr>
          <p:txBody>
            <a:bodyPr anchor="ctr" rtlCol="false" tIns="44229" lIns="44229" bIns="44229" rIns="44229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-5400000">
            <a:off x="10191969" y="8626797"/>
            <a:ext cx="691602" cy="990223"/>
            <a:chOff x="0" y="0"/>
            <a:chExt cx="660400" cy="94554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60400" cy="945548"/>
            </a:xfrm>
            <a:custGeom>
              <a:avLst/>
              <a:gdLst/>
              <a:ahLst/>
              <a:cxnLst/>
              <a:rect r="r" b="b" t="t" l="l"/>
              <a:pathLst>
                <a:path h="945548" w="660400">
                  <a:moveTo>
                    <a:pt x="220252" y="926479"/>
                  </a:moveTo>
                  <a:cubicBezTo>
                    <a:pt x="254109" y="937993"/>
                    <a:pt x="292600" y="945548"/>
                    <a:pt x="330378" y="945548"/>
                  </a:cubicBezTo>
                  <a:cubicBezTo>
                    <a:pt x="368157" y="945548"/>
                    <a:pt x="404509" y="939071"/>
                    <a:pt x="438009" y="927557"/>
                  </a:cubicBezTo>
                  <a:cubicBezTo>
                    <a:pt x="438723" y="927198"/>
                    <a:pt x="439435" y="927198"/>
                    <a:pt x="440148" y="926838"/>
                  </a:cubicBezTo>
                  <a:cubicBezTo>
                    <a:pt x="565955" y="880783"/>
                    <a:pt x="658618" y="759169"/>
                    <a:pt x="660400" y="614097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613642"/>
                  </a:lnTo>
                  <a:cubicBezTo>
                    <a:pt x="1782" y="759888"/>
                    <a:pt x="93019" y="881503"/>
                    <a:pt x="220252" y="926479"/>
                  </a:cubicBezTo>
                  <a:close/>
                </a:path>
              </a:pathLst>
            </a:custGeom>
            <a:solidFill>
              <a:srgbClr val="147138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660400" cy="866173"/>
            </a:xfrm>
            <a:prstGeom prst="rect">
              <a:avLst/>
            </a:prstGeom>
          </p:spPr>
          <p:txBody>
            <a:bodyPr anchor="ctr" rtlCol="false" tIns="44229" lIns="44229" bIns="44229" rIns="44229"/>
            <a:lstStyle/>
            <a:p>
              <a:pPr algn="ctr" marL="0" indent="0" lvl="0">
                <a:lnSpc>
                  <a:spcPts val="25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10185176" y="8836275"/>
            <a:ext cx="705187" cy="523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8"/>
              </a:lnSpc>
              <a:spcBef>
                <a:spcPct val="0"/>
              </a:spcBef>
            </a:pPr>
            <a:r>
              <a:rPr lang="en-US" b="true" sz="3134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  <p:sp>
        <p:nvSpPr>
          <p:cNvPr name="Freeform 83" id="83"/>
          <p:cNvSpPr/>
          <p:nvPr/>
        </p:nvSpPr>
        <p:spPr>
          <a:xfrm flipH="false" flipV="false" rot="0">
            <a:off x="10302932" y="8220477"/>
            <a:ext cx="415688" cy="414649"/>
          </a:xfrm>
          <a:custGeom>
            <a:avLst/>
            <a:gdLst/>
            <a:ahLst/>
            <a:cxnLst/>
            <a:rect r="r" b="b" t="t" l="l"/>
            <a:pathLst>
              <a:path h="414649" w="415688">
                <a:moveTo>
                  <a:pt x="0" y="0"/>
                </a:moveTo>
                <a:lnTo>
                  <a:pt x="415688" y="0"/>
                </a:lnTo>
                <a:lnTo>
                  <a:pt x="415688" y="414649"/>
                </a:lnTo>
                <a:lnTo>
                  <a:pt x="0" y="4146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4" id="84"/>
          <p:cNvSpPr txBox="true"/>
          <p:nvPr/>
        </p:nvSpPr>
        <p:spPr>
          <a:xfrm rot="0">
            <a:off x="2577232" y="4099745"/>
            <a:ext cx="5103663" cy="482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4"/>
              </a:lnSpc>
              <a:spcBef>
                <a:spcPct val="0"/>
              </a:spcBef>
            </a:pPr>
            <a:r>
              <a:rPr lang="en-US" b="true" sz="2367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Unaffordable Ownership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543257" y="6759899"/>
            <a:ext cx="5583434" cy="609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4"/>
              </a:lnSpc>
            </a:pPr>
            <a:r>
              <a:rPr lang="en-US" sz="209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Ov</a:t>
            </a:r>
            <a:r>
              <a:rPr lang="en-US" sz="209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ercharges + underpayments; no land </a:t>
            </a:r>
          </a:p>
          <a:p>
            <a:pPr algn="l" marL="0" indent="0" lvl="0">
              <a:lnSpc>
                <a:spcPts val="2134"/>
              </a:lnSpc>
            </a:pPr>
            <a:r>
              <a:rPr lang="en-US" sz="209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area verification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2543257" y="6116614"/>
            <a:ext cx="5103663" cy="482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4"/>
              </a:lnSpc>
              <a:spcBef>
                <a:spcPct val="0"/>
              </a:spcBef>
            </a:pPr>
            <a:r>
              <a:rPr lang="en-US" b="true" sz="2367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Middleman Exploitation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2577232" y="8936060"/>
            <a:ext cx="5583434" cy="343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4"/>
              </a:lnSpc>
            </a:pPr>
            <a:r>
              <a:rPr lang="en-US" sz="209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Sho</a:t>
            </a:r>
            <a:r>
              <a:rPr lang="en-US" sz="209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rtages in peaks; no on-demand access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2577232" y="8206759"/>
            <a:ext cx="5103663" cy="482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4"/>
              </a:lnSpc>
              <a:spcBef>
                <a:spcPct val="0"/>
              </a:spcBef>
            </a:pPr>
            <a:r>
              <a:rPr lang="en-US" b="true" sz="2367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Booking Chaos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1337681" y="4678839"/>
            <a:ext cx="5451639" cy="609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4"/>
              </a:lnSpc>
            </a:pPr>
            <a:r>
              <a:rPr lang="en-US" sz="209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20-30% f</a:t>
            </a:r>
            <a:r>
              <a:rPr lang="en-US" sz="209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armer earnings lost to inefficiencies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1337681" y="6739706"/>
            <a:ext cx="5583434" cy="609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4"/>
              </a:lnSpc>
            </a:pPr>
            <a:r>
              <a:rPr lang="en-US" sz="209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S</a:t>
            </a:r>
            <a:r>
              <a:rPr lang="en-US" sz="209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caling population (200M by 2030) amid crop waste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1340272" y="8802710"/>
            <a:ext cx="5583434" cy="609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4"/>
              </a:lnSpc>
            </a:pPr>
            <a:r>
              <a:rPr lang="en-US" sz="209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Govt subs</a:t>
            </a:r>
            <a:r>
              <a:rPr lang="en-US" sz="209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idies corrupt/ineffective; imports strain reserves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1318631" y="4062624"/>
            <a:ext cx="5103663" cy="482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4"/>
              </a:lnSpc>
              <a:spcBef>
                <a:spcPct val="0"/>
              </a:spcBef>
            </a:pPr>
            <a:r>
              <a:rPr lang="en-US" b="true" sz="2367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Income Drain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1340272" y="6116614"/>
            <a:ext cx="5103663" cy="482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4"/>
              </a:lnSpc>
              <a:spcBef>
                <a:spcPct val="0"/>
              </a:spcBef>
            </a:pPr>
            <a:r>
              <a:rPr lang="en-US" b="true" sz="2367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Food Security Risk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1318631" y="8124490"/>
            <a:ext cx="5103663" cy="482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4"/>
              </a:lnSpc>
              <a:spcBef>
                <a:spcPct val="0"/>
              </a:spcBef>
            </a:pPr>
            <a:r>
              <a:rPr lang="en-US" b="true" sz="2367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Failed Fixes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41065">
            <a:off x="14037099" y="2394982"/>
            <a:ext cx="6444402" cy="6105908"/>
          </a:xfrm>
          <a:custGeom>
            <a:avLst/>
            <a:gdLst/>
            <a:ahLst/>
            <a:cxnLst/>
            <a:rect r="r" b="b" t="t" l="l"/>
            <a:pathLst>
              <a:path h="6105908" w="6444402">
                <a:moveTo>
                  <a:pt x="0" y="0"/>
                </a:moveTo>
                <a:lnTo>
                  <a:pt x="6444402" y="0"/>
                </a:lnTo>
                <a:lnTo>
                  <a:pt x="6444402" y="6105908"/>
                </a:lnTo>
                <a:lnTo>
                  <a:pt x="0" y="6105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1705731">
            <a:off x="-2351481" y="-906531"/>
            <a:ext cx="7623701" cy="7223264"/>
          </a:xfrm>
          <a:custGeom>
            <a:avLst/>
            <a:gdLst/>
            <a:ahLst/>
            <a:cxnLst/>
            <a:rect r="r" b="b" t="t" l="l"/>
            <a:pathLst>
              <a:path h="7223264" w="7623701">
                <a:moveTo>
                  <a:pt x="0" y="0"/>
                </a:moveTo>
                <a:lnTo>
                  <a:pt x="7623701" y="0"/>
                </a:lnTo>
                <a:lnTo>
                  <a:pt x="7623701" y="7223264"/>
                </a:lnTo>
                <a:lnTo>
                  <a:pt x="0" y="7223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4370568">
            <a:off x="6952819" y="3761305"/>
            <a:ext cx="16091" cy="3218140"/>
          </a:xfrm>
          <a:custGeom>
            <a:avLst/>
            <a:gdLst/>
            <a:ahLst/>
            <a:cxnLst/>
            <a:rect r="r" b="b" t="t" l="l"/>
            <a:pathLst>
              <a:path h="3218140" w="16091">
                <a:moveTo>
                  <a:pt x="0" y="0"/>
                </a:moveTo>
                <a:lnTo>
                  <a:pt x="16091" y="0"/>
                </a:lnTo>
                <a:lnTo>
                  <a:pt x="16091" y="3218140"/>
                </a:lnTo>
                <a:lnTo>
                  <a:pt x="0" y="32181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426065" y="5238091"/>
            <a:ext cx="1228333" cy="122833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71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24584" lIns="24584" bIns="24584" rIns="24584"/>
            <a:lstStyle/>
            <a:p>
              <a:pPr algn="ctr">
                <a:lnSpc>
                  <a:spcPts val="20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557221" y="5490430"/>
            <a:ext cx="966021" cy="723654"/>
          </a:xfrm>
          <a:custGeom>
            <a:avLst/>
            <a:gdLst/>
            <a:ahLst/>
            <a:cxnLst/>
            <a:rect r="r" b="b" t="t" l="l"/>
            <a:pathLst>
              <a:path h="723654" w="966021">
                <a:moveTo>
                  <a:pt x="0" y="0"/>
                </a:moveTo>
                <a:lnTo>
                  <a:pt x="966021" y="0"/>
                </a:lnTo>
                <a:lnTo>
                  <a:pt x="966021" y="723655"/>
                </a:lnTo>
                <a:lnTo>
                  <a:pt x="0" y="7236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43973" y="6754999"/>
            <a:ext cx="1792516" cy="120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b="true" sz="2331">
                <a:solidFill>
                  <a:srgbClr val="147138"/>
                </a:solidFill>
                <a:latin typeface="Hind Siliguri Bold"/>
                <a:ea typeface="Hind Siliguri Bold"/>
                <a:cs typeface="Hind Siliguri Bold"/>
                <a:sym typeface="Hind Siliguri Bold"/>
              </a:rPr>
              <a:t>On-Demand</a:t>
            </a:r>
          </a:p>
          <a:p>
            <a:pPr algn="ctr">
              <a:lnSpc>
                <a:spcPts val="2378"/>
              </a:lnSpc>
            </a:pPr>
            <a:r>
              <a:rPr lang="en-US" b="true" sz="2331">
                <a:solidFill>
                  <a:srgbClr val="147138"/>
                </a:solidFill>
                <a:latin typeface="Hind Siliguri Bold"/>
                <a:ea typeface="Hind Siliguri Bold"/>
                <a:cs typeface="Hind Siliguri Bold"/>
                <a:sym typeface="Hind Siliguri Bold"/>
              </a:rPr>
              <a:t> Machinary </a:t>
            </a:r>
          </a:p>
          <a:p>
            <a:pPr algn="ctr">
              <a:lnSpc>
                <a:spcPts val="2378"/>
              </a:lnSpc>
            </a:pPr>
            <a:r>
              <a:rPr lang="en-US" b="true" sz="2331">
                <a:solidFill>
                  <a:srgbClr val="147138"/>
                </a:solidFill>
                <a:latin typeface="Hind Siliguri Bold"/>
                <a:ea typeface="Hind Siliguri Bold"/>
                <a:cs typeface="Hind Siliguri Bold"/>
                <a:sym typeface="Hind Siliguri Bold"/>
              </a:rPr>
              <a:t>Rentals</a:t>
            </a:r>
          </a:p>
          <a:p>
            <a:pPr algn="ctr">
              <a:lnSpc>
                <a:spcPts val="2378"/>
              </a:lnSpc>
              <a:spcBef>
                <a:spcPct val="0"/>
              </a:spcBef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1428922">
            <a:off x="8106210" y="5106095"/>
            <a:ext cx="13603" cy="2720658"/>
          </a:xfrm>
          <a:custGeom>
            <a:avLst/>
            <a:gdLst/>
            <a:ahLst/>
            <a:cxnLst/>
            <a:rect r="r" b="b" t="t" l="l"/>
            <a:pathLst>
              <a:path h="2720658" w="13603">
                <a:moveTo>
                  <a:pt x="0" y="0"/>
                </a:moveTo>
                <a:lnTo>
                  <a:pt x="13603" y="0"/>
                </a:lnTo>
                <a:lnTo>
                  <a:pt x="13603" y="2720658"/>
                </a:lnTo>
                <a:lnTo>
                  <a:pt x="0" y="27206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-1454921">
            <a:off x="10282914" y="5106240"/>
            <a:ext cx="13106" cy="2621143"/>
          </a:xfrm>
          <a:custGeom>
            <a:avLst/>
            <a:gdLst/>
            <a:ahLst/>
            <a:cxnLst/>
            <a:rect r="r" b="b" t="t" l="l"/>
            <a:pathLst>
              <a:path h="2621143" w="13106">
                <a:moveTo>
                  <a:pt x="0" y="0"/>
                </a:moveTo>
                <a:lnTo>
                  <a:pt x="13106" y="0"/>
                </a:lnTo>
                <a:lnTo>
                  <a:pt x="13106" y="2621143"/>
                </a:lnTo>
                <a:lnTo>
                  <a:pt x="0" y="26211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4160330">
            <a:off x="11406444" y="3891237"/>
            <a:ext cx="15563" cy="3112653"/>
          </a:xfrm>
          <a:custGeom>
            <a:avLst/>
            <a:gdLst/>
            <a:ahLst/>
            <a:cxnLst/>
            <a:rect r="r" b="b" t="t" l="l"/>
            <a:pathLst>
              <a:path h="3112653" w="15563">
                <a:moveTo>
                  <a:pt x="0" y="0"/>
                </a:moveTo>
                <a:lnTo>
                  <a:pt x="15563" y="0"/>
                </a:lnTo>
                <a:lnTo>
                  <a:pt x="15563" y="3112653"/>
                </a:lnTo>
                <a:lnTo>
                  <a:pt x="0" y="31126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877809" y="3578554"/>
            <a:ext cx="2618934" cy="261893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20" t="0" r="-20" b="0"/>
              </a:stretch>
            </a:blipFill>
            <a:ln w="57150" cap="sq">
              <a:solidFill>
                <a:srgbClr val="14713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943334" y="7357044"/>
            <a:ext cx="1228333" cy="122833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713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24584" lIns="24584" bIns="24584" rIns="24584"/>
            <a:lstStyle/>
            <a:p>
              <a:pPr algn="ctr">
                <a:lnSpc>
                  <a:spcPts val="203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672673" y="5238091"/>
            <a:ext cx="1228333" cy="122833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713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24584" lIns="24584" bIns="24584" rIns="24584"/>
            <a:lstStyle/>
            <a:p>
              <a:pPr algn="ctr">
                <a:lnSpc>
                  <a:spcPts val="203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19806" y="7357044"/>
            <a:ext cx="1228333" cy="122833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713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24584" lIns="24584" bIns="24584" rIns="24584"/>
            <a:lstStyle/>
            <a:p>
              <a:pPr algn="ctr">
                <a:lnSpc>
                  <a:spcPts val="203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2863748" y="5429166"/>
            <a:ext cx="846182" cy="846182"/>
          </a:xfrm>
          <a:custGeom>
            <a:avLst/>
            <a:gdLst/>
            <a:ahLst/>
            <a:cxnLst/>
            <a:rect r="r" b="b" t="t" l="l"/>
            <a:pathLst>
              <a:path h="846182" w="846182">
                <a:moveTo>
                  <a:pt x="0" y="0"/>
                </a:moveTo>
                <a:lnTo>
                  <a:pt x="846182" y="0"/>
                </a:lnTo>
                <a:lnTo>
                  <a:pt x="846182" y="846183"/>
                </a:lnTo>
                <a:lnTo>
                  <a:pt x="0" y="8461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496743" y="7583590"/>
            <a:ext cx="674460" cy="775242"/>
          </a:xfrm>
          <a:custGeom>
            <a:avLst/>
            <a:gdLst/>
            <a:ahLst/>
            <a:cxnLst/>
            <a:rect r="r" b="b" t="t" l="l"/>
            <a:pathLst>
              <a:path h="775242" w="674460">
                <a:moveTo>
                  <a:pt x="0" y="0"/>
                </a:moveTo>
                <a:lnTo>
                  <a:pt x="674460" y="0"/>
                </a:lnTo>
                <a:lnTo>
                  <a:pt x="674460" y="775242"/>
                </a:lnTo>
                <a:lnTo>
                  <a:pt x="0" y="7752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746099" y="8855884"/>
            <a:ext cx="1622803" cy="59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sz="2331" b="true">
                <a:solidFill>
                  <a:srgbClr val="147138"/>
                </a:solidFill>
                <a:latin typeface="Hind Siliguri Bold"/>
                <a:ea typeface="Hind Siliguri Bold"/>
                <a:cs typeface="Hind Siliguri Bold"/>
                <a:sym typeface="Hind Siliguri Bold"/>
              </a:rPr>
              <a:t>Secure</a:t>
            </a:r>
          </a:p>
          <a:p>
            <a:pPr algn="ctr">
              <a:lnSpc>
                <a:spcPts val="2378"/>
              </a:lnSpc>
              <a:spcBef>
                <a:spcPct val="0"/>
              </a:spcBef>
            </a:pPr>
            <a:r>
              <a:rPr lang="en-US" b="true" sz="2331">
                <a:solidFill>
                  <a:srgbClr val="147138"/>
                </a:solidFill>
                <a:latin typeface="Hind Siliguri Bold"/>
                <a:ea typeface="Hind Siliguri Bold"/>
                <a:cs typeface="Hind Siliguri Bold"/>
                <a:sym typeface="Hind Siliguri Bold"/>
              </a:rPr>
              <a:t>Payments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60520" y="6754999"/>
            <a:ext cx="1583506" cy="902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b="true" sz="2331">
                <a:solidFill>
                  <a:srgbClr val="147138"/>
                </a:solidFill>
                <a:latin typeface="Hind Siliguri Bold"/>
                <a:ea typeface="Hind Siliguri Bold"/>
                <a:cs typeface="Hind Siliguri Bold"/>
                <a:sym typeface="Hind Siliguri Bold"/>
              </a:rPr>
              <a:t>IoT Verified</a:t>
            </a:r>
          </a:p>
          <a:p>
            <a:pPr algn="ctr">
              <a:lnSpc>
                <a:spcPts val="2378"/>
              </a:lnSpc>
              <a:spcBef>
                <a:spcPct val="0"/>
              </a:spcBef>
            </a:pPr>
            <a:r>
              <a:rPr lang="en-US" b="true" sz="2331">
                <a:solidFill>
                  <a:srgbClr val="147138"/>
                </a:solidFill>
                <a:latin typeface="Hind Siliguri Bold"/>
                <a:ea typeface="Hind Siliguri Bold"/>
                <a:cs typeface="Hind Siliguri Bold"/>
                <a:sym typeface="Hind Siliguri Bold"/>
              </a:rPr>
              <a:t>Precision Tracking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39518" y="8855884"/>
            <a:ext cx="1583506" cy="902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b="true" sz="2331">
                <a:solidFill>
                  <a:srgbClr val="147138"/>
                </a:solidFill>
                <a:latin typeface="Hind Siliguri Bold"/>
                <a:ea typeface="Hind Siliguri Bold"/>
                <a:cs typeface="Hind Siliguri Bold"/>
                <a:sym typeface="Hind Siliguri Bold"/>
              </a:rPr>
              <a:t>Hybrid Agent-Led </a:t>
            </a:r>
          </a:p>
          <a:p>
            <a:pPr algn="ctr">
              <a:lnSpc>
                <a:spcPts val="2378"/>
              </a:lnSpc>
              <a:spcBef>
                <a:spcPct val="0"/>
              </a:spcBef>
            </a:pPr>
            <a:r>
              <a:rPr lang="en-US" b="true" sz="2331">
                <a:solidFill>
                  <a:srgbClr val="147138"/>
                </a:solidFill>
                <a:latin typeface="Hind Siliguri Bold"/>
                <a:ea typeface="Hind Siliguri Bold"/>
                <a:cs typeface="Hind Siliguri Bold"/>
                <a:sym typeface="Hind Siliguri Bold"/>
              </a:rPr>
              <a:t>Ecosystem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7287961" y="7626200"/>
            <a:ext cx="539079" cy="690022"/>
          </a:xfrm>
          <a:custGeom>
            <a:avLst/>
            <a:gdLst/>
            <a:ahLst/>
            <a:cxnLst/>
            <a:rect r="r" b="b" t="t" l="l"/>
            <a:pathLst>
              <a:path h="690022" w="539079">
                <a:moveTo>
                  <a:pt x="0" y="0"/>
                </a:moveTo>
                <a:lnTo>
                  <a:pt x="539079" y="0"/>
                </a:lnTo>
                <a:lnTo>
                  <a:pt x="539079" y="690021"/>
                </a:lnTo>
                <a:lnTo>
                  <a:pt x="0" y="69002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28700" y="962025"/>
            <a:ext cx="10142503" cy="1743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Solution</a:t>
            </a:r>
          </a:p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>
                <a:solidFill>
                  <a:srgbClr val="147138"/>
                </a:solidFill>
                <a:latin typeface="Gordita"/>
                <a:ea typeface="Gordita"/>
                <a:cs typeface="Gordita"/>
                <a:sym typeface="Gordita"/>
              </a:rPr>
              <a:t>Introducing </a:t>
            </a:r>
            <a:r>
              <a:rPr lang="en-US" b="true" sz="6000">
                <a:solidFill>
                  <a:srgbClr val="147138"/>
                </a:solidFill>
                <a:latin typeface="Gordita Bold"/>
                <a:ea typeface="Gordita Bold"/>
                <a:cs typeface="Gordita Bold"/>
                <a:sym typeface="Gordita Bold"/>
              </a:rPr>
              <a:t>LANGOL </a:t>
            </a:r>
            <a:r>
              <a:rPr lang="en-US" sz="6000" i="true">
                <a:solidFill>
                  <a:srgbClr val="147138"/>
                </a:solidFill>
                <a:latin typeface="Gordita Italics"/>
                <a:ea typeface="Gordita Italics"/>
                <a:cs typeface="Gordita Italics"/>
                <a:sym typeface="Gordita Italics"/>
              </a:rPr>
              <a:t>app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2638426"/>
            <a:ext cx="15005488" cy="45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We c</a:t>
            </a:r>
            <a:r>
              <a:rPr lang="en-US" sz="22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onnect farmers directly to machinery owners through a transparent, IoT-verified digital marketplace.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41065">
            <a:off x="14037099" y="2243310"/>
            <a:ext cx="6444402" cy="6105908"/>
          </a:xfrm>
          <a:custGeom>
            <a:avLst/>
            <a:gdLst/>
            <a:ahLst/>
            <a:cxnLst/>
            <a:rect r="r" b="b" t="t" l="l"/>
            <a:pathLst>
              <a:path h="6105908" w="6444402">
                <a:moveTo>
                  <a:pt x="0" y="0"/>
                </a:moveTo>
                <a:lnTo>
                  <a:pt x="6444402" y="0"/>
                </a:lnTo>
                <a:lnTo>
                  <a:pt x="6444402" y="6105908"/>
                </a:lnTo>
                <a:lnTo>
                  <a:pt x="0" y="61059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962025"/>
            <a:ext cx="9265339" cy="98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Solution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410166" y="3395759"/>
            <a:ext cx="3490332" cy="4699108"/>
            <a:chOff x="0" y="0"/>
            <a:chExt cx="959441" cy="1291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9441" cy="1291715"/>
            </a:xfrm>
            <a:custGeom>
              <a:avLst/>
              <a:gdLst/>
              <a:ahLst/>
              <a:cxnLst/>
              <a:rect r="r" b="b" t="t" l="l"/>
              <a:pathLst>
                <a:path h="1291715" w="959441">
                  <a:moveTo>
                    <a:pt x="82070" y="0"/>
                  </a:moveTo>
                  <a:lnTo>
                    <a:pt x="877371" y="0"/>
                  </a:lnTo>
                  <a:cubicBezTo>
                    <a:pt x="922697" y="0"/>
                    <a:pt x="959441" y="36744"/>
                    <a:pt x="959441" y="82070"/>
                  </a:cubicBezTo>
                  <a:lnTo>
                    <a:pt x="959441" y="1209645"/>
                  </a:lnTo>
                  <a:cubicBezTo>
                    <a:pt x="959441" y="1231411"/>
                    <a:pt x="950794" y="1252286"/>
                    <a:pt x="935403" y="1267677"/>
                  </a:cubicBezTo>
                  <a:cubicBezTo>
                    <a:pt x="920012" y="1283068"/>
                    <a:pt x="899137" y="1291715"/>
                    <a:pt x="877371" y="1291715"/>
                  </a:cubicBezTo>
                  <a:lnTo>
                    <a:pt x="82070" y="1291715"/>
                  </a:lnTo>
                  <a:cubicBezTo>
                    <a:pt x="36744" y="1291715"/>
                    <a:pt x="0" y="1254971"/>
                    <a:pt x="0" y="1209645"/>
                  </a:cubicBezTo>
                  <a:lnTo>
                    <a:pt x="0" y="82070"/>
                  </a:lnTo>
                  <a:cubicBezTo>
                    <a:pt x="0" y="36744"/>
                    <a:pt x="36744" y="0"/>
                    <a:pt x="82070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959441" cy="1396490"/>
            </a:xfrm>
            <a:prstGeom prst="rect">
              <a:avLst/>
            </a:prstGeom>
          </p:spPr>
          <p:txBody>
            <a:bodyPr anchor="ctr" rtlCol="false" tIns="48673" lIns="48673" bIns="48673" rIns="48673"/>
            <a:lstStyle/>
            <a:p>
              <a:pPr algn="l">
                <a:lnSpc>
                  <a:spcPts val="29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534556" y="2734368"/>
            <a:ext cx="1241553" cy="124155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713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24849" lIns="24849" bIns="24849" rIns="24849"/>
            <a:lstStyle/>
            <a:p>
              <a:pPr algn="ctr">
                <a:lnSpc>
                  <a:spcPts val="203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814473" y="2963352"/>
            <a:ext cx="681719" cy="783585"/>
          </a:xfrm>
          <a:custGeom>
            <a:avLst/>
            <a:gdLst/>
            <a:ahLst/>
            <a:cxnLst/>
            <a:rect r="r" b="b" t="t" l="l"/>
            <a:pathLst>
              <a:path h="783585" w="681719">
                <a:moveTo>
                  <a:pt x="0" y="0"/>
                </a:moveTo>
                <a:lnTo>
                  <a:pt x="681719" y="0"/>
                </a:lnTo>
                <a:lnTo>
                  <a:pt x="681719" y="783585"/>
                </a:lnTo>
                <a:lnTo>
                  <a:pt x="0" y="783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450537" y="3395759"/>
            <a:ext cx="3490332" cy="4699108"/>
            <a:chOff x="0" y="0"/>
            <a:chExt cx="959441" cy="1291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9441" cy="1291715"/>
            </a:xfrm>
            <a:custGeom>
              <a:avLst/>
              <a:gdLst/>
              <a:ahLst/>
              <a:cxnLst/>
              <a:rect r="r" b="b" t="t" l="l"/>
              <a:pathLst>
                <a:path h="1291715" w="959441">
                  <a:moveTo>
                    <a:pt x="82070" y="0"/>
                  </a:moveTo>
                  <a:lnTo>
                    <a:pt x="877371" y="0"/>
                  </a:lnTo>
                  <a:cubicBezTo>
                    <a:pt x="922697" y="0"/>
                    <a:pt x="959441" y="36744"/>
                    <a:pt x="959441" y="82070"/>
                  </a:cubicBezTo>
                  <a:lnTo>
                    <a:pt x="959441" y="1209645"/>
                  </a:lnTo>
                  <a:cubicBezTo>
                    <a:pt x="959441" y="1231411"/>
                    <a:pt x="950794" y="1252286"/>
                    <a:pt x="935403" y="1267677"/>
                  </a:cubicBezTo>
                  <a:cubicBezTo>
                    <a:pt x="920012" y="1283068"/>
                    <a:pt x="899137" y="1291715"/>
                    <a:pt x="877371" y="1291715"/>
                  </a:cubicBezTo>
                  <a:lnTo>
                    <a:pt x="82070" y="1291715"/>
                  </a:lnTo>
                  <a:cubicBezTo>
                    <a:pt x="36744" y="1291715"/>
                    <a:pt x="0" y="1254971"/>
                    <a:pt x="0" y="1209645"/>
                  </a:cubicBezTo>
                  <a:lnTo>
                    <a:pt x="0" y="82070"/>
                  </a:lnTo>
                  <a:cubicBezTo>
                    <a:pt x="0" y="36744"/>
                    <a:pt x="36744" y="0"/>
                    <a:pt x="82070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04775"/>
              <a:ext cx="959441" cy="1396490"/>
            </a:xfrm>
            <a:prstGeom prst="rect">
              <a:avLst/>
            </a:prstGeom>
          </p:spPr>
          <p:txBody>
            <a:bodyPr anchor="ctr" rtlCol="false" tIns="48673" lIns="48673" bIns="48673" rIns="48673"/>
            <a:lstStyle/>
            <a:p>
              <a:pPr algn="l">
                <a:lnSpc>
                  <a:spcPts val="29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74926" y="2774982"/>
            <a:ext cx="1241553" cy="124155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713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24849" lIns="24849" bIns="24849" rIns="24849"/>
            <a:lstStyle/>
            <a:p>
              <a:pPr algn="ctr">
                <a:lnSpc>
                  <a:spcPts val="20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6923262" y="3047035"/>
            <a:ext cx="544881" cy="697448"/>
          </a:xfrm>
          <a:custGeom>
            <a:avLst/>
            <a:gdLst/>
            <a:ahLst/>
            <a:cxnLst/>
            <a:rect r="r" b="b" t="t" l="l"/>
            <a:pathLst>
              <a:path h="697448" w="544881">
                <a:moveTo>
                  <a:pt x="0" y="0"/>
                </a:moveTo>
                <a:lnTo>
                  <a:pt x="544882" y="0"/>
                </a:lnTo>
                <a:lnTo>
                  <a:pt x="544882" y="697447"/>
                </a:lnTo>
                <a:lnTo>
                  <a:pt x="0" y="6974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3372246" y="3355144"/>
            <a:ext cx="3490332" cy="4699108"/>
            <a:chOff x="0" y="0"/>
            <a:chExt cx="959441" cy="12917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9441" cy="1291715"/>
            </a:xfrm>
            <a:custGeom>
              <a:avLst/>
              <a:gdLst/>
              <a:ahLst/>
              <a:cxnLst/>
              <a:rect r="r" b="b" t="t" l="l"/>
              <a:pathLst>
                <a:path h="1291715" w="959441">
                  <a:moveTo>
                    <a:pt x="82070" y="0"/>
                  </a:moveTo>
                  <a:lnTo>
                    <a:pt x="877371" y="0"/>
                  </a:lnTo>
                  <a:cubicBezTo>
                    <a:pt x="922697" y="0"/>
                    <a:pt x="959441" y="36744"/>
                    <a:pt x="959441" y="82070"/>
                  </a:cubicBezTo>
                  <a:lnTo>
                    <a:pt x="959441" y="1209645"/>
                  </a:lnTo>
                  <a:cubicBezTo>
                    <a:pt x="959441" y="1231411"/>
                    <a:pt x="950794" y="1252286"/>
                    <a:pt x="935403" y="1267677"/>
                  </a:cubicBezTo>
                  <a:cubicBezTo>
                    <a:pt x="920012" y="1283068"/>
                    <a:pt x="899137" y="1291715"/>
                    <a:pt x="877371" y="1291715"/>
                  </a:cubicBezTo>
                  <a:lnTo>
                    <a:pt x="82070" y="1291715"/>
                  </a:lnTo>
                  <a:cubicBezTo>
                    <a:pt x="36744" y="1291715"/>
                    <a:pt x="0" y="1254971"/>
                    <a:pt x="0" y="1209645"/>
                  </a:cubicBezTo>
                  <a:lnTo>
                    <a:pt x="0" y="82070"/>
                  </a:lnTo>
                  <a:cubicBezTo>
                    <a:pt x="0" y="36744"/>
                    <a:pt x="36744" y="0"/>
                    <a:pt x="82070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04775"/>
              <a:ext cx="959441" cy="1396490"/>
            </a:xfrm>
            <a:prstGeom prst="rect">
              <a:avLst/>
            </a:prstGeom>
          </p:spPr>
          <p:txBody>
            <a:bodyPr anchor="ctr" rtlCol="false" tIns="48673" lIns="48673" bIns="48673" rIns="48673"/>
            <a:lstStyle/>
            <a:p>
              <a:pPr algn="l">
                <a:lnSpc>
                  <a:spcPts val="293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498665" y="2734368"/>
            <a:ext cx="1241553" cy="124155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713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24849" lIns="24849" bIns="24849" rIns="24849"/>
            <a:lstStyle/>
            <a:p>
              <a:pPr algn="ctr">
                <a:lnSpc>
                  <a:spcPts val="203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4691797" y="2927500"/>
            <a:ext cx="855289" cy="855289"/>
          </a:xfrm>
          <a:custGeom>
            <a:avLst/>
            <a:gdLst/>
            <a:ahLst/>
            <a:cxnLst/>
            <a:rect r="r" b="b" t="t" l="l"/>
            <a:pathLst>
              <a:path h="855289" w="855289">
                <a:moveTo>
                  <a:pt x="0" y="0"/>
                </a:moveTo>
                <a:lnTo>
                  <a:pt x="855289" y="0"/>
                </a:lnTo>
                <a:lnTo>
                  <a:pt x="855289" y="855289"/>
                </a:lnTo>
                <a:lnTo>
                  <a:pt x="0" y="8552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490908" y="2774982"/>
            <a:ext cx="3490332" cy="5279270"/>
            <a:chOff x="0" y="0"/>
            <a:chExt cx="4653776" cy="703902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773550"/>
              <a:ext cx="4653776" cy="6265477"/>
              <a:chOff x="0" y="0"/>
              <a:chExt cx="959441" cy="1291715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59441" cy="1291715"/>
              </a:xfrm>
              <a:custGeom>
                <a:avLst/>
                <a:gdLst/>
                <a:ahLst/>
                <a:cxnLst/>
                <a:rect r="r" b="b" t="t" l="l"/>
                <a:pathLst>
                  <a:path h="1291715" w="959441">
                    <a:moveTo>
                      <a:pt x="82070" y="0"/>
                    </a:moveTo>
                    <a:lnTo>
                      <a:pt x="877371" y="0"/>
                    </a:lnTo>
                    <a:cubicBezTo>
                      <a:pt x="922697" y="0"/>
                      <a:pt x="959441" y="36744"/>
                      <a:pt x="959441" y="82070"/>
                    </a:cubicBezTo>
                    <a:lnTo>
                      <a:pt x="959441" y="1209645"/>
                    </a:lnTo>
                    <a:cubicBezTo>
                      <a:pt x="959441" y="1231411"/>
                      <a:pt x="950794" y="1252286"/>
                      <a:pt x="935403" y="1267677"/>
                    </a:cubicBezTo>
                    <a:cubicBezTo>
                      <a:pt x="920012" y="1283068"/>
                      <a:pt x="899137" y="1291715"/>
                      <a:pt x="877371" y="1291715"/>
                    </a:cubicBezTo>
                    <a:lnTo>
                      <a:pt x="82070" y="1291715"/>
                    </a:lnTo>
                    <a:cubicBezTo>
                      <a:pt x="36744" y="1291715"/>
                      <a:pt x="0" y="1254971"/>
                      <a:pt x="0" y="1209645"/>
                    </a:cubicBezTo>
                    <a:lnTo>
                      <a:pt x="0" y="82070"/>
                    </a:lnTo>
                    <a:cubicBezTo>
                      <a:pt x="0" y="36744"/>
                      <a:pt x="36744" y="0"/>
                      <a:pt x="82070" y="0"/>
                    </a:cubicBezTo>
                    <a:close/>
                  </a:path>
                </a:pathLst>
              </a:custGeom>
              <a:ln w="38100" cap="rnd">
                <a:solidFill>
                  <a:srgbClr val="147138"/>
                </a:solidFill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104775"/>
                <a:ext cx="959441" cy="1396490"/>
              </a:xfrm>
              <a:prstGeom prst="rect">
                <a:avLst/>
              </a:prstGeom>
            </p:spPr>
            <p:txBody>
              <a:bodyPr anchor="ctr" rtlCol="false" tIns="48673" lIns="48673" bIns="48673" rIns="48673"/>
              <a:lstStyle/>
              <a:p>
                <a:pPr algn="l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499186" y="0"/>
              <a:ext cx="1655404" cy="1655404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47138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anchor="ctr" rtlCol="false" tIns="24849" lIns="24849" bIns="24849" rIns="24849"/>
              <a:lstStyle/>
              <a:p>
                <a:pPr algn="ctr">
                  <a:lnSpc>
                    <a:spcPts val="2039"/>
                  </a:lnSpc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1675943" y="340074"/>
              <a:ext cx="1301890" cy="975257"/>
            </a:xfrm>
            <a:custGeom>
              <a:avLst/>
              <a:gdLst/>
              <a:ahLst/>
              <a:cxnLst/>
              <a:rect r="r" b="b" t="t" l="l"/>
              <a:pathLst>
                <a:path h="975257" w="1301890">
                  <a:moveTo>
                    <a:pt x="0" y="0"/>
                  </a:moveTo>
                  <a:lnTo>
                    <a:pt x="1301890" y="0"/>
                  </a:lnTo>
                  <a:lnTo>
                    <a:pt x="1301890" y="975256"/>
                  </a:lnTo>
                  <a:lnTo>
                    <a:pt x="0" y="97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319720" y="1910222"/>
              <a:ext cx="4014336" cy="39670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97"/>
                </a:lnSpc>
                <a:spcBef>
                  <a:spcPct val="0"/>
                </a:spcBef>
              </a:pPr>
              <a:r>
                <a:rPr lang="en-US" sz="2784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On-demand booking via app </a:t>
              </a:r>
              <a:r>
                <a:rPr lang="en-US" sz="2784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or local LANGOL Point for instant tractor/harvester rentals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3612036" y="4147067"/>
            <a:ext cx="3010752" cy="349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  <a:spcBef>
                <a:spcPct val="0"/>
              </a:spcBef>
            </a:pPr>
            <a:r>
              <a:rPr lang="en-US" sz="2784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IoT-verified billing with custom trackers t</a:t>
            </a:r>
            <a:r>
              <a:rPr lang="en-US" sz="2784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o measure exact acreage, pay only for work done, zero disputes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51767" y="4174311"/>
            <a:ext cx="3209581" cy="3008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  <a:spcBef>
                <a:spcPct val="0"/>
              </a:spcBef>
            </a:pPr>
            <a:r>
              <a:rPr lang="en-US" sz="2784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Inclusive access f</a:t>
            </a:r>
            <a:r>
              <a:rPr lang="en-US" sz="2784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or no-smartphone farmers via agent calls or shop visits, serving all 15M smallholders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594052" y="4174311"/>
            <a:ext cx="3209581" cy="251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7"/>
              </a:lnSpc>
              <a:spcBef>
                <a:spcPct val="0"/>
              </a:spcBef>
            </a:pPr>
            <a:r>
              <a:rPr lang="en-US" sz="2784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Secu</a:t>
            </a:r>
            <a:r>
              <a:rPr lang="en-US" sz="2784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re payments via bKash/Nagad digital + cash, </a:t>
            </a:r>
          </a:p>
          <a:p>
            <a:pPr algn="ctr">
              <a:lnSpc>
                <a:spcPts val="3897"/>
              </a:lnSpc>
              <a:spcBef>
                <a:spcPct val="0"/>
              </a:spcBef>
            </a:pPr>
            <a:r>
              <a:rPr lang="en-US" sz="2784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with prepaid owner wallets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93875" y="2469453"/>
            <a:ext cx="14810780" cy="249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sz="275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1. </a:t>
            </a:r>
            <a:r>
              <a:rPr lang="en-US" b="true" sz="275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REQUEST </a:t>
            </a:r>
            <a:r>
              <a:rPr lang="en-US" sz="275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- </a:t>
            </a:r>
            <a:r>
              <a:rPr lang="en-US" sz="275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Farmer books tract</a:t>
            </a:r>
            <a:r>
              <a:rPr lang="en-US" sz="275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or via app or visits LANGOL Point agent</a:t>
            </a:r>
          </a:p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sz="275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2. </a:t>
            </a:r>
            <a:r>
              <a:rPr lang="en-US" b="true" sz="275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MATCH </a:t>
            </a:r>
            <a:r>
              <a:rPr lang="en-US" sz="275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- Smart system finds nearest available machine (reduces wait time)</a:t>
            </a:r>
          </a:p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sz="275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3. </a:t>
            </a:r>
            <a:r>
              <a:rPr lang="en-US" b="true" sz="275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TRACK </a:t>
            </a:r>
            <a:r>
              <a:rPr lang="en-US" sz="275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- IoT device records exact area worked (not estimates)</a:t>
            </a:r>
          </a:p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sz="275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4. </a:t>
            </a:r>
            <a:r>
              <a:rPr lang="en-US" b="true" sz="275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VERIFY </a:t>
            </a:r>
            <a:r>
              <a:rPr lang="en-US" sz="275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- Farmer approves work via SMS or app notification</a:t>
            </a:r>
          </a:p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sz="275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5. </a:t>
            </a:r>
            <a:r>
              <a:rPr lang="en-US" b="true" sz="275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SETTLE </a:t>
            </a:r>
            <a:r>
              <a:rPr lang="en-US" sz="275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- Payment auto-released (digital/cash): Owner gets paid, Agent gets commission</a:t>
            </a:r>
          </a:p>
        </p:txBody>
      </p:sp>
      <p:grpSp>
        <p:nvGrpSpPr>
          <p:cNvPr name="Group 3" id="3"/>
          <p:cNvGrpSpPr/>
          <p:nvPr/>
        </p:nvGrpSpPr>
        <p:grpSpPr>
          <a:xfrm rot="-5400000">
            <a:off x="7147268" y="-3816191"/>
            <a:ext cx="2940829" cy="15177964"/>
            <a:chOff x="0" y="0"/>
            <a:chExt cx="774539" cy="39974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74539" cy="3997489"/>
            </a:xfrm>
            <a:custGeom>
              <a:avLst/>
              <a:gdLst/>
              <a:ahLst/>
              <a:cxnLst/>
              <a:rect r="r" b="b" t="t" l="l"/>
              <a:pathLst>
                <a:path h="3997489" w="774539">
                  <a:moveTo>
                    <a:pt x="97405" y="0"/>
                  </a:moveTo>
                  <a:lnTo>
                    <a:pt x="677134" y="0"/>
                  </a:lnTo>
                  <a:cubicBezTo>
                    <a:pt x="730930" y="0"/>
                    <a:pt x="774539" y="43610"/>
                    <a:pt x="774539" y="97405"/>
                  </a:cubicBezTo>
                  <a:lnTo>
                    <a:pt x="774539" y="3900084"/>
                  </a:lnTo>
                  <a:cubicBezTo>
                    <a:pt x="774539" y="3925917"/>
                    <a:pt x="764277" y="3950693"/>
                    <a:pt x="746010" y="3968959"/>
                  </a:cubicBezTo>
                  <a:cubicBezTo>
                    <a:pt x="727743" y="3987226"/>
                    <a:pt x="702968" y="3997489"/>
                    <a:pt x="677134" y="3997489"/>
                  </a:cubicBezTo>
                  <a:lnTo>
                    <a:pt x="97405" y="3997489"/>
                  </a:lnTo>
                  <a:cubicBezTo>
                    <a:pt x="71571" y="3997489"/>
                    <a:pt x="46796" y="3987226"/>
                    <a:pt x="28529" y="3968959"/>
                  </a:cubicBezTo>
                  <a:cubicBezTo>
                    <a:pt x="10262" y="3950693"/>
                    <a:pt x="0" y="3925917"/>
                    <a:pt x="0" y="3900084"/>
                  </a:cubicBezTo>
                  <a:lnTo>
                    <a:pt x="0" y="97405"/>
                  </a:lnTo>
                  <a:cubicBezTo>
                    <a:pt x="0" y="71571"/>
                    <a:pt x="10262" y="46796"/>
                    <a:pt x="28529" y="28529"/>
                  </a:cubicBezTo>
                  <a:cubicBezTo>
                    <a:pt x="46796" y="10262"/>
                    <a:pt x="71571" y="0"/>
                    <a:pt x="97405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774539" cy="4083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589666" y="8453017"/>
            <a:ext cx="1254604" cy="1235785"/>
          </a:xfrm>
          <a:custGeom>
            <a:avLst/>
            <a:gdLst/>
            <a:ahLst/>
            <a:cxnLst/>
            <a:rect r="r" b="b" t="t" l="l"/>
            <a:pathLst>
              <a:path h="1235785" w="1254604">
                <a:moveTo>
                  <a:pt x="0" y="0"/>
                </a:moveTo>
                <a:lnTo>
                  <a:pt x="1254603" y="0"/>
                </a:lnTo>
                <a:lnTo>
                  <a:pt x="1254603" y="1235785"/>
                </a:lnTo>
                <a:lnTo>
                  <a:pt x="0" y="1235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82997" y="8007168"/>
            <a:ext cx="1985434" cy="1551120"/>
          </a:xfrm>
          <a:custGeom>
            <a:avLst/>
            <a:gdLst/>
            <a:ahLst/>
            <a:cxnLst/>
            <a:rect r="r" b="b" t="t" l="l"/>
            <a:pathLst>
              <a:path h="1551120" w="1985434">
                <a:moveTo>
                  <a:pt x="0" y="0"/>
                </a:moveTo>
                <a:lnTo>
                  <a:pt x="1985434" y="0"/>
                </a:lnTo>
                <a:lnTo>
                  <a:pt x="1985434" y="1551120"/>
                </a:lnTo>
                <a:lnTo>
                  <a:pt x="0" y="1551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050191" y="6228975"/>
            <a:ext cx="1745903" cy="1142773"/>
          </a:xfrm>
          <a:custGeom>
            <a:avLst/>
            <a:gdLst/>
            <a:ahLst/>
            <a:cxnLst/>
            <a:rect r="r" b="b" t="t" l="l"/>
            <a:pathLst>
              <a:path h="1142773" w="1745903">
                <a:moveTo>
                  <a:pt x="0" y="0"/>
                </a:moveTo>
                <a:lnTo>
                  <a:pt x="1745903" y="0"/>
                </a:lnTo>
                <a:lnTo>
                  <a:pt x="1745903" y="1142773"/>
                </a:lnTo>
                <a:lnTo>
                  <a:pt x="0" y="11427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053799" y="7797835"/>
            <a:ext cx="1443927" cy="1310363"/>
          </a:xfrm>
          <a:custGeom>
            <a:avLst/>
            <a:gdLst/>
            <a:ahLst/>
            <a:cxnLst/>
            <a:rect r="r" b="b" t="t" l="l"/>
            <a:pathLst>
              <a:path h="1310363" w="1443927">
                <a:moveTo>
                  <a:pt x="0" y="0"/>
                </a:moveTo>
                <a:lnTo>
                  <a:pt x="1443927" y="0"/>
                </a:lnTo>
                <a:lnTo>
                  <a:pt x="1443927" y="1310364"/>
                </a:lnTo>
                <a:lnTo>
                  <a:pt x="0" y="13103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844269" y="5553202"/>
            <a:ext cx="811124" cy="1564870"/>
          </a:xfrm>
          <a:custGeom>
            <a:avLst/>
            <a:gdLst/>
            <a:ahLst/>
            <a:cxnLst/>
            <a:rect r="r" b="b" t="t" l="l"/>
            <a:pathLst>
              <a:path h="1564870" w="811124">
                <a:moveTo>
                  <a:pt x="0" y="0"/>
                </a:moveTo>
                <a:lnTo>
                  <a:pt x="811125" y="0"/>
                </a:lnTo>
                <a:lnTo>
                  <a:pt x="811125" y="1564869"/>
                </a:lnTo>
                <a:lnTo>
                  <a:pt x="0" y="15648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624898" y="6228975"/>
            <a:ext cx="1477898" cy="1778192"/>
          </a:xfrm>
          <a:custGeom>
            <a:avLst/>
            <a:gdLst/>
            <a:ahLst/>
            <a:cxnLst/>
            <a:rect r="r" b="b" t="t" l="l"/>
            <a:pathLst>
              <a:path h="1778192" w="1477898">
                <a:moveTo>
                  <a:pt x="0" y="0"/>
                </a:moveTo>
                <a:lnTo>
                  <a:pt x="1477898" y="0"/>
                </a:lnTo>
                <a:lnTo>
                  <a:pt x="1477898" y="1778193"/>
                </a:lnTo>
                <a:lnTo>
                  <a:pt x="0" y="177819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-6581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77348" y="1143000"/>
            <a:ext cx="5094118" cy="107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81"/>
              </a:lnSpc>
            </a:pPr>
            <a:r>
              <a:rPr lang="en-US" b="true" sz="8021">
                <a:solidFill>
                  <a:srgbClr val="147138"/>
                </a:solidFill>
                <a:latin typeface="Gordita Bold"/>
                <a:ea typeface="Gordita Bold"/>
                <a:cs typeface="Gordita Bold"/>
                <a:sym typeface="Gordita Bold"/>
              </a:rPr>
              <a:t>LANGOL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137725"/>
            <a:ext cx="1682023" cy="1047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99"/>
              </a:lnSpc>
            </a:pPr>
            <a:r>
              <a:rPr lang="en-US" b="true" sz="39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</a:t>
            </a:r>
          </a:p>
          <a:p>
            <a:pPr algn="r">
              <a:lnSpc>
                <a:spcPts val="3599"/>
              </a:lnSpc>
            </a:pPr>
            <a:r>
              <a:rPr lang="en-US" b="true" sz="39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works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9265339" cy="98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Business Model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246583"/>
            <a:ext cx="3081939" cy="4531776"/>
            <a:chOff x="0" y="0"/>
            <a:chExt cx="811704" cy="11935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1704" cy="1193554"/>
            </a:xfrm>
            <a:custGeom>
              <a:avLst/>
              <a:gdLst/>
              <a:ahLst/>
              <a:cxnLst/>
              <a:rect r="r" b="b" t="t" l="l"/>
              <a:pathLst>
                <a:path h="1193554" w="811704">
                  <a:moveTo>
                    <a:pt x="92945" y="0"/>
                  </a:moveTo>
                  <a:lnTo>
                    <a:pt x="718759" y="0"/>
                  </a:lnTo>
                  <a:cubicBezTo>
                    <a:pt x="770091" y="0"/>
                    <a:pt x="811704" y="41613"/>
                    <a:pt x="811704" y="92945"/>
                  </a:cubicBezTo>
                  <a:lnTo>
                    <a:pt x="811704" y="1100609"/>
                  </a:lnTo>
                  <a:cubicBezTo>
                    <a:pt x="811704" y="1151941"/>
                    <a:pt x="770091" y="1193554"/>
                    <a:pt x="718759" y="1193554"/>
                  </a:cubicBezTo>
                  <a:lnTo>
                    <a:pt x="92945" y="1193554"/>
                  </a:lnTo>
                  <a:cubicBezTo>
                    <a:pt x="41613" y="1193554"/>
                    <a:pt x="0" y="1151941"/>
                    <a:pt x="0" y="1100609"/>
                  </a:cubicBezTo>
                  <a:lnTo>
                    <a:pt x="0" y="92945"/>
                  </a:lnTo>
                  <a:cubicBezTo>
                    <a:pt x="0" y="41613"/>
                    <a:pt x="41613" y="0"/>
                    <a:pt x="92945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811704" cy="1279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177361" y="2246583"/>
            <a:ext cx="3081939" cy="4531776"/>
            <a:chOff x="0" y="0"/>
            <a:chExt cx="811704" cy="11935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1704" cy="1193554"/>
            </a:xfrm>
            <a:custGeom>
              <a:avLst/>
              <a:gdLst/>
              <a:ahLst/>
              <a:cxnLst/>
              <a:rect r="r" b="b" t="t" l="l"/>
              <a:pathLst>
                <a:path h="1193554" w="811704">
                  <a:moveTo>
                    <a:pt x="92945" y="0"/>
                  </a:moveTo>
                  <a:lnTo>
                    <a:pt x="718759" y="0"/>
                  </a:lnTo>
                  <a:cubicBezTo>
                    <a:pt x="770091" y="0"/>
                    <a:pt x="811704" y="41613"/>
                    <a:pt x="811704" y="92945"/>
                  </a:cubicBezTo>
                  <a:lnTo>
                    <a:pt x="811704" y="1100609"/>
                  </a:lnTo>
                  <a:cubicBezTo>
                    <a:pt x="811704" y="1151941"/>
                    <a:pt x="770091" y="1193554"/>
                    <a:pt x="718759" y="1193554"/>
                  </a:cubicBezTo>
                  <a:lnTo>
                    <a:pt x="92945" y="1193554"/>
                  </a:lnTo>
                  <a:cubicBezTo>
                    <a:pt x="41613" y="1193554"/>
                    <a:pt x="0" y="1151941"/>
                    <a:pt x="0" y="1100609"/>
                  </a:cubicBezTo>
                  <a:lnTo>
                    <a:pt x="0" y="92945"/>
                  </a:lnTo>
                  <a:cubicBezTo>
                    <a:pt x="0" y="41613"/>
                    <a:pt x="41613" y="0"/>
                    <a:pt x="92945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811704" cy="1279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03030" y="2246583"/>
            <a:ext cx="3081939" cy="4531776"/>
            <a:chOff x="0" y="0"/>
            <a:chExt cx="811704" cy="11935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1704" cy="1193554"/>
            </a:xfrm>
            <a:custGeom>
              <a:avLst/>
              <a:gdLst/>
              <a:ahLst/>
              <a:cxnLst/>
              <a:rect r="r" b="b" t="t" l="l"/>
              <a:pathLst>
                <a:path h="1193554" w="811704">
                  <a:moveTo>
                    <a:pt x="92945" y="0"/>
                  </a:moveTo>
                  <a:lnTo>
                    <a:pt x="718759" y="0"/>
                  </a:lnTo>
                  <a:cubicBezTo>
                    <a:pt x="770091" y="0"/>
                    <a:pt x="811704" y="41613"/>
                    <a:pt x="811704" y="92945"/>
                  </a:cubicBezTo>
                  <a:lnTo>
                    <a:pt x="811704" y="1100609"/>
                  </a:lnTo>
                  <a:cubicBezTo>
                    <a:pt x="811704" y="1151941"/>
                    <a:pt x="770091" y="1193554"/>
                    <a:pt x="718759" y="1193554"/>
                  </a:cubicBezTo>
                  <a:lnTo>
                    <a:pt x="92945" y="1193554"/>
                  </a:lnTo>
                  <a:cubicBezTo>
                    <a:pt x="41613" y="1193554"/>
                    <a:pt x="0" y="1151941"/>
                    <a:pt x="0" y="1100609"/>
                  </a:cubicBezTo>
                  <a:lnTo>
                    <a:pt x="0" y="92945"/>
                  </a:lnTo>
                  <a:cubicBezTo>
                    <a:pt x="0" y="41613"/>
                    <a:pt x="41613" y="0"/>
                    <a:pt x="92945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811704" cy="1279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292491" y="2246583"/>
            <a:ext cx="3081939" cy="4531776"/>
            <a:chOff x="0" y="0"/>
            <a:chExt cx="4109252" cy="604236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109252" cy="2773963"/>
              <a:chOff x="0" y="0"/>
              <a:chExt cx="811704" cy="54794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1704" cy="547943"/>
              </a:xfrm>
              <a:custGeom>
                <a:avLst/>
                <a:gdLst/>
                <a:ahLst/>
                <a:cxnLst/>
                <a:rect r="r" b="b" t="t" l="l"/>
                <a:pathLst>
                  <a:path h="547943" w="811704">
                    <a:moveTo>
                      <a:pt x="92945" y="0"/>
                    </a:moveTo>
                    <a:lnTo>
                      <a:pt x="718759" y="0"/>
                    </a:lnTo>
                    <a:cubicBezTo>
                      <a:pt x="770091" y="0"/>
                      <a:pt x="811704" y="41613"/>
                      <a:pt x="811704" y="92945"/>
                    </a:cubicBezTo>
                    <a:lnTo>
                      <a:pt x="811704" y="454998"/>
                    </a:lnTo>
                    <a:cubicBezTo>
                      <a:pt x="811704" y="506330"/>
                      <a:pt x="770091" y="547943"/>
                      <a:pt x="718759" y="547943"/>
                    </a:cubicBezTo>
                    <a:lnTo>
                      <a:pt x="92945" y="547943"/>
                    </a:lnTo>
                    <a:cubicBezTo>
                      <a:pt x="41613" y="547943"/>
                      <a:pt x="0" y="506330"/>
                      <a:pt x="0" y="454998"/>
                    </a:cubicBezTo>
                    <a:lnTo>
                      <a:pt x="0" y="92945"/>
                    </a:lnTo>
                    <a:cubicBezTo>
                      <a:pt x="0" y="41613"/>
                      <a:pt x="41613" y="0"/>
                      <a:pt x="92945" y="0"/>
                    </a:cubicBezTo>
                    <a:close/>
                  </a:path>
                </a:pathLst>
              </a:custGeom>
              <a:ln w="38100" cap="rnd">
                <a:solidFill>
                  <a:srgbClr val="147138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85725"/>
                <a:ext cx="811704" cy="6336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3180363"/>
              <a:ext cx="4109252" cy="2862005"/>
              <a:chOff x="0" y="0"/>
              <a:chExt cx="811704" cy="56533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1704" cy="565334"/>
              </a:xfrm>
              <a:custGeom>
                <a:avLst/>
                <a:gdLst/>
                <a:ahLst/>
                <a:cxnLst/>
                <a:rect r="r" b="b" t="t" l="l"/>
                <a:pathLst>
                  <a:path h="565334" w="811704">
                    <a:moveTo>
                      <a:pt x="92945" y="0"/>
                    </a:moveTo>
                    <a:lnTo>
                      <a:pt x="718759" y="0"/>
                    </a:lnTo>
                    <a:cubicBezTo>
                      <a:pt x="770091" y="0"/>
                      <a:pt x="811704" y="41613"/>
                      <a:pt x="811704" y="92945"/>
                    </a:cubicBezTo>
                    <a:lnTo>
                      <a:pt x="811704" y="472389"/>
                    </a:lnTo>
                    <a:cubicBezTo>
                      <a:pt x="811704" y="523721"/>
                      <a:pt x="770091" y="565334"/>
                      <a:pt x="718759" y="565334"/>
                    </a:cubicBezTo>
                    <a:lnTo>
                      <a:pt x="92945" y="565334"/>
                    </a:lnTo>
                    <a:cubicBezTo>
                      <a:pt x="41613" y="565334"/>
                      <a:pt x="0" y="523721"/>
                      <a:pt x="0" y="472389"/>
                    </a:cubicBezTo>
                    <a:lnTo>
                      <a:pt x="0" y="92945"/>
                    </a:lnTo>
                    <a:cubicBezTo>
                      <a:pt x="0" y="41613"/>
                      <a:pt x="41613" y="0"/>
                      <a:pt x="92945" y="0"/>
                    </a:cubicBezTo>
                    <a:close/>
                  </a:path>
                </a:pathLst>
              </a:custGeom>
              <a:ln w="38100" cap="rnd">
                <a:solidFill>
                  <a:srgbClr val="147138"/>
                </a:solidFill>
                <a:prstDash val="solid"/>
                <a:round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85725"/>
                <a:ext cx="811704" cy="6510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10890196" y="2246583"/>
            <a:ext cx="3081939" cy="2080473"/>
            <a:chOff x="0" y="0"/>
            <a:chExt cx="811704" cy="5479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1704" cy="547943"/>
            </a:xfrm>
            <a:custGeom>
              <a:avLst/>
              <a:gdLst/>
              <a:ahLst/>
              <a:cxnLst/>
              <a:rect r="r" b="b" t="t" l="l"/>
              <a:pathLst>
                <a:path h="547943" w="811704">
                  <a:moveTo>
                    <a:pt x="92945" y="0"/>
                  </a:moveTo>
                  <a:lnTo>
                    <a:pt x="718759" y="0"/>
                  </a:lnTo>
                  <a:cubicBezTo>
                    <a:pt x="770091" y="0"/>
                    <a:pt x="811704" y="41613"/>
                    <a:pt x="811704" y="92945"/>
                  </a:cubicBezTo>
                  <a:lnTo>
                    <a:pt x="811704" y="454998"/>
                  </a:lnTo>
                  <a:cubicBezTo>
                    <a:pt x="811704" y="506330"/>
                    <a:pt x="770091" y="547943"/>
                    <a:pt x="718759" y="547943"/>
                  </a:cubicBezTo>
                  <a:lnTo>
                    <a:pt x="92945" y="547943"/>
                  </a:lnTo>
                  <a:cubicBezTo>
                    <a:pt x="41613" y="547943"/>
                    <a:pt x="0" y="506330"/>
                    <a:pt x="0" y="454998"/>
                  </a:cubicBezTo>
                  <a:lnTo>
                    <a:pt x="0" y="92945"/>
                  </a:lnTo>
                  <a:cubicBezTo>
                    <a:pt x="0" y="41613"/>
                    <a:pt x="41613" y="0"/>
                    <a:pt x="92945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811704" cy="633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890196" y="4631856"/>
            <a:ext cx="3081939" cy="2146504"/>
            <a:chOff x="0" y="0"/>
            <a:chExt cx="811704" cy="5653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1704" cy="565334"/>
            </a:xfrm>
            <a:custGeom>
              <a:avLst/>
              <a:gdLst/>
              <a:ahLst/>
              <a:cxnLst/>
              <a:rect r="r" b="b" t="t" l="l"/>
              <a:pathLst>
                <a:path h="565334" w="811704">
                  <a:moveTo>
                    <a:pt x="92945" y="0"/>
                  </a:moveTo>
                  <a:lnTo>
                    <a:pt x="718759" y="0"/>
                  </a:lnTo>
                  <a:cubicBezTo>
                    <a:pt x="770091" y="0"/>
                    <a:pt x="811704" y="41613"/>
                    <a:pt x="811704" y="92945"/>
                  </a:cubicBezTo>
                  <a:lnTo>
                    <a:pt x="811704" y="472389"/>
                  </a:lnTo>
                  <a:cubicBezTo>
                    <a:pt x="811704" y="523721"/>
                    <a:pt x="770091" y="565334"/>
                    <a:pt x="718759" y="565334"/>
                  </a:cubicBezTo>
                  <a:lnTo>
                    <a:pt x="92945" y="565334"/>
                  </a:lnTo>
                  <a:cubicBezTo>
                    <a:pt x="41613" y="565334"/>
                    <a:pt x="0" y="523721"/>
                    <a:pt x="0" y="472389"/>
                  </a:cubicBezTo>
                  <a:lnTo>
                    <a:pt x="0" y="92945"/>
                  </a:lnTo>
                  <a:cubicBezTo>
                    <a:pt x="0" y="41613"/>
                    <a:pt x="41613" y="0"/>
                    <a:pt x="92945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811704" cy="651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7083159"/>
            <a:ext cx="7911736" cy="2468798"/>
            <a:chOff x="0" y="0"/>
            <a:chExt cx="2083749" cy="65021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83749" cy="650218"/>
            </a:xfrm>
            <a:custGeom>
              <a:avLst/>
              <a:gdLst/>
              <a:ahLst/>
              <a:cxnLst/>
              <a:rect r="r" b="b" t="t" l="l"/>
              <a:pathLst>
                <a:path h="650218" w="2083749">
                  <a:moveTo>
                    <a:pt x="36206" y="0"/>
                  </a:moveTo>
                  <a:lnTo>
                    <a:pt x="2047544" y="0"/>
                  </a:lnTo>
                  <a:cubicBezTo>
                    <a:pt x="2057146" y="0"/>
                    <a:pt x="2066355" y="3815"/>
                    <a:pt x="2073145" y="10604"/>
                  </a:cubicBezTo>
                  <a:cubicBezTo>
                    <a:pt x="2079935" y="17394"/>
                    <a:pt x="2083749" y="26603"/>
                    <a:pt x="2083749" y="36206"/>
                  </a:cubicBezTo>
                  <a:lnTo>
                    <a:pt x="2083749" y="614013"/>
                  </a:lnTo>
                  <a:cubicBezTo>
                    <a:pt x="2083749" y="634008"/>
                    <a:pt x="2067539" y="650218"/>
                    <a:pt x="2047544" y="650218"/>
                  </a:cubicBezTo>
                  <a:lnTo>
                    <a:pt x="36206" y="650218"/>
                  </a:lnTo>
                  <a:cubicBezTo>
                    <a:pt x="16210" y="650218"/>
                    <a:pt x="0" y="634008"/>
                    <a:pt x="0" y="614013"/>
                  </a:cubicBezTo>
                  <a:lnTo>
                    <a:pt x="0" y="36206"/>
                  </a:lnTo>
                  <a:cubicBezTo>
                    <a:pt x="0" y="16210"/>
                    <a:pt x="16210" y="0"/>
                    <a:pt x="36206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2083749" cy="735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71835" y="7083159"/>
            <a:ext cx="7887465" cy="2468798"/>
            <a:chOff x="0" y="0"/>
            <a:chExt cx="2077357" cy="65021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77357" cy="650218"/>
            </a:xfrm>
            <a:custGeom>
              <a:avLst/>
              <a:gdLst/>
              <a:ahLst/>
              <a:cxnLst/>
              <a:rect r="r" b="b" t="t" l="l"/>
              <a:pathLst>
                <a:path h="650218" w="2077357">
                  <a:moveTo>
                    <a:pt x="36317" y="0"/>
                  </a:moveTo>
                  <a:lnTo>
                    <a:pt x="2041040" y="0"/>
                  </a:lnTo>
                  <a:cubicBezTo>
                    <a:pt x="2050672" y="0"/>
                    <a:pt x="2059909" y="3826"/>
                    <a:pt x="2066720" y="10637"/>
                  </a:cubicBezTo>
                  <a:cubicBezTo>
                    <a:pt x="2073531" y="17448"/>
                    <a:pt x="2077357" y="26685"/>
                    <a:pt x="2077357" y="36317"/>
                  </a:cubicBezTo>
                  <a:lnTo>
                    <a:pt x="2077357" y="613901"/>
                  </a:lnTo>
                  <a:cubicBezTo>
                    <a:pt x="2077357" y="623533"/>
                    <a:pt x="2073531" y="632770"/>
                    <a:pt x="2066720" y="639581"/>
                  </a:cubicBezTo>
                  <a:cubicBezTo>
                    <a:pt x="2059909" y="646392"/>
                    <a:pt x="2050672" y="650218"/>
                    <a:pt x="2041040" y="650218"/>
                  </a:cubicBezTo>
                  <a:lnTo>
                    <a:pt x="36317" y="650218"/>
                  </a:lnTo>
                  <a:cubicBezTo>
                    <a:pt x="26685" y="650218"/>
                    <a:pt x="17448" y="646392"/>
                    <a:pt x="10637" y="639581"/>
                  </a:cubicBezTo>
                  <a:cubicBezTo>
                    <a:pt x="3826" y="632770"/>
                    <a:pt x="0" y="623533"/>
                    <a:pt x="0" y="613901"/>
                  </a:cubicBezTo>
                  <a:lnTo>
                    <a:pt x="0" y="36317"/>
                  </a:lnTo>
                  <a:cubicBezTo>
                    <a:pt x="0" y="26685"/>
                    <a:pt x="3826" y="17448"/>
                    <a:pt x="10637" y="10637"/>
                  </a:cubicBezTo>
                  <a:cubicBezTo>
                    <a:pt x="17448" y="3826"/>
                    <a:pt x="26685" y="0"/>
                    <a:pt x="36317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2077357" cy="735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503703" y="2396818"/>
            <a:ext cx="2131933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Key Partnership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934360" y="2396818"/>
            <a:ext cx="1798201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Key Activities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470850" y="4687601"/>
            <a:ext cx="2725222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Customer Segments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566182" y="2356432"/>
            <a:ext cx="1749385" cy="58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8"/>
              </a:lnSpc>
            </a:pPr>
            <a:r>
              <a:rPr lang="en-US" sz="2099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Customer </a:t>
            </a:r>
          </a:p>
          <a:p>
            <a:pPr algn="ctr">
              <a:lnSpc>
                <a:spcPts val="2078"/>
              </a:lnSpc>
            </a:pPr>
            <a:r>
              <a:rPr lang="en-US" b="true" sz="20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Relationships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976573" y="2390150"/>
            <a:ext cx="2311479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Value Proposition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746304" y="2396818"/>
            <a:ext cx="1944053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Key Resources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825494" y="4687601"/>
            <a:ext cx="1211342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Channels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792134" y="7235559"/>
            <a:ext cx="2041327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Cost Structure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71512" y="7235559"/>
            <a:ext cx="2330648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Revenue Streams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49105" y="2897239"/>
            <a:ext cx="3241130" cy="271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7644" indent="-233822" lvl="1">
              <a:lnSpc>
                <a:spcPts val="3032"/>
              </a:lnSpc>
              <a:buFont typeface="Arial"/>
              <a:buChar char="•"/>
            </a:pP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Machine Owne</a:t>
            </a: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rs &amp; Fleet Operators</a:t>
            </a:r>
          </a:p>
          <a:p>
            <a:pPr algn="l" marL="467644" indent="-233822" lvl="1">
              <a:lnSpc>
                <a:spcPts val="3032"/>
              </a:lnSpc>
              <a:buFont typeface="Arial"/>
              <a:buChar char="•"/>
            </a:pP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LANGOL Points (Local Agents)</a:t>
            </a:r>
          </a:p>
          <a:p>
            <a:pPr algn="l" marL="467644" indent="-233822" lvl="1">
              <a:lnSpc>
                <a:spcPts val="3032"/>
              </a:lnSpc>
              <a:buFont typeface="Arial"/>
              <a:buChar char="•"/>
            </a:pP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Agri Brands</a:t>
            </a:r>
          </a:p>
          <a:p>
            <a:pPr algn="l" marL="467644" indent="-233822" lvl="1">
              <a:lnSpc>
                <a:spcPts val="3032"/>
              </a:lnSpc>
              <a:buFont typeface="Arial"/>
              <a:buChar char="•"/>
            </a:pP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IoT/GPS Hardware Suppliers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295118" y="2812489"/>
            <a:ext cx="3098363" cy="138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712" indent="-165356" lvl="1">
              <a:lnSpc>
                <a:spcPts val="2144"/>
              </a:lnSpc>
              <a:buFont typeface="Arial"/>
              <a:buChar char="•"/>
            </a:pPr>
            <a:r>
              <a:rPr lang="en-US" sz="1531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Platfo</a:t>
            </a:r>
            <a:r>
              <a:rPr lang="en-US" sz="1531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rm Development (Apps)</a:t>
            </a:r>
          </a:p>
          <a:p>
            <a:pPr algn="l" marL="330712" indent="-165356" lvl="1">
              <a:lnSpc>
                <a:spcPts val="2144"/>
              </a:lnSpc>
              <a:buFont typeface="Arial"/>
              <a:buChar char="•"/>
            </a:pPr>
            <a:r>
              <a:rPr lang="en-US" sz="1531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IoT Device Management</a:t>
            </a:r>
          </a:p>
          <a:p>
            <a:pPr algn="l" marL="330712" indent="-165356" lvl="1">
              <a:lnSpc>
                <a:spcPts val="2144"/>
              </a:lnSpc>
              <a:buFont typeface="Arial"/>
              <a:buChar char="•"/>
            </a:pPr>
            <a:r>
              <a:rPr lang="en-US" sz="1531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Fleet Onboarding &amp; Verification</a:t>
            </a:r>
          </a:p>
          <a:p>
            <a:pPr algn="l" marL="330712" indent="-165356" lvl="1">
              <a:lnSpc>
                <a:spcPts val="2144"/>
              </a:lnSpc>
              <a:buFont typeface="Arial"/>
              <a:buChar char="•"/>
            </a:pPr>
            <a:r>
              <a:rPr lang="en-US" sz="1531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Agent Network Expansion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286460" y="2897239"/>
            <a:ext cx="3241130" cy="3097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7644" indent="-233822" lvl="1">
              <a:lnSpc>
                <a:spcPts val="3032"/>
              </a:lnSpc>
              <a:buFont typeface="Arial"/>
              <a:buChar char="•"/>
            </a:pP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Proprietary Matching A</a:t>
            </a: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lgorithm</a:t>
            </a:r>
          </a:p>
          <a:p>
            <a:pPr algn="l" marL="467644" indent="-233822" lvl="1">
              <a:lnSpc>
                <a:spcPts val="3032"/>
              </a:lnSpc>
              <a:buFont typeface="Arial"/>
              <a:buChar char="•"/>
            </a:pP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IoT/GPS Tracking Infrastructure</a:t>
            </a:r>
          </a:p>
          <a:p>
            <a:pPr algn="l" marL="467644" indent="-233822" lvl="1">
              <a:lnSpc>
                <a:spcPts val="3032"/>
              </a:lnSpc>
              <a:buFont typeface="Arial"/>
              <a:buChar char="•"/>
            </a:pP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Agricultural Data Asset</a:t>
            </a:r>
          </a:p>
          <a:p>
            <a:pPr algn="l" marL="467644" indent="-233822" lvl="1">
              <a:lnSpc>
                <a:spcPts val="3032"/>
              </a:lnSpc>
              <a:buFont typeface="Arial"/>
              <a:buChar char="•"/>
            </a:pP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Tech &amp; Field Operations Team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60283" y="7665492"/>
            <a:ext cx="6105029" cy="1573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7644" indent="-233822" lvl="1">
              <a:lnSpc>
                <a:spcPts val="3032"/>
              </a:lnSpc>
              <a:buFont typeface="Arial"/>
              <a:buChar char="•"/>
            </a:pP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Tech Maintenance</a:t>
            </a: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 (Server/App)</a:t>
            </a:r>
          </a:p>
          <a:p>
            <a:pPr algn="l" marL="467644" indent="-233822" lvl="1">
              <a:lnSpc>
                <a:spcPts val="3032"/>
              </a:lnSpc>
              <a:buFont typeface="Arial"/>
              <a:buChar char="•"/>
            </a:pP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IoT Device Inventory</a:t>
            </a:r>
          </a:p>
          <a:p>
            <a:pPr algn="l" marL="467644" indent="-233822" lvl="1">
              <a:lnSpc>
                <a:spcPts val="3032"/>
              </a:lnSpc>
              <a:buFont typeface="Arial"/>
              <a:buChar char="•"/>
            </a:pP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Marketing &amp; Rural Outreach</a:t>
            </a:r>
          </a:p>
          <a:p>
            <a:pPr algn="l" marL="467644" indent="-233822" lvl="1">
              <a:lnSpc>
                <a:spcPts val="3032"/>
              </a:lnSpc>
              <a:buFont typeface="Arial"/>
              <a:buChar char="•"/>
            </a:pP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Field Operations &amp; Support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764881" y="2793439"/>
            <a:ext cx="2758238" cy="3872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6"/>
              </a:lnSpc>
            </a:pPr>
            <a:r>
              <a:rPr lang="en-US" sz="168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   </a:t>
            </a:r>
            <a:r>
              <a:rPr lang="en-US" b="true" sz="1683" i="true">
                <a:solidFill>
                  <a:srgbClr val="147138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Farme</a:t>
            </a:r>
            <a:r>
              <a:rPr lang="en-US" b="true" sz="1683" i="true">
                <a:solidFill>
                  <a:srgbClr val="147138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rs:</a:t>
            </a:r>
          </a:p>
          <a:p>
            <a:pPr algn="l" marL="363429" indent="-181715" lvl="1">
              <a:lnSpc>
                <a:spcPts val="2356"/>
              </a:lnSpc>
              <a:buFont typeface="Arial"/>
              <a:buChar char="•"/>
            </a:pPr>
            <a:r>
              <a:rPr lang="en-US" sz="168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Zero middlemen, fair pricing</a:t>
            </a:r>
          </a:p>
          <a:p>
            <a:pPr algn="l" marL="363429" indent="-181715" lvl="1">
              <a:lnSpc>
                <a:spcPts val="2356"/>
              </a:lnSpc>
              <a:buFont typeface="Arial"/>
              <a:buChar char="•"/>
            </a:pPr>
            <a:r>
              <a:rPr lang="en-US" sz="168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IoT-verified transparent billing</a:t>
            </a:r>
          </a:p>
          <a:p>
            <a:pPr algn="l">
              <a:lnSpc>
                <a:spcPts val="2356"/>
              </a:lnSpc>
            </a:pPr>
            <a:r>
              <a:rPr lang="en-US" sz="168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   </a:t>
            </a:r>
            <a:r>
              <a:rPr lang="en-US" b="true" sz="1683" i="true">
                <a:solidFill>
                  <a:srgbClr val="147138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Owners:</a:t>
            </a:r>
          </a:p>
          <a:p>
            <a:pPr algn="l" marL="363429" indent="-181715" lvl="1">
              <a:lnSpc>
                <a:spcPts val="2356"/>
              </a:lnSpc>
              <a:buFont typeface="Arial"/>
              <a:buChar char="•"/>
            </a:pPr>
            <a:r>
              <a:rPr lang="en-US" sz="168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Higher machine utilization</a:t>
            </a:r>
          </a:p>
          <a:p>
            <a:pPr algn="l" marL="363429" indent="-181715" lvl="1">
              <a:lnSpc>
                <a:spcPts val="2356"/>
              </a:lnSpc>
              <a:buFont typeface="Arial"/>
              <a:buChar char="•"/>
            </a:pPr>
            <a:r>
              <a:rPr lang="en-US" sz="168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Remote monitoring prevents theft</a:t>
            </a:r>
          </a:p>
          <a:p>
            <a:pPr algn="l">
              <a:lnSpc>
                <a:spcPts val="2356"/>
              </a:lnSpc>
            </a:pPr>
            <a:r>
              <a:rPr lang="en-US" sz="168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   </a:t>
            </a:r>
            <a:r>
              <a:rPr lang="en-US" b="true" sz="1683" i="true">
                <a:solidFill>
                  <a:srgbClr val="147138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Agents:</a:t>
            </a:r>
          </a:p>
          <a:p>
            <a:pPr algn="l" marL="363429" indent="-181715" lvl="1">
              <a:lnSpc>
                <a:spcPts val="2356"/>
              </a:lnSpc>
              <a:buFont typeface="Arial"/>
              <a:buChar char="•"/>
            </a:pPr>
            <a:r>
              <a:rPr lang="en-US" sz="168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Risk-free commission income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841283" y="2869639"/>
            <a:ext cx="3098363" cy="137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712" indent="-165356" lvl="1">
              <a:lnSpc>
                <a:spcPts val="2144"/>
              </a:lnSpc>
              <a:buFont typeface="Arial"/>
              <a:buChar char="•"/>
            </a:pPr>
            <a:r>
              <a:rPr lang="en-US" sz="1531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Community Trust via LANGOL Points</a:t>
            </a:r>
          </a:p>
          <a:p>
            <a:pPr algn="l" marL="330712" indent="-165356" lvl="1">
              <a:lnSpc>
                <a:spcPts val="2144"/>
              </a:lnSpc>
              <a:buFont typeface="Arial"/>
              <a:buChar char="•"/>
            </a:pPr>
            <a:r>
              <a:rPr lang="en-US" sz="1531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Self-Service Mobile Platform</a:t>
            </a:r>
          </a:p>
          <a:p>
            <a:pPr algn="l" marL="330712" indent="-165356" lvl="1">
              <a:lnSpc>
                <a:spcPts val="2144"/>
              </a:lnSpc>
              <a:buFont typeface="Arial"/>
              <a:buChar char="•"/>
            </a:pPr>
            <a:r>
              <a:rPr lang="en-US" sz="1531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Rating &amp; Review System</a:t>
            </a:r>
          </a:p>
          <a:p>
            <a:pPr algn="l" marL="330712" indent="-165356" lvl="1">
              <a:lnSpc>
                <a:spcPts val="2144"/>
              </a:lnSpc>
              <a:buFont typeface="Arial"/>
              <a:buChar char="•"/>
            </a:pPr>
            <a:r>
              <a:rPr lang="en-US" sz="1531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24/7 Support Helpline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991986" y="5067300"/>
            <a:ext cx="2970624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i="true">
                <a:solidFill>
                  <a:srgbClr val="147138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Direct:</a:t>
            </a:r>
            <a:r>
              <a:rPr lang="en-US" sz="150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 Farmer &amp; Owner via App</a:t>
            </a:r>
          </a:p>
          <a:p>
            <a:pPr algn="l">
              <a:lnSpc>
                <a:spcPts val="2100"/>
              </a:lnSpc>
            </a:pPr>
            <a:r>
              <a:rPr lang="en-US" sz="1500" i="true">
                <a:solidFill>
                  <a:srgbClr val="147138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Indirect: </a:t>
            </a:r>
            <a:r>
              <a:rPr lang="en-US" sz="150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Physical LANGOL Points</a:t>
            </a:r>
          </a:p>
          <a:p>
            <a:pPr algn="l">
              <a:lnSpc>
                <a:spcPts val="2100"/>
              </a:lnSpc>
            </a:pPr>
            <a:r>
              <a:rPr lang="en-US" sz="1500" i="true">
                <a:solidFill>
                  <a:srgbClr val="147138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Marketing:</a:t>
            </a:r>
            <a:r>
              <a:rPr lang="en-US" sz="150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 Campaign, rural miking, meetings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Word-of-mouth referrals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263053" y="7655967"/>
            <a:ext cx="6105029" cy="1573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7644" indent="-233822" lvl="1">
              <a:lnSpc>
                <a:spcPts val="3032"/>
              </a:lnSpc>
              <a:buFont typeface="Arial"/>
              <a:buChar char="•"/>
            </a:pP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15% Commission per Booking</a:t>
            </a:r>
          </a:p>
          <a:p>
            <a:pPr algn="l" marL="467644" indent="-233822" lvl="1">
              <a:lnSpc>
                <a:spcPts val="3032"/>
              </a:lnSpc>
              <a:buFont typeface="Arial"/>
              <a:buChar char="•"/>
            </a:pP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B2B Advertising (Agri Brands)</a:t>
            </a:r>
          </a:p>
          <a:p>
            <a:pPr algn="l" marL="467644" indent="-233822" lvl="1">
              <a:lnSpc>
                <a:spcPts val="3032"/>
              </a:lnSpc>
              <a:buFont typeface="Arial"/>
              <a:buChar char="•"/>
            </a:pP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IoT Device Sales</a:t>
            </a:r>
          </a:p>
          <a:p>
            <a:pPr algn="l" marL="467644" indent="-233822" lvl="1">
              <a:lnSpc>
                <a:spcPts val="3032"/>
              </a:lnSpc>
              <a:buFont typeface="Arial"/>
              <a:buChar char="•"/>
            </a:pP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Additional</a:t>
            </a: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 Services </a:t>
            </a:r>
            <a:r>
              <a:rPr lang="en-US" sz="2166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(Future)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237968" y="5048250"/>
            <a:ext cx="3098363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Marginal &amp; Smallholder Farmers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Machinery Entrepreneurs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Non-Tech Savvy Farmers (via Agents)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Target: 0.5-5 acre landholders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0142" y="2144139"/>
            <a:ext cx="5101757" cy="2497793"/>
            <a:chOff x="0" y="0"/>
            <a:chExt cx="1343673" cy="657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3673" cy="657855"/>
            </a:xfrm>
            <a:custGeom>
              <a:avLst/>
              <a:gdLst/>
              <a:ahLst/>
              <a:cxnLst/>
              <a:rect r="r" b="b" t="t" l="l"/>
              <a:pathLst>
                <a:path h="657855" w="1343673">
                  <a:moveTo>
                    <a:pt x="56148" y="0"/>
                  </a:moveTo>
                  <a:lnTo>
                    <a:pt x="1287525" y="0"/>
                  </a:lnTo>
                  <a:cubicBezTo>
                    <a:pt x="1302416" y="0"/>
                    <a:pt x="1316698" y="5916"/>
                    <a:pt x="1327228" y="16445"/>
                  </a:cubicBezTo>
                  <a:cubicBezTo>
                    <a:pt x="1337757" y="26975"/>
                    <a:pt x="1343673" y="41256"/>
                    <a:pt x="1343673" y="56148"/>
                  </a:cubicBezTo>
                  <a:lnTo>
                    <a:pt x="1343673" y="601707"/>
                  </a:lnTo>
                  <a:cubicBezTo>
                    <a:pt x="1343673" y="616599"/>
                    <a:pt x="1337757" y="630880"/>
                    <a:pt x="1327228" y="641410"/>
                  </a:cubicBezTo>
                  <a:cubicBezTo>
                    <a:pt x="1316698" y="651939"/>
                    <a:pt x="1302416" y="657855"/>
                    <a:pt x="1287525" y="657855"/>
                  </a:cubicBezTo>
                  <a:lnTo>
                    <a:pt x="56148" y="657855"/>
                  </a:lnTo>
                  <a:cubicBezTo>
                    <a:pt x="41256" y="657855"/>
                    <a:pt x="26975" y="651939"/>
                    <a:pt x="16445" y="641410"/>
                  </a:cubicBezTo>
                  <a:cubicBezTo>
                    <a:pt x="5916" y="630880"/>
                    <a:pt x="0" y="616599"/>
                    <a:pt x="0" y="601707"/>
                  </a:cubicBezTo>
                  <a:lnTo>
                    <a:pt x="0" y="56148"/>
                  </a:lnTo>
                  <a:cubicBezTo>
                    <a:pt x="0" y="41256"/>
                    <a:pt x="5916" y="26975"/>
                    <a:pt x="16445" y="16445"/>
                  </a:cubicBezTo>
                  <a:cubicBezTo>
                    <a:pt x="26975" y="5916"/>
                    <a:pt x="41256" y="0"/>
                    <a:pt x="56148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343673" cy="743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57543" y="2144139"/>
            <a:ext cx="5101757" cy="2497793"/>
            <a:chOff x="0" y="0"/>
            <a:chExt cx="1343673" cy="6578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3673" cy="657855"/>
            </a:xfrm>
            <a:custGeom>
              <a:avLst/>
              <a:gdLst/>
              <a:ahLst/>
              <a:cxnLst/>
              <a:rect r="r" b="b" t="t" l="l"/>
              <a:pathLst>
                <a:path h="657855" w="1343673">
                  <a:moveTo>
                    <a:pt x="56148" y="0"/>
                  </a:moveTo>
                  <a:lnTo>
                    <a:pt x="1287525" y="0"/>
                  </a:lnTo>
                  <a:cubicBezTo>
                    <a:pt x="1302416" y="0"/>
                    <a:pt x="1316698" y="5916"/>
                    <a:pt x="1327228" y="16445"/>
                  </a:cubicBezTo>
                  <a:cubicBezTo>
                    <a:pt x="1337757" y="26975"/>
                    <a:pt x="1343673" y="41256"/>
                    <a:pt x="1343673" y="56148"/>
                  </a:cubicBezTo>
                  <a:lnTo>
                    <a:pt x="1343673" y="601707"/>
                  </a:lnTo>
                  <a:cubicBezTo>
                    <a:pt x="1343673" y="616599"/>
                    <a:pt x="1337757" y="630880"/>
                    <a:pt x="1327228" y="641410"/>
                  </a:cubicBezTo>
                  <a:cubicBezTo>
                    <a:pt x="1316698" y="651939"/>
                    <a:pt x="1302416" y="657855"/>
                    <a:pt x="1287525" y="657855"/>
                  </a:cubicBezTo>
                  <a:lnTo>
                    <a:pt x="56148" y="657855"/>
                  </a:lnTo>
                  <a:cubicBezTo>
                    <a:pt x="41256" y="657855"/>
                    <a:pt x="26975" y="651939"/>
                    <a:pt x="16445" y="641410"/>
                  </a:cubicBezTo>
                  <a:cubicBezTo>
                    <a:pt x="5916" y="630880"/>
                    <a:pt x="0" y="616599"/>
                    <a:pt x="0" y="601707"/>
                  </a:cubicBezTo>
                  <a:lnTo>
                    <a:pt x="0" y="56148"/>
                  </a:lnTo>
                  <a:cubicBezTo>
                    <a:pt x="0" y="41256"/>
                    <a:pt x="5916" y="26975"/>
                    <a:pt x="16445" y="16445"/>
                  </a:cubicBezTo>
                  <a:cubicBezTo>
                    <a:pt x="26975" y="5916"/>
                    <a:pt x="41256" y="0"/>
                    <a:pt x="56148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1343673" cy="743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004800" y="1891266"/>
            <a:ext cx="2542112" cy="3034482"/>
          </a:xfrm>
          <a:prstGeom prst="rect">
            <a:avLst/>
          </a:prstGeom>
        </p:spPr>
      </p:pic>
      <p:graphicFrame>
        <p:nvGraphicFramePr>
          <p:cNvPr name="Object 9" id="9"/>
          <p:cNvGraphicFramePr/>
          <p:nvPr/>
        </p:nvGraphicFramePr>
        <p:xfrm>
          <a:off x="1028700" y="5471571"/>
          <a:ext cx="7586157" cy="4274588"/>
        </p:xfrm>
        <a:graphic>
          <a:graphicData uri="http://schemas.openxmlformats.org/presentationml/2006/ole">
            <p:oleObj imgW="9105900" imgH="5791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0" id="10"/>
          <p:cNvGraphicFramePr/>
          <p:nvPr/>
        </p:nvGraphicFramePr>
        <p:xfrm>
          <a:off x="7422717" y="5363979"/>
          <a:ext cx="7586157" cy="4274588"/>
        </p:xfrm>
        <a:graphic>
          <a:graphicData uri="http://schemas.openxmlformats.org/presentationml/2006/ole">
            <p:oleObj imgW="9105900" imgH="57912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028700" y="962025"/>
            <a:ext cx="9265339" cy="98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How We Make Money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4310" y="2236295"/>
            <a:ext cx="4653421" cy="2237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2"/>
              </a:lnSpc>
            </a:pPr>
            <a:r>
              <a:rPr lang="en-US" sz="2101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STREAM 1 </a:t>
            </a:r>
          </a:p>
          <a:p>
            <a:pPr algn="ctr">
              <a:lnSpc>
                <a:spcPts val="2688"/>
              </a:lnSpc>
            </a:pPr>
            <a:r>
              <a:rPr lang="en-US" b="true" sz="1920" i="true">
                <a:solidFill>
                  <a:srgbClr val="147138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Service Commission 85% </a:t>
            </a:r>
          </a:p>
          <a:p>
            <a:pPr algn="l" marL="362999" indent="-181499" lvl="1">
              <a:lnSpc>
                <a:spcPts val="2353"/>
              </a:lnSpc>
              <a:buFont typeface="Arial"/>
              <a:buChar char="•"/>
            </a:pPr>
            <a:r>
              <a:rPr lang="en-US" sz="1681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We take 15% Commission on every successful booking</a:t>
            </a:r>
          </a:p>
          <a:p>
            <a:pPr algn="l">
              <a:lnSpc>
                <a:spcPts val="2353"/>
              </a:lnSpc>
            </a:pPr>
            <a:r>
              <a:rPr lang="en-US" sz="1681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Farmer Pays ৳4,000 | Owner Gets ৳3,400</a:t>
            </a:r>
          </a:p>
          <a:p>
            <a:pPr algn="l">
              <a:lnSpc>
                <a:spcPts val="2353"/>
              </a:lnSpc>
            </a:pPr>
            <a:r>
              <a:rPr lang="en-US" sz="1681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App Booking → LANGOL 15%</a:t>
            </a:r>
          </a:p>
          <a:p>
            <a:pPr algn="l">
              <a:lnSpc>
                <a:spcPts val="2353"/>
              </a:lnSpc>
              <a:spcBef>
                <a:spcPct val="0"/>
              </a:spcBef>
            </a:pPr>
            <a:r>
              <a:rPr lang="en-US" sz="1681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Agent Booking → LANGOL 12% + Agent 3%.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10300" y="2236295"/>
            <a:ext cx="4872443" cy="220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STREAM 2 </a:t>
            </a:r>
          </a:p>
          <a:p>
            <a:pPr algn="ctr">
              <a:lnSpc>
                <a:spcPts val="2772"/>
              </a:lnSpc>
            </a:pPr>
            <a:r>
              <a:rPr lang="en-US" b="true" sz="1980" i="true">
                <a:solidFill>
                  <a:srgbClr val="147138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B2B Advertising</a:t>
            </a:r>
            <a:r>
              <a:rPr lang="en-US" b="true" sz="1980" i="true">
                <a:solidFill>
                  <a:srgbClr val="147138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 15% </a:t>
            </a:r>
          </a:p>
          <a:p>
            <a:pPr algn="ctr">
              <a:lnSpc>
                <a:spcPts val="1453"/>
              </a:lnSpc>
            </a:pPr>
          </a:p>
          <a:p>
            <a:pPr algn="l">
              <a:lnSpc>
                <a:spcPts val="2464"/>
              </a:lnSpc>
            </a:pPr>
            <a:r>
              <a:rPr lang="en-US" sz="176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Agri-input br</a:t>
            </a:r>
            <a:r>
              <a:rPr lang="en-US" sz="176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ands like ACI, Syngenta, and Mahindra pay us to show targeted ads directly to farmers on our platform. </a:t>
            </a:r>
          </a:p>
          <a:p>
            <a:pPr algn="l">
              <a:lnSpc>
                <a:spcPts val="2464"/>
              </a:lnSpc>
              <a:spcBef>
                <a:spcPct val="0"/>
              </a:spcBef>
            </a:pPr>
            <a:r>
              <a:rPr lang="en-US" sz="176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Right product, right farmer, right season.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076825"/>
            <a:ext cx="4653421" cy="37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Per Booking Breakdown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22717" y="4969233"/>
            <a:ext cx="4653421" cy="37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Cost Per Booking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83795" y="8555505"/>
            <a:ext cx="2071211" cy="1405591"/>
            <a:chOff x="0" y="0"/>
            <a:chExt cx="545504" cy="3701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5504" cy="370197"/>
            </a:xfrm>
            <a:custGeom>
              <a:avLst/>
              <a:gdLst/>
              <a:ahLst/>
              <a:cxnLst/>
              <a:rect r="r" b="b" t="t" l="l"/>
              <a:pathLst>
                <a:path h="370197" w="545504">
                  <a:moveTo>
                    <a:pt x="138301" y="0"/>
                  </a:moveTo>
                  <a:lnTo>
                    <a:pt x="407203" y="0"/>
                  </a:lnTo>
                  <a:cubicBezTo>
                    <a:pt x="443883" y="0"/>
                    <a:pt x="479060" y="14571"/>
                    <a:pt x="504997" y="40507"/>
                  </a:cubicBezTo>
                  <a:cubicBezTo>
                    <a:pt x="530933" y="66444"/>
                    <a:pt x="545504" y="101621"/>
                    <a:pt x="545504" y="138301"/>
                  </a:cubicBezTo>
                  <a:lnTo>
                    <a:pt x="545504" y="231895"/>
                  </a:lnTo>
                  <a:cubicBezTo>
                    <a:pt x="545504" y="268575"/>
                    <a:pt x="530933" y="303753"/>
                    <a:pt x="504997" y="329689"/>
                  </a:cubicBezTo>
                  <a:cubicBezTo>
                    <a:pt x="479060" y="355626"/>
                    <a:pt x="443883" y="370197"/>
                    <a:pt x="407203" y="370197"/>
                  </a:cubicBezTo>
                  <a:lnTo>
                    <a:pt x="138301" y="370197"/>
                  </a:lnTo>
                  <a:cubicBezTo>
                    <a:pt x="61920" y="370197"/>
                    <a:pt x="0" y="308277"/>
                    <a:pt x="0" y="231895"/>
                  </a:cubicBezTo>
                  <a:lnTo>
                    <a:pt x="0" y="138301"/>
                  </a:lnTo>
                  <a:cubicBezTo>
                    <a:pt x="0" y="101621"/>
                    <a:pt x="14571" y="66444"/>
                    <a:pt x="40507" y="40507"/>
                  </a:cubicBezTo>
                  <a:cubicBezTo>
                    <a:pt x="66444" y="14571"/>
                    <a:pt x="101621" y="0"/>
                    <a:pt x="138301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85725"/>
              <a:ext cx="545504" cy="455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058877" y="8737405"/>
            <a:ext cx="1121048" cy="92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486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55%</a:t>
            </a:r>
          </a:p>
          <a:p>
            <a:pPr algn="ctr">
              <a:lnSpc>
                <a:spcPts val="3481"/>
              </a:lnSpc>
              <a:spcBef>
                <a:spcPct val="0"/>
              </a:spcBef>
            </a:pPr>
            <a:r>
              <a:rPr lang="en-US" b="true" sz="2486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Margin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632994" y="8555505"/>
            <a:ext cx="2071211" cy="1405591"/>
            <a:chOff x="0" y="0"/>
            <a:chExt cx="545504" cy="3701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5504" cy="370197"/>
            </a:xfrm>
            <a:custGeom>
              <a:avLst/>
              <a:gdLst/>
              <a:ahLst/>
              <a:cxnLst/>
              <a:rect r="r" b="b" t="t" l="l"/>
              <a:pathLst>
                <a:path h="370197" w="545504">
                  <a:moveTo>
                    <a:pt x="138301" y="0"/>
                  </a:moveTo>
                  <a:lnTo>
                    <a:pt x="407203" y="0"/>
                  </a:lnTo>
                  <a:cubicBezTo>
                    <a:pt x="443883" y="0"/>
                    <a:pt x="479060" y="14571"/>
                    <a:pt x="504997" y="40507"/>
                  </a:cubicBezTo>
                  <a:cubicBezTo>
                    <a:pt x="530933" y="66444"/>
                    <a:pt x="545504" y="101621"/>
                    <a:pt x="545504" y="138301"/>
                  </a:cubicBezTo>
                  <a:lnTo>
                    <a:pt x="545504" y="231895"/>
                  </a:lnTo>
                  <a:cubicBezTo>
                    <a:pt x="545504" y="268575"/>
                    <a:pt x="530933" y="303753"/>
                    <a:pt x="504997" y="329689"/>
                  </a:cubicBezTo>
                  <a:cubicBezTo>
                    <a:pt x="479060" y="355626"/>
                    <a:pt x="443883" y="370197"/>
                    <a:pt x="407203" y="370197"/>
                  </a:cubicBezTo>
                  <a:lnTo>
                    <a:pt x="138301" y="370197"/>
                  </a:lnTo>
                  <a:cubicBezTo>
                    <a:pt x="61920" y="370197"/>
                    <a:pt x="0" y="308277"/>
                    <a:pt x="0" y="231895"/>
                  </a:cubicBezTo>
                  <a:lnTo>
                    <a:pt x="0" y="138301"/>
                  </a:lnTo>
                  <a:cubicBezTo>
                    <a:pt x="0" y="101621"/>
                    <a:pt x="14571" y="66444"/>
                    <a:pt x="40507" y="40507"/>
                  </a:cubicBezTo>
                  <a:cubicBezTo>
                    <a:pt x="66444" y="14571"/>
                    <a:pt x="101621" y="0"/>
                    <a:pt x="138301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545504" cy="455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893059" y="8737405"/>
            <a:ext cx="1551081" cy="92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486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42 : 1</a:t>
            </a:r>
          </a:p>
          <a:p>
            <a:pPr algn="ctr">
              <a:lnSpc>
                <a:spcPts val="3481"/>
              </a:lnSpc>
              <a:spcBef>
                <a:spcPct val="0"/>
              </a:spcBef>
            </a:pPr>
            <a:r>
              <a:rPr lang="en-US" b="true" sz="2486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LTV : CAC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812676" y="5665273"/>
            <a:ext cx="2992390" cy="192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Blended Revenue:  (600 × 0.4) + (480 × 0.6) = ৳528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Blended C</a:t>
            </a:r>
            <a:r>
              <a:rPr lang="en-US" b="true" sz="17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ost: (250 × 0.4) + (230 × 0.6) = ৳238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Blended Profit:  ৳290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Blended Margin:  55%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4597195" y="5411604"/>
            <a:ext cx="3176754" cy="2381250"/>
            <a:chOff x="0" y="0"/>
            <a:chExt cx="836676" cy="627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36676" cy="627161"/>
            </a:xfrm>
            <a:custGeom>
              <a:avLst/>
              <a:gdLst/>
              <a:ahLst/>
              <a:cxnLst/>
              <a:rect r="r" b="b" t="t" l="l"/>
              <a:pathLst>
                <a:path h="627161" w="836676">
                  <a:moveTo>
                    <a:pt x="90171" y="0"/>
                  </a:moveTo>
                  <a:lnTo>
                    <a:pt x="746505" y="0"/>
                  </a:lnTo>
                  <a:cubicBezTo>
                    <a:pt x="796305" y="0"/>
                    <a:pt x="836676" y="40371"/>
                    <a:pt x="836676" y="90171"/>
                  </a:cubicBezTo>
                  <a:lnTo>
                    <a:pt x="836676" y="536990"/>
                  </a:lnTo>
                  <a:cubicBezTo>
                    <a:pt x="836676" y="560904"/>
                    <a:pt x="827176" y="583840"/>
                    <a:pt x="810266" y="600750"/>
                  </a:cubicBezTo>
                  <a:cubicBezTo>
                    <a:pt x="793355" y="617660"/>
                    <a:pt x="770420" y="627161"/>
                    <a:pt x="746505" y="627161"/>
                  </a:cubicBezTo>
                  <a:lnTo>
                    <a:pt x="90171" y="627161"/>
                  </a:lnTo>
                  <a:cubicBezTo>
                    <a:pt x="66256" y="627161"/>
                    <a:pt x="43321" y="617660"/>
                    <a:pt x="26410" y="600750"/>
                  </a:cubicBezTo>
                  <a:cubicBezTo>
                    <a:pt x="9500" y="583840"/>
                    <a:pt x="0" y="560904"/>
                    <a:pt x="0" y="536990"/>
                  </a:cubicBezTo>
                  <a:lnTo>
                    <a:pt x="0" y="90171"/>
                  </a:lnTo>
                  <a:cubicBezTo>
                    <a:pt x="0" y="66256"/>
                    <a:pt x="9500" y="43321"/>
                    <a:pt x="26410" y="26410"/>
                  </a:cubicBezTo>
                  <a:cubicBezTo>
                    <a:pt x="43321" y="9500"/>
                    <a:pt x="66256" y="0"/>
                    <a:pt x="90171" y="0"/>
                  </a:cubicBezTo>
                  <a:close/>
                </a:path>
              </a:pathLst>
            </a:custGeom>
            <a:ln w="1905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836676" cy="712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9265339" cy="98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Revenue Growth Line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2539497"/>
          <a:ext cx="8115300" cy="7029450"/>
        </p:xfrm>
        <a:graphic>
          <a:graphicData uri="http://schemas.openxmlformats.org/drawingml/2006/table">
            <a:tbl>
              <a:tblPr/>
              <a:tblGrid>
                <a:gridCol w="2246028"/>
                <a:gridCol w="1811622"/>
                <a:gridCol w="2028825"/>
                <a:gridCol w="2028825"/>
              </a:tblGrid>
              <a:tr h="6390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25A2C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Metric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4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399">
                          <a:solidFill>
                            <a:srgbClr val="025A2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Phase 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4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399">
                          <a:solidFill>
                            <a:srgbClr val="025A2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Phase 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4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399">
                          <a:solidFill>
                            <a:srgbClr val="025A2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Phase 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444"/>
                    </a:solidFill>
                  </a:tcPr>
                </a:tc>
              </a:tr>
              <a:tr h="6390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Districts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  <a:tr h="6390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Farmers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1,000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30,000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300,000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  <a:tr h="6390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Machines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1,000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5,000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  <a:tr h="6390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Agents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2,500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  <a:tr h="6390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Bookings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1,000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100,000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800,000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  <a:tr h="639041"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  <a:tr h="6390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Revenue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0.05 Cr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6.88 Cr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46.24 Cr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  <a:tr h="6390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0.90 Cr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6.23 Cr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27.58 Cr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  <a:tr h="6390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Profit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-0.85 Cr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0.65 Cr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18.66 Cr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  <a:tr h="6390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Monthly Avg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0.4 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28.7 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192.7 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2024511"/>
            <a:ext cx="2926437" cy="51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Phase Breakdown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093562" y="2161400"/>
            <a:ext cx="8398014" cy="7796735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879769" y="8285586"/>
            <a:ext cx="769620" cy="32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0.05</a:t>
            </a:r>
            <a:r>
              <a:rPr lang="en-US" b="true" sz="15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 Cr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47099" y="7826545"/>
            <a:ext cx="749022" cy="32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6.88 Cr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775543" y="3709975"/>
            <a:ext cx="869990" cy="32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46.24 Cr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28700" y="2344816"/>
          <a:ext cx="6069900" cy="8915400"/>
        </p:xfrm>
        <a:graphic>
          <a:graphicData uri="http://schemas.openxmlformats.org/presentationml/2006/ole">
            <p:oleObj imgW="7848600" imgH="106934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962025"/>
            <a:ext cx="11079444" cy="98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Financial Projections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935876"/>
            <a:ext cx="3815874" cy="37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5-</a:t>
            </a:r>
            <a:r>
              <a:rPr lang="en-US" b="true" sz="18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Year Financial Projections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108144" y="2344816"/>
            <a:ext cx="2071211" cy="1405591"/>
            <a:chOff x="0" y="0"/>
            <a:chExt cx="545504" cy="3701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5504" cy="370197"/>
            </a:xfrm>
            <a:custGeom>
              <a:avLst/>
              <a:gdLst/>
              <a:ahLst/>
              <a:cxnLst/>
              <a:rect r="r" b="b" t="t" l="l"/>
              <a:pathLst>
                <a:path h="370197" w="545504">
                  <a:moveTo>
                    <a:pt x="138301" y="0"/>
                  </a:moveTo>
                  <a:lnTo>
                    <a:pt x="407203" y="0"/>
                  </a:lnTo>
                  <a:cubicBezTo>
                    <a:pt x="443883" y="0"/>
                    <a:pt x="479060" y="14571"/>
                    <a:pt x="504997" y="40507"/>
                  </a:cubicBezTo>
                  <a:cubicBezTo>
                    <a:pt x="530933" y="66444"/>
                    <a:pt x="545504" y="101621"/>
                    <a:pt x="545504" y="138301"/>
                  </a:cubicBezTo>
                  <a:lnTo>
                    <a:pt x="545504" y="231895"/>
                  </a:lnTo>
                  <a:cubicBezTo>
                    <a:pt x="545504" y="268575"/>
                    <a:pt x="530933" y="303753"/>
                    <a:pt x="504997" y="329689"/>
                  </a:cubicBezTo>
                  <a:cubicBezTo>
                    <a:pt x="479060" y="355626"/>
                    <a:pt x="443883" y="370197"/>
                    <a:pt x="407203" y="370197"/>
                  </a:cubicBezTo>
                  <a:lnTo>
                    <a:pt x="138301" y="370197"/>
                  </a:lnTo>
                  <a:cubicBezTo>
                    <a:pt x="61920" y="370197"/>
                    <a:pt x="0" y="308277"/>
                    <a:pt x="0" y="231895"/>
                  </a:cubicBezTo>
                  <a:lnTo>
                    <a:pt x="0" y="138301"/>
                  </a:lnTo>
                  <a:cubicBezTo>
                    <a:pt x="0" y="101621"/>
                    <a:pt x="14571" y="66444"/>
                    <a:pt x="40507" y="40507"/>
                  </a:cubicBezTo>
                  <a:cubicBezTo>
                    <a:pt x="66444" y="14571"/>
                    <a:pt x="101621" y="0"/>
                    <a:pt x="138301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545504" cy="455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583225" y="2526716"/>
            <a:ext cx="1121048" cy="92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486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55%</a:t>
            </a:r>
          </a:p>
          <a:p>
            <a:pPr algn="ctr">
              <a:lnSpc>
                <a:spcPts val="3481"/>
              </a:lnSpc>
              <a:spcBef>
                <a:spcPct val="0"/>
              </a:spcBef>
            </a:pPr>
            <a:r>
              <a:rPr lang="en-US" b="true" sz="2486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Margin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108144" y="4212421"/>
            <a:ext cx="2071211" cy="1405591"/>
            <a:chOff x="0" y="0"/>
            <a:chExt cx="545504" cy="3701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5504" cy="370197"/>
            </a:xfrm>
            <a:custGeom>
              <a:avLst/>
              <a:gdLst/>
              <a:ahLst/>
              <a:cxnLst/>
              <a:rect r="r" b="b" t="t" l="l"/>
              <a:pathLst>
                <a:path h="370197" w="545504">
                  <a:moveTo>
                    <a:pt x="138301" y="0"/>
                  </a:moveTo>
                  <a:lnTo>
                    <a:pt x="407203" y="0"/>
                  </a:lnTo>
                  <a:cubicBezTo>
                    <a:pt x="443883" y="0"/>
                    <a:pt x="479060" y="14571"/>
                    <a:pt x="504997" y="40507"/>
                  </a:cubicBezTo>
                  <a:cubicBezTo>
                    <a:pt x="530933" y="66444"/>
                    <a:pt x="545504" y="101621"/>
                    <a:pt x="545504" y="138301"/>
                  </a:cubicBezTo>
                  <a:lnTo>
                    <a:pt x="545504" y="231895"/>
                  </a:lnTo>
                  <a:cubicBezTo>
                    <a:pt x="545504" y="268575"/>
                    <a:pt x="530933" y="303753"/>
                    <a:pt x="504997" y="329689"/>
                  </a:cubicBezTo>
                  <a:cubicBezTo>
                    <a:pt x="479060" y="355626"/>
                    <a:pt x="443883" y="370197"/>
                    <a:pt x="407203" y="370197"/>
                  </a:cubicBezTo>
                  <a:lnTo>
                    <a:pt x="138301" y="370197"/>
                  </a:lnTo>
                  <a:cubicBezTo>
                    <a:pt x="61920" y="370197"/>
                    <a:pt x="0" y="308277"/>
                    <a:pt x="0" y="231895"/>
                  </a:cubicBezTo>
                  <a:lnTo>
                    <a:pt x="0" y="138301"/>
                  </a:lnTo>
                  <a:cubicBezTo>
                    <a:pt x="0" y="101621"/>
                    <a:pt x="14571" y="66444"/>
                    <a:pt x="40507" y="40507"/>
                  </a:cubicBezTo>
                  <a:cubicBezTo>
                    <a:pt x="66444" y="14571"/>
                    <a:pt x="101621" y="0"/>
                    <a:pt x="138301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545504" cy="455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368208" y="4394321"/>
            <a:ext cx="1551081" cy="92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486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42 : 1</a:t>
            </a:r>
          </a:p>
          <a:p>
            <a:pPr algn="ctr">
              <a:lnSpc>
                <a:spcPts val="3481"/>
              </a:lnSpc>
              <a:spcBef>
                <a:spcPct val="0"/>
              </a:spcBef>
            </a:pPr>
            <a:r>
              <a:rPr lang="en-US" b="true" sz="2486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LTV : CAC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108144" y="6084737"/>
            <a:ext cx="2071211" cy="1405591"/>
            <a:chOff x="0" y="0"/>
            <a:chExt cx="545504" cy="3701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5504" cy="370197"/>
            </a:xfrm>
            <a:custGeom>
              <a:avLst/>
              <a:gdLst/>
              <a:ahLst/>
              <a:cxnLst/>
              <a:rect r="r" b="b" t="t" l="l"/>
              <a:pathLst>
                <a:path h="370197" w="545504">
                  <a:moveTo>
                    <a:pt x="138301" y="0"/>
                  </a:moveTo>
                  <a:lnTo>
                    <a:pt x="407203" y="0"/>
                  </a:lnTo>
                  <a:cubicBezTo>
                    <a:pt x="443883" y="0"/>
                    <a:pt x="479060" y="14571"/>
                    <a:pt x="504997" y="40507"/>
                  </a:cubicBezTo>
                  <a:cubicBezTo>
                    <a:pt x="530933" y="66444"/>
                    <a:pt x="545504" y="101621"/>
                    <a:pt x="545504" y="138301"/>
                  </a:cubicBezTo>
                  <a:lnTo>
                    <a:pt x="545504" y="231895"/>
                  </a:lnTo>
                  <a:cubicBezTo>
                    <a:pt x="545504" y="268575"/>
                    <a:pt x="530933" y="303753"/>
                    <a:pt x="504997" y="329689"/>
                  </a:cubicBezTo>
                  <a:cubicBezTo>
                    <a:pt x="479060" y="355626"/>
                    <a:pt x="443883" y="370197"/>
                    <a:pt x="407203" y="370197"/>
                  </a:cubicBezTo>
                  <a:lnTo>
                    <a:pt x="138301" y="370197"/>
                  </a:lnTo>
                  <a:cubicBezTo>
                    <a:pt x="61920" y="370197"/>
                    <a:pt x="0" y="308277"/>
                    <a:pt x="0" y="231895"/>
                  </a:cubicBezTo>
                  <a:lnTo>
                    <a:pt x="0" y="138301"/>
                  </a:lnTo>
                  <a:cubicBezTo>
                    <a:pt x="0" y="101621"/>
                    <a:pt x="14571" y="66444"/>
                    <a:pt x="40507" y="40507"/>
                  </a:cubicBezTo>
                  <a:cubicBezTo>
                    <a:pt x="66444" y="14571"/>
                    <a:pt x="101621" y="0"/>
                    <a:pt x="138301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545504" cy="455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505693" y="6115340"/>
            <a:ext cx="1276111" cy="123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217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1.2</a:t>
            </a:r>
          </a:p>
          <a:p>
            <a:pPr algn="ctr">
              <a:lnSpc>
                <a:spcPts val="3104"/>
              </a:lnSpc>
            </a:pPr>
            <a:r>
              <a:rPr lang="en-US" sz="2217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Months</a:t>
            </a:r>
          </a:p>
          <a:p>
            <a:pPr algn="ctr">
              <a:lnSpc>
                <a:spcPts val="3104"/>
              </a:lnSpc>
              <a:spcBef>
                <a:spcPct val="0"/>
              </a:spcBef>
            </a:pPr>
            <a:r>
              <a:rPr lang="en-US" b="true" sz="2217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Playback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108144" y="7852709"/>
            <a:ext cx="2071211" cy="1405591"/>
            <a:chOff x="0" y="0"/>
            <a:chExt cx="545504" cy="3701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5504" cy="370197"/>
            </a:xfrm>
            <a:custGeom>
              <a:avLst/>
              <a:gdLst/>
              <a:ahLst/>
              <a:cxnLst/>
              <a:rect r="r" b="b" t="t" l="l"/>
              <a:pathLst>
                <a:path h="370197" w="545504">
                  <a:moveTo>
                    <a:pt x="138301" y="0"/>
                  </a:moveTo>
                  <a:lnTo>
                    <a:pt x="407203" y="0"/>
                  </a:lnTo>
                  <a:cubicBezTo>
                    <a:pt x="443883" y="0"/>
                    <a:pt x="479060" y="14571"/>
                    <a:pt x="504997" y="40507"/>
                  </a:cubicBezTo>
                  <a:cubicBezTo>
                    <a:pt x="530933" y="66444"/>
                    <a:pt x="545504" y="101621"/>
                    <a:pt x="545504" y="138301"/>
                  </a:cubicBezTo>
                  <a:lnTo>
                    <a:pt x="545504" y="231895"/>
                  </a:lnTo>
                  <a:cubicBezTo>
                    <a:pt x="545504" y="268575"/>
                    <a:pt x="530933" y="303753"/>
                    <a:pt x="504997" y="329689"/>
                  </a:cubicBezTo>
                  <a:cubicBezTo>
                    <a:pt x="479060" y="355626"/>
                    <a:pt x="443883" y="370197"/>
                    <a:pt x="407203" y="370197"/>
                  </a:cubicBezTo>
                  <a:lnTo>
                    <a:pt x="138301" y="370197"/>
                  </a:lnTo>
                  <a:cubicBezTo>
                    <a:pt x="61920" y="370197"/>
                    <a:pt x="0" y="308277"/>
                    <a:pt x="0" y="231895"/>
                  </a:cubicBezTo>
                  <a:lnTo>
                    <a:pt x="0" y="138301"/>
                  </a:lnTo>
                  <a:cubicBezTo>
                    <a:pt x="0" y="101621"/>
                    <a:pt x="14571" y="66444"/>
                    <a:pt x="40507" y="40507"/>
                  </a:cubicBezTo>
                  <a:cubicBezTo>
                    <a:pt x="66444" y="14571"/>
                    <a:pt x="101621" y="0"/>
                    <a:pt x="138301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545504" cy="4559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606668" y="7883313"/>
            <a:ext cx="1074162" cy="123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217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2,042%</a:t>
            </a:r>
          </a:p>
          <a:p>
            <a:pPr algn="ctr">
              <a:lnSpc>
                <a:spcPts val="3104"/>
              </a:lnSpc>
            </a:pPr>
            <a:r>
              <a:rPr lang="en-US" sz="2217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ROI</a:t>
            </a:r>
          </a:p>
          <a:p>
            <a:pPr algn="ctr">
              <a:lnSpc>
                <a:spcPts val="3104"/>
              </a:lnSpc>
              <a:spcBef>
                <a:spcPct val="0"/>
              </a:spcBef>
            </a:pPr>
            <a:r>
              <a:rPr lang="en-US" b="true" sz="2217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5 Years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11079444" cy="98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Funding Ask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819276"/>
            <a:ext cx="4834176" cy="514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4"/>
              </a:lnSpc>
              <a:spcBef>
                <a:spcPct val="0"/>
              </a:spcBef>
            </a:pPr>
            <a:r>
              <a:rPr lang="en-US" b="true" sz="2617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Use of Funds (Phase 1 - Year 1)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668711"/>
          <a:ext cx="6597674" cy="3300226"/>
        </p:xfrm>
        <a:graphic>
          <a:graphicData uri="http://schemas.openxmlformats.org/drawingml/2006/table">
            <a:tbl>
              <a:tblPr/>
              <a:tblGrid>
                <a:gridCol w="1089478"/>
                <a:gridCol w="3968452"/>
                <a:gridCol w="1539744"/>
              </a:tblGrid>
              <a:tr h="6600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25A2C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40%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AFFD7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Technology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4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AFFD7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36 Lakh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444"/>
                    </a:solidFill>
                  </a:tcPr>
                </a:tc>
              </a:tr>
              <a:tr h="6600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25A2C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IoT Hardware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25A2C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15 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  <a:tr h="6600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25A2C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App Development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25A2C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12 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  <a:tr h="6600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25A2C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Cloud Infrastructure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25A2C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6 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  <a:tr h="6600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25A2C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Payment Gateway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25A2C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3 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6302312"/>
          <a:ext cx="6597674" cy="1658265"/>
        </p:xfrm>
        <a:graphic>
          <a:graphicData uri="http://schemas.openxmlformats.org/drawingml/2006/table">
            <a:tbl>
              <a:tblPr/>
              <a:tblGrid>
                <a:gridCol w="1089478"/>
                <a:gridCol w="3968452"/>
                <a:gridCol w="1539744"/>
              </a:tblGrid>
              <a:tr h="6619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25A2C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33%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AFFD7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Team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4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AFFD7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30 Lakh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444"/>
                    </a:solidFill>
                  </a:tcPr>
                </a:tc>
              </a:tr>
              <a:tr h="9963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25A2C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6 core members [CEO, CTO, COO + 3]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25A2C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30 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8293952"/>
          <a:ext cx="6597674" cy="1658265"/>
        </p:xfrm>
        <a:graphic>
          <a:graphicData uri="http://schemas.openxmlformats.org/drawingml/2006/table">
            <a:tbl>
              <a:tblPr/>
              <a:tblGrid>
                <a:gridCol w="1089478"/>
                <a:gridCol w="3968452"/>
                <a:gridCol w="1539744"/>
              </a:tblGrid>
              <a:tr h="6619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25A2C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33%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FAFFD7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Operations &amp; Marketing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4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AFFD7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30 Lakh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444"/>
                    </a:solidFill>
                  </a:tcPr>
                </a:tc>
              </a:tr>
              <a:tr h="9963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25A2C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6 core members [CEO, CTO, COO + 3]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25A2C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30 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28700" y="2513265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690159" y="2513265"/>
          <a:ext cx="6569141" cy="4494245"/>
        </p:xfrm>
        <a:graphic>
          <a:graphicData uri="http://schemas.openxmlformats.org/drawingml/2006/table">
            <a:tbl>
              <a:tblPr/>
              <a:tblGrid>
                <a:gridCol w="3457333"/>
                <a:gridCol w="3111808"/>
              </a:tblGrid>
              <a:tr h="691422">
                <a:tc gridSpan="2"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025A2C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Variable Cost (Per Booking)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444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025A2C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Variable Cost (Per Booking)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444"/>
                    </a:solidFill>
                  </a:tcPr>
                </a:tc>
              </a:tr>
              <a:tr h="6710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IoT/Platform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50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  <a:tr h="6710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Payment Processing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60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  <a:tr h="6710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Customer Support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40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  <a:tr h="11184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Blended Marketing (App+Agent)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147138"/>
                          </a:solidFill>
                          <a:latin typeface="Agrandir"/>
                          <a:ea typeface="Agrandir"/>
                          <a:cs typeface="Agrandir"/>
                          <a:sym typeface="Agrandir"/>
                        </a:rPr>
                        <a:t>88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  <a:tr h="6710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Total Per Booking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Agrandir Bold"/>
                          <a:ea typeface="Agrandir Bold"/>
                          <a:cs typeface="Agrandir Bold"/>
                          <a:sym typeface="Agrandir Bold"/>
                        </a:rPr>
                        <a:t>238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962025"/>
            <a:ext cx="9265339" cy="98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Cost Structure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008371"/>
            <a:ext cx="3572232" cy="53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Fixed Cosr (By Phase)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4086562" y="7548465"/>
          <a:ext cx="10114876" cy="1709835"/>
        </p:xfrm>
        <a:graphic>
          <a:graphicData uri="http://schemas.openxmlformats.org/drawingml/2006/table">
            <a:tbl>
              <a:tblPr/>
              <a:tblGrid>
                <a:gridCol w="2528719"/>
                <a:gridCol w="2528719"/>
                <a:gridCol w="2528719"/>
                <a:gridCol w="2528719"/>
              </a:tblGrid>
              <a:tr h="8549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25A2C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Phase 1 (1 year)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4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25A2C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Phase 2 (2 year)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4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25A2C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Phase 3 (2 year)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444"/>
                    </a:solidFill>
                  </a:tcPr>
                </a:tc>
              </a:tr>
              <a:tr h="8549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Total Cost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0.90 Cr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6.23 Cr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147138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27.58 Cr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D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9639" y="962025"/>
            <a:ext cx="10198127" cy="125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4"/>
              </a:lnSpc>
            </a:pPr>
            <a:r>
              <a:rPr lang="en-US" sz="4499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Market Validation</a:t>
            </a:r>
          </a:p>
          <a:p>
            <a:pPr algn="l">
              <a:lnSpc>
                <a:spcPts val="4094"/>
              </a:lnSpc>
              <a:spcBef>
                <a:spcPct val="0"/>
              </a:spcBef>
            </a:pPr>
            <a:r>
              <a:rPr lang="en-US" b="true" sz="38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(</a:t>
            </a:r>
            <a:r>
              <a:rPr lang="en-US" sz="38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P</a:t>
            </a:r>
            <a:r>
              <a:rPr lang="en-US" sz="38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rimary Research)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51743" y="2695433"/>
            <a:ext cx="4603212" cy="398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6"/>
              </a:lnSpc>
              <a:spcBef>
                <a:spcPct val="0"/>
              </a:spcBef>
            </a:pPr>
            <a:r>
              <a:rPr lang="en-US" b="true" sz="2418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FARMER SURVE</a:t>
            </a:r>
            <a:r>
              <a:rPr lang="en-US" b="true" sz="2418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YS </a:t>
            </a:r>
          </a:p>
          <a:p>
            <a:pPr algn="ctr">
              <a:lnSpc>
                <a:spcPts val="3386"/>
              </a:lnSpc>
              <a:spcBef>
                <a:spcPct val="0"/>
              </a:spcBef>
            </a:pPr>
            <a:r>
              <a:rPr lang="en-US" b="true" sz="2418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(150 farmers interviewed)</a:t>
            </a:r>
          </a:p>
          <a:p>
            <a:pPr algn="l" marL="480420" indent="-240210" lvl="1">
              <a:lnSpc>
                <a:spcPts val="3115"/>
              </a:lnSpc>
              <a:spcBef>
                <a:spcPct val="0"/>
              </a:spcBef>
              <a:buFont typeface="Arial"/>
              <a:buChar char="•"/>
            </a:pPr>
            <a:r>
              <a:rPr lang="en-US" sz="2225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89% struggle to find machinery during peak season</a:t>
            </a:r>
          </a:p>
          <a:p>
            <a:pPr algn="l" marL="480420" indent="-240210" lvl="1">
              <a:lnSpc>
                <a:spcPts val="3115"/>
              </a:lnSpc>
              <a:spcBef>
                <a:spcPct val="0"/>
              </a:spcBef>
              <a:buFont typeface="Arial"/>
              <a:buChar char="•"/>
            </a:pPr>
            <a:r>
              <a:rPr lang="en-US" sz="2225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76% believe middlemen overcharge</a:t>
            </a:r>
          </a:p>
          <a:p>
            <a:pPr algn="l" marL="480420" indent="-240210" lvl="1">
              <a:lnSpc>
                <a:spcPts val="3115"/>
              </a:lnSpc>
              <a:spcBef>
                <a:spcPct val="0"/>
              </a:spcBef>
              <a:buFont typeface="Arial"/>
              <a:buChar char="•"/>
            </a:pPr>
            <a:r>
              <a:rPr lang="en-US" sz="2225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82% interested in app-based booking if agent available</a:t>
            </a:r>
          </a:p>
          <a:p>
            <a:pPr algn="l" marL="480420" indent="-240210" lvl="1">
              <a:lnSpc>
                <a:spcPts val="3115"/>
              </a:lnSpc>
              <a:spcBef>
                <a:spcPct val="0"/>
              </a:spcBef>
              <a:buFont typeface="Arial"/>
              <a:buChar char="•"/>
            </a:pPr>
            <a:r>
              <a:rPr lang="en-US" sz="2225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67% willing to pay 10-15% platform fee for transparency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74169" y="2573844"/>
            <a:ext cx="5214696" cy="4337856"/>
            <a:chOff x="0" y="0"/>
            <a:chExt cx="1419589" cy="11808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19589" cy="1180888"/>
            </a:xfrm>
            <a:custGeom>
              <a:avLst/>
              <a:gdLst/>
              <a:ahLst/>
              <a:cxnLst/>
              <a:rect r="r" b="b" t="t" l="l"/>
              <a:pathLst>
                <a:path h="1180888" w="1419589">
                  <a:moveTo>
                    <a:pt x="54931" y="0"/>
                  </a:moveTo>
                  <a:lnTo>
                    <a:pt x="1364658" y="0"/>
                  </a:lnTo>
                  <a:cubicBezTo>
                    <a:pt x="1394995" y="0"/>
                    <a:pt x="1419589" y="24594"/>
                    <a:pt x="1419589" y="54931"/>
                  </a:cubicBezTo>
                  <a:lnTo>
                    <a:pt x="1419589" y="1125957"/>
                  </a:lnTo>
                  <a:cubicBezTo>
                    <a:pt x="1419589" y="1140526"/>
                    <a:pt x="1413802" y="1154498"/>
                    <a:pt x="1403500" y="1164799"/>
                  </a:cubicBezTo>
                  <a:cubicBezTo>
                    <a:pt x="1393198" y="1175101"/>
                    <a:pt x="1379226" y="1180888"/>
                    <a:pt x="1364658" y="1180888"/>
                  </a:cubicBezTo>
                  <a:lnTo>
                    <a:pt x="54931" y="1180888"/>
                  </a:lnTo>
                  <a:cubicBezTo>
                    <a:pt x="40363" y="1180888"/>
                    <a:pt x="26391" y="1175101"/>
                    <a:pt x="16089" y="1164799"/>
                  </a:cubicBezTo>
                  <a:cubicBezTo>
                    <a:pt x="5787" y="1154498"/>
                    <a:pt x="0" y="1140526"/>
                    <a:pt x="0" y="1125957"/>
                  </a:cubicBezTo>
                  <a:lnTo>
                    <a:pt x="0" y="54931"/>
                  </a:lnTo>
                  <a:cubicBezTo>
                    <a:pt x="0" y="40363"/>
                    <a:pt x="5787" y="26391"/>
                    <a:pt x="16089" y="16089"/>
                  </a:cubicBezTo>
                  <a:cubicBezTo>
                    <a:pt x="26391" y="5787"/>
                    <a:pt x="40363" y="0"/>
                    <a:pt x="54931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419589" cy="1266613"/>
            </a:xfrm>
            <a:prstGeom prst="rect">
              <a:avLst/>
            </a:prstGeom>
          </p:spPr>
          <p:txBody>
            <a:bodyPr anchor="ctr" rtlCol="false" tIns="49148" lIns="49148" bIns="49148" rIns="49148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876698" y="2695431"/>
            <a:ext cx="4535291" cy="398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6"/>
              </a:lnSpc>
              <a:spcBef>
                <a:spcPct val="0"/>
              </a:spcBef>
            </a:pPr>
            <a:r>
              <a:rPr lang="en-US" b="true" sz="2418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MACHINE OWNER SURVE</a:t>
            </a:r>
            <a:r>
              <a:rPr lang="en-US" b="true" sz="2418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YS (40 owners interviewed)</a:t>
            </a:r>
          </a:p>
          <a:p>
            <a:pPr algn="l" marL="480420" indent="-240210" lvl="1">
              <a:lnSpc>
                <a:spcPts val="3115"/>
              </a:lnSpc>
              <a:buFont typeface="Arial"/>
              <a:buChar char="•"/>
            </a:pPr>
            <a:r>
              <a:rPr lang="en-US" sz="2225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71% report &lt;40% annual machine utilization</a:t>
            </a:r>
          </a:p>
          <a:p>
            <a:pPr algn="l" marL="480420" indent="-240210" lvl="1">
              <a:lnSpc>
                <a:spcPts val="3115"/>
              </a:lnSpc>
              <a:buFont typeface="Arial"/>
              <a:buChar char="•"/>
            </a:pPr>
            <a:r>
              <a:rPr lang="en-US" sz="2225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85% interested in platform to find more customers</a:t>
            </a:r>
          </a:p>
          <a:p>
            <a:pPr algn="l" marL="480420" indent="-240210" lvl="1">
              <a:lnSpc>
                <a:spcPts val="3115"/>
              </a:lnSpc>
              <a:buFont typeface="Arial"/>
              <a:buChar char="•"/>
            </a:pPr>
            <a:r>
              <a:rPr lang="en-US" sz="2225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93% willing to install GPS for transparent billing </a:t>
            </a:r>
          </a:p>
          <a:p>
            <a:pPr algn="l" marL="480420" indent="-240210" lvl="1">
              <a:lnSpc>
                <a:spcPts val="3115"/>
              </a:lnSpc>
              <a:buFont typeface="Arial"/>
              <a:buChar char="•"/>
            </a:pPr>
            <a:r>
              <a:rPr lang="en-US" sz="2225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Avg. willingness: ৳5,000 one-time IoT cost acceptable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36996" y="2573844"/>
            <a:ext cx="5214696" cy="4337856"/>
            <a:chOff x="0" y="0"/>
            <a:chExt cx="1419589" cy="11808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19589" cy="1180888"/>
            </a:xfrm>
            <a:custGeom>
              <a:avLst/>
              <a:gdLst/>
              <a:ahLst/>
              <a:cxnLst/>
              <a:rect r="r" b="b" t="t" l="l"/>
              <a:pathLst>
                <a:path h="1180888" w="1419589">
                  <a:moveTo>
                    <a:pt x="54931" y="0"/>
                  </a:moveTo>
                  <a:lnTo>
                    <a:pt x="1364658" y="0"/>
                  </a:lnTo>
                  <a:cubicBezTo>
                    <a:pt x="1394995" y="0"/>
                    <a:pt x="1419589" y="24594"/>
                    <a:pt x="1419589" y="54931"/>
                  </a:cubicBezTo>
                  <a:lnTo>
                    <a:pt x="1419589" y="1125957"/>
                  </a:lnTo>
                  <a:cubicBezTo>
                    <a:pt x="1419589" y="1140526"/>
                    <a:pt x="1413802" y="1154498"/>
                    <a:pt x="1403500" y="1164799"/>
                  </a:cubicBezTo>
                  <a:cubicBezTo>
                    <a:pt x="1393198" y="1175101"/>
                    <a:pt x="1379226" y="1180888"/>
                    <a:pt x="1364658" y="1180888"/>
                  </a:cubicBezTo>
                  <a:lnTo>
                    <a:pt x="54931" y="1180888"/>
                  </a:lnTo>
                  <a:cubicBezTo>
                    <a:pt x="40363" y="1180888"/>
                    <a:pt x="26391" y="1175101"/>
                    <a:pt x="16089" y="1164799"/>
                  </a:cubicBezTo>
                  <a:cubicBezTo>
                    <a:pt x="5787" y="1154498"/>
                    <a:pt x="0" y="1140526"/>
                    <a:pt x="0" y="1125957"/>
                  </a:cubicBezTo>
                  <a:lnTo>
                    <a:pt x="0" y="54931"/>
                  </a:lnTo>
                  <a:cubicBezTo>
                    <a:pt x="0" y="40363"/>
                    <a:pt x="5787" y="26391"/>
                    <a:pt x="16089" y="16089"/>
                  </a:cubicBezTo>
                  <a:cubicBezTo>
                    <a:pt x="26391" y="5787"/>
                    <a:pt x="40363" y="0"/>
                    <a:pt x="54931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1419589" cy="1266613"/>
            </a:xfrm>
            <a:prstGeom prst="rect">
              <a:avLst/>
            </a:prstGeom>
          </p:spPr>
          <p:txBody>
            <a:bodyPr anchor="ctr" rtlCol="false" tIns="49148" lIns="49148" bIns="49148" rIns="49148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086286" y="2695433"/>
            <a:ext cx="4840392" cy="3215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6"/>
              </a:lnSpc>
              <a:spcBef>
                <a:spcPct val="0"/>
              </a:spcBef>
            </a:pPr>
            <a:r>
              <a:rPr lang="en-US" b="true" sz="2418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AGENT SURVE</a:t>
            </a:r>
            <a:r>
              <a:rPr lang="en-US" b="true" sz="2418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YS </a:t>
            </a:r>
          </a:p>
          <a:p>
            <a:pPr algn="ctr">
              <a:lnSpc>
                <a:spcPts val="3386"/>
              </a:lnSpc>
              <a:spcBef>
                <a:spcPct val="0"/>
              </a:spcBef>
            </a:pPr>
            <a:r>
              <a:rPr lang="en-US" b="true" sz="2418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(25 rural shopkeepers)</a:t>
            </a:r>
          </a:p>
          <a:p>
            <a:pPr algn="l" marL="480420" indent="-240210" lvl="1">
              <a:lnSpc>
                <a:spcPts val="3115"/>
              </a:lnSpc>
              <a:spcBef>
                <a:spcPct val="0"/>
              </a:spcBef>
              <a:buFont typeface="Arial"/>
              <a:buChar char="•"/>
            </a:pPr>
            <a:r>
              <a:rPr lang="en-US" sz="2225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88% interested in earning commission</a:t>
            </a:r>
          </a:p>
          <a:p>
            <a:pPr algn="l" marL="480420" indent="-240210" lvl="1">
              <a:lnSpc>
                <a:spcPts val="3115"/>
              </a:lnSpc>
              <a:spcBef>
                <a:spcPct val="0"/>
              </a:spcBef>
              <a:buFont typeface="Arial"/>
              <a:buChar char="•"/>
            </a:pPr>
            <a:r>
              <a:rPr lang="en-US" sz="2225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Expect ৳1,500-2,500/month additional income</a:t>
            </a:r>
          </a:p>
          <a:p>
            <a:pPr algn="l" marL="480420" indent="-240210" lvl="1">
              <a:lnSpc>
                <a:spcPts val="3115"/>
              </a:lnSpc>
              <a:spcBef>
                <a:spcPct val="0"/>
              </a:spcBef>
              <a:buFont typeface="Arial"/>
              <a:buChar char="•"/>
            </a:pPr>
            <a:r>
              <a:rPr lang="en-US" sz="2225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76% already serve farming community daily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899135" y="2573844"/>
            <a:ext cx="5214696" cy="4337856"/>
            <a:chOff x="0" y="0"/>
            <a:chExt cx="1419589" cy="11808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9589" cy="1180888"/>
            </a:xfrm>
            <a:custGeom>
              <a:avLst/>
              <a:gdLst/>
              <a:ahLst/>
              <a:cxnLst/>
              <a:rect r="r" b="b" t="t" l="l"/>
              <a:pathLst>
                <a:path h="1180888" w="1419589">
                  <a:moveTo>
                    <a:pt x="54931" y="0"/>
                  </a:moveTo>
                  <a:lnTo>
                    <a:pt x="1364658" y="0"/>
                  </a:lnTo>
                  <a:cubicBezTo>
                    <a:pt x="1394995" y="0"/>
                    <a:pt x="1419589" y="24594"/>
                    <a:pt x="1419589" y="54931"/>
                  </a:cubicBezTo>
                  <a:lnTo>
                    <a:pt x="1419589" y="1125957"/>
                  </a:lnTo>
                  <a:cubicBezTo>
                    <a:pt x="1419589" y="1140526"/>
                    <a:pt x="1413802" y="1154498"/>
                    <a:pt x="1403500" y="1164799"/>
                  </a:cubicBezTo>
                  <a:cubicBezTo>
                    <a:pt x="1393198" y="1175101"/>
                    <a:pt x="1379226" y="1180888"/>
                    <a:pt x="1364658" y="1180888"/>
                  </a:cubicBezTo>
                  <a:lnTo>
                    <a:pt x="54931" y="1180888"/>
                  </a:lnTo>
                  <a:cubicBezTo>
                    <a:pt x="40363" y="1180888"/>
                    <a:pt x="26391" y="1175101"/>
                    <a:pt x="16089" y="1164799"/>
                  </a:cubicBezTo>
                  <a:cubicBezTo>
                    <a:pt x="5787" y="1154498"/>
                    <a:pt x="0" y="1140526"/>
                    <a:pt x="0" y="1125957"/>
                  </a:cubicBezTo>
                  <a:lnTo>
                    <a:pt x="0" y="54931"/>
                  </a:lnTo>
                  <a:cubicBezTo>
                    <a:pt x="0" y="40363"/>
                    <a:pt x="5787" y="26391"/>
                    <a:pt x="16089" y="16089"/>
                  </a:cubicBezTo>
                  <a:cubicBezTo>
                    <a:pt x="26391" y="5787"/>
                    <a:pt x="40363" y="0"/>
                    <a:pt x="54931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1419589" cy="1266613"/>
            </a:xfrm>
            <a:prstGeom prst="rect">
              <a:avLst/>
            </a:prstGeom>
          </p:spPr>
          <p:txBody>
            <a:bodyPr anchor="ctr" rtlCol="false" tIns="49148" lIns="49148" bIns="49148" rIns="49148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19639" y="7239915"/>
            <a:ext cx="5069226" cy="1765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8"/>
              </a:lnSpc>
              <a:spcBef>
                <a:spcPct val="0"/>
              </a:spcBef>
            </a:pPr>
            <a:r>
              <a:rPr lang="en-US" sz="1928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“I never kn</a:t>
            </a:r>
            <a:r>
              <a:rPr lang="en-US" sz="1928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ow which machine is available or where to find one. On top of that, I feel cheated on the land size. If an app helps me find a machine instantly and shows the exact area using GPS, I would trust it completely.”</a:t>
            </a:r>
          </a:p>
          <a:p>
            <a:pPr algn="l">
              <a:lnSpc>
                <a:spcPts val="1928"/>
              </a:lnSpc>
              <a:spcBef>
                <a:spcPct val="0"/>
              </a:spcBef>
            </a:pPr>
            <a:r>
              <a:rPr lang="en-US" sz="1928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– Salim , 2-acre farmer, Cox’s Bazar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19255" y="7239915"/>
            <a:ext cx="5069226" cy="1765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8"/>
              </a:lnSpc>
              <a:spcBef>
                <a:spcPct val="0"/>
              </a:spcBef>
            </a:pPr>
            <a:r>
              <a:rPr lang="en-US" sz="1928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“I have cust</a:t>
            </a:r>
            <a:r>
              <a:rPr lang="en-US" sz="1928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omers, but they are scattered. I waste too much time going from one field to another without a plan. If an app helps me schedule my day and connects me to farmers in the off-season, installing a sensor is a smart move.”</a:t>
            </a:r>
          </a:p>
          <a:p>
            <a:pPr algn="l">
              <a:lnSpc>
                <a:spcPts val="1928"/>
              </a:lnSpc>
              <a:spcBef>
                <a:spcPct val="0"/>
              </a:spcBef>
            </a:pPr>
            <a:r>
              <a:rPr lang="en-US" sz="1928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– Mojahid, Machine Owner, Bogura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86286" y="7239915"/>
            <a:ext cx="5069226" cy="1765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8"/>
              </a:lnSpc>
              <a:spcBef>
                <a:spcPct val="0"/>
              </a:spcBef>
            </a:pPr>
            <a:r>
              <a:rPr lang="en-US" sz="1928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“Farmers c</a:t>
            </a:r>
            <a:r>
              <a:rPr lang="en-US" sz="1928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ome to my shop for everything, seeds, fertilizer, and advice. They trust me, but they struggle to find machines on time. If I can book a machine for them through an app and earn a small commission, it’s a win for everyone.”</a:t>
            </a:r>
          </a:p>
          <a:p>
            <a:pPr algn="l">
              <a:lnSpc>
                <a:spcPts val="1928"/>
              </a:lnSpc>
              <a:spcBef>
                <a:spcPct val="0"/>
              </a:spcBef>
            </a:pPr>
            <a:r>
              <a:rPr lang="en-US" sz="1928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– Sumon, Shop Owner, Feni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9737626" cy="98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Operational Plan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64844" y="2332275"/>
            <a:ext cx="663094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  <a:spcBef>
                <a:spcPct val="0"/>
              </a:spcBef>
            </a:pPr>
            <a:r>
              <a:rPr lang="en-US" b="true" sz="29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Q1</a:t>
            </a:r>
            <a:r>
              <a:rPr lang="en-US" b="true" sz="29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 (DEC '26 - FEB '27): FOUNDATION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64844" y="3207224"/>
            <a:ext cx="7579156" cy="559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 i="true" b="true">
                <a:solidFill>
                  <a:srgbClr val="147138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INFRASTRUCTURE</a:t>
            </a: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  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✓ Register c</a:t>
            </a: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ompany (RJSC)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✓ Raise ৳90 lakh seed funding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✓ Open Dhaka office, hire 6-person core team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✓ Develop MVP app (Farmer + Owner + Agent dashboard)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✓ Import &amp; test 100 IoT devices 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b="true" sz="2499" i="true">
                <a:solidFill>
                  <a:srgbClr val="147138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TEAM BUILT (6 people)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• CEO: Strategy, fundraising, partnerships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• CTO: App development, IoT integration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• Operations Manager: Field coordination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• 3 District Coordinators (Mymensingh, Jessore, Bogura)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b="true" sz="2499" i="true">
                <a:solidFill>
                  <a:srgbClr val="147138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MILESTONE: </a:t>
            </a:r>
            <a:r>
              <a:rPr lang="en-US" sz="2499" i="true">
                <a:solidFill>
                  <a:srgbClr val="147138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MVP ready, team operational, IoT tested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52466" y="2303700"/>
            <a:ext cx="6414016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  <a:spcBef>
                <a:spcPct val="0"/>
              </a:spcBef>
            </a:pPr>
            <a:r>
              <a:rPr lang="en-US" b="true" sz="29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Q2</a:t>
            </a:r>
            <a:r>
              <a:rPr lang="en-US" b="true" sz="29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 (MAR - MAY '27): SOFT LAUNCH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3151425"/>
            <a:ext cx="7579156" cy="591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499" i="true" b="true">
                <a:solidFill>
                  <a:srgbClr val="147138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SUPPLY SIDE (Machines)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✓ Identif</a:t>
            </a: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y 150 machine owners across 3 districts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✓ Onboard 75 machines (50% conversion)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✓ Install IoT devices on all machines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✓ Train operators on professional service delivery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b="true" sz="2499" i="true">
                <a:solidFill>
                  <a:srgbClr val="147138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DEMAND SIDE (Farmers)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✓ Field demos in 30 villages (600 farmers attend)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✓ Recruit 10 LANGOL Point agents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✓ First 100 farmers sign up (friendly pilot users) 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b="true" sz="2499" i="true">
                <a:solidFill>
                  <a:srgbClr val="147138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TECHNOLOGY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✓ Beta test with 50 bookings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✓ Fix bugs, improve UX based on feedback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✓ Integrate bKash/Nagad payment</a:t>
            </a:r>
          </a:p>
          <a:p>
            <a:pPr algn="l">
              <a:lnSpc>
                <a:spcPts val="2624"/>
              </a:lnSpc>
              <a:spcBef>
                <a:spcPct val="0"/>
              </a:spcBef>
            </a:pPr>
          </a:p>
          <a:p>
            <a:pPr algn="l">
              <a:lnSpc>
                <a:spcPts val="2624"/>
              </a:lnSpc>
              <a:spcBef>
                <a:spcPct val="0"/>
              </a:spcBef>
            </a:pPr>
            <a:r>
              <a:rPr lang="en-US" b="true" sz="2499" i="true">
                <a:solidFill>
                  <a:srgbClr val="147138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MILESTONE: </a:t>
            </a:r>
            <a:r>
              <a:rPr lang="en-US" sz="2499" i="true">
                <a:solidFill>
                  <a:srgbClr val="147138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75 machines live, 250 bookings completed, system stable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8724129" y="2013804"/>
            <a:ext cx="0" cy="7244496"/>
          </a:xfrm>
          <a:prstGeom prst="line">
            <a:avLst/>
          </a:prstGeom>
          <a:ln cap="flat" w="38100">
            <a:solidFill>
              <a:srgbClr val="59A032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9737626" cy="98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Operational Plan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02919" y="2389425"/>
            <a:ext cx="7579156" cy="6732824"/>
            <a:chOff x="0" y="0"/>
            <a:chExt cx="10105541" cy="897709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38100"/>
              <a:ext cx="9989503" cy="634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4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Q3</a:t>
              </a:r>
              <a:r>
                <a:rPr lang="en-US" b="true" sz="2999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(JUN - AUG '27): SCALE OPERATIONS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03099"/>
              <a:ext cx="10105541" cy="7874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4"/>
                </a:lnSpc>
              </a:pPr>
              <a:r>
                <a:rPr lang="en-US" sz="2499" i="true" b="true">
                  <a:solidFill>
                    <a:srgbClr val="147138"/>
                  </a:solidFill>
                  <a:latin typeface="Agrandir Bold Italics"/>
                  <a:ea typeface="Agrandir Bold Italics"/>
                  <a:cs typeface="Agrandir Bold Italics"/>
                  <a:sym typeface="Agrandir Bold Italics"/>
                </a:rPr>
                <a:t>GROWTH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✓ Ex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pand to 20 LANGOL Point agents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✓ Onboard 25 more machines (total 100 machines)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✓ Acquire 500 active farmers (word-of-mouth growth)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✓ Launch Facebook/rural marketing campaigns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b="true" sz="2499" i="true">
                  <a:solidFill>
                    <a:srgbClr val="147138"/>
                  </a:solidFill>
                  <a:latin typeface="Agrandir Bold Italics"/>
                  <a:ea typeface="Agrandir Bold Italics"/>
                  <a:cs typeface="Agrandir Bold Italics"/>
                  <a:sym typeface="Agrandir Bold Italics"/>
                </a:rPr>
                <a:t>PARTNERSHIPS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✓ Pilot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 B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2B campaign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 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with 1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 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agri-in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p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ut brand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✓ Explore BRAC/Grameen partnership discussions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b="true" sz="2499" i="true">
                  <a:solidFill>
                    <a:srgbClr val="147138"/>
                  </a:solidFill>
                  <a:latin typeface="Agrandir Bold Italics"/>
                  <a:ea typeface="Agrandir Bold Italics"/>
                  <a:cs typeface="Agrandir Bold Italics"/>
                  <a:sym typeface="Agrandir Bold Italics"/>
                </a:rPr>
                <a:t>METRICS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✓ Target: 400 bookings (Jun-Aug)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✓ Customer satisfaction: 4.2+ star rating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✓ Repeat booking rate: 30%+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b="true" sz="2499" i="true">
                  <a:solidFill>
                    <a:srgbClr val="147138"/>
                  </a:solidFill>
                  <a:latin typeface="Agrandir Bold Italics"/>
                  <a:ea typeface="Agrandir Bold Italics"/>
                  <a:cs typeface="Agrandir Bold Italics"/>
                  <a:sym typeface="Agrandir Bold Italics"/>
                </a:rPr>
                <a:t>MILESTONE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: 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750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 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to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ta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l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 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b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o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okings, 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pr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ofit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a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ble m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on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th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l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y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 o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ps,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 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agen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t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 n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e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twork func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t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ioning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80144" y="2370375"/>
            <a:ext cx="7579156" cy="7399574"/>
            <a:chOff x="0" y="0"/>
            <a:chExt cx="10105541" cy="986609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28095" y="-38100"/>
              <a:ext cx="10049352" cy="6349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4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Q4</a:t>
              </a:r>
              <a:r>
                <a:rPr lang="en-US" b="true" sz="2999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(SEP - DEC '27): OPTIMIZE &amp; PREPARE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28499"/>
              <a:ext cx="10105541" cy="873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4"/>
                </a:lnSpc>
              </a:pPr>
              <a:r>
                <a:rPr lang="en-US" sz="2499" i="true" b="true">
                  <a:solidFill>
                    <a:srgbClr val="147138"/>
                  </a:solidFill>
                  <a:latin typeface="Agrandir Bold Italics"/>
                  <a:ea typeface="Agrandir Bold Italics"/>
                  <a:cs typeface="Agrandir Bold Italics"/>
                  <a:sym typeface="Agrandir Bold Italics"/>
                </a:rPr>
                <a:t>REFINEMENT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✓ Reach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 1,000 farmers (cumulative)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✓ Complete 1,000 successful rentals (target achieved)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✓ Reduce cost per acquisition by 20% via referrals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✓ Improve IoT accuracy to ±3% (from ±5%)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b="true" sz="2499" i="true">
                  <a:solidFill>
                    <a:srgbClr val="147138"/>
                  </a:solidFill>
                  <a:latin typeface="Agrandir Bold Italics"/>
                  <a:ea typeface="Agrandir Bold Italics"/>
                  <a:cs typeface="Agrandir Bold Italics"/>
                  <a:sym typeface="Agrandir Bold Italics"/>
                </a:rPr>
                <a:t>FINANCIAL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✓ Achieve monthly break-even by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 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Nov/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De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c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✓ Validate unit economics (LTV/CAC &gt; 4X)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✓ Close Year 1 with ৳1.5 Cr cash reserves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b="true" sz="2499" i="true">
                  <a:solidFill>
                    <a:srgbClr val="147138"/>
                  </a:solidFill>
                  <a:latin typeface="Agrandir Bold Italics"/>
                  <a:ea typeface="Agrandir Bold Italics"/>
                  <a:cs typeface="Agrandir Bold Italics"/>
                  <a:sym typeface="Agrandir Bold Italics"/>
                </a:rPr>
                <a:t>PHASE 2 PREP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✓ Finalize expansion plan for 15 new districts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✓ Prepare Series A pitch deck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✓ Hire 2 regional managers for Phase 2</a:t>
              </a: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</a:p>
            <a:p>
              <a:pPr algn="l">
                <a:lnSpc>
                  <a:spcPts val="2624"/>
                </a:lnSpc>
                <a:spcBef>
                  <a:spcPct val="0"/>
                </a:spcBef>
              </a:pPr>
              <a:r>
                <a:rPr lang="en-US" b="true" sz="2499" i="true">
                  <a:solidFill>
                    <a:srgbClr val="147138"/>
                  </a:solidFill>
                  <a:latin typeface="Agrandir Bold Italics"/>
                  <a:ea typeface="Agrandir Bold Italics"/>
                  <a:cs typeface="Agrandir Bold Italics"/>
                  <a:sym typeface="Agrandir Bold Italics"/>
                </a:rPr>
                <a:t>MILESTONE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: 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1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,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00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0 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re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n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tal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s completed, 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model valida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te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d,ready to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 s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c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ale</a:t>
              </a:r>
              <a:r>
                <a:rPr lang="en-US" sz="249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 Phase 2</a:t>
              </a: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9331110" y="2085192"/>
            <a:ext cx="0" cy="7969940"/>
          </a:xfrm>
          <a:prstGeom prst="line">
            <a:avLst/>
          </a:prstGeom>
          <a:ln cap="flat" w="38100">
            <a:solidFill>
              <a:srgbClr val="59A032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286204"/>
            <a:ext cx="5827181" cy="215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i="true">
                <a:solidFill>
                  <a:srgbClr val="147138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St</a:t>
            </a:r>
            <a:r>
              <a:rPr lang="en-US" b="true" sz="1999" i="true">
                <a:solidFill>
                  <a:srgbClr val="147138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rengths:</a:t>
            </a: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Established relationships</a:t>
            </a: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Deep local knowledge</a:t>
            </a: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No technology barrier</a:t>
            </a: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Immediate cash transactions</a:t>
            </a: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Personal trust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336994" y="3109992"/>
            <a:ext cx="5827181" cy="251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 i="true">
                <a:solidFill>
                  <a:srgbClr val="147138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W</a:t>
            </a:r>
            <a:r>
              <a:rPr lang="en-US" b="true" sz="1999" i="true">
                <a:solidFill>
                  <a:srgbClr val="147138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eaknesses:</a:t>
            </a: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High co</a:t>
            </a:r>
            <a:r>
              <a:rPr lang="en-US" sz="19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st to farmers (40% markup)</a:t>
            </a: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Fr</a:t>
            </a:r>
            <a:r>
              <a:rPr lang="en-US" sz="19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equent cheating on land measurement</a:t>
            </a: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No transparency</a:t>
            </a: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Machin</a:t>
            </a:r>
            <a:r>
              <a:rPr lang="en-US" sz="19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e availability uncertain</a:t>
            </a: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No quality guarantee</a:t>
            </a: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No recourse for disputes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549421" y="6042359"/>
            <a:ext cx="8452320" cy="3215941"/>
            <a:chOff x="0" y="0"/>
            <a:chExt cx="11269760" cy="428792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490270" y="600506"/>
              <a:ext cx="10751493" cy="3394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3"/>
                </a:lnSpc>
                <a:spcBef>
                  <a:spcPct val="0"/>
                </a:spcBef>
              </a:pPr>
              <a:r>
                <a:rPr lang="en-US" b="true" sz="2645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LANGOL's</a:t>
              </a:r>
              <a:r>
                <a:rPr lang="en-US" b="true" sz="2645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 Advantage</a:t>
              </a:r>
            </a:p>
            <a:p>
              <a:pPr algn="l" marL="499741" indent="-249870" lvl="1">
                <a:lnSpc>
                  <a:spcPts val="32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14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15%</a:t>
              </a:r>
              <a:r>
                <a:rPr lang="en-US" sz="2314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 commission vs. 40% markup = Farmers save 25%</a:t>
              </a:r>
            </a:p>
            <a:p>
              <a:pPr algn="l" marL="499741" indent="-249870" lvl="1">
                <a:lnSpc>
                  <a:spcPts val="32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14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GPS verification eliminates measurement cheating</a:t>
              </a:r>
            </a:p>
            <a:p>
              <a:pPr algn="l" marL="499741" indent="-249870" lvl="1">
                <a:lnSpc>
                  <a:spcPts val="32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14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Real-time availability = No waiting days</a:t>
              </a:r>
            </a:p>
            <a:p>
              <a:pPr algn="l" marL="499741" indent="-249870" lvl="1">
                <a:lnSpc>
                  <a:spcPts val="32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14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R</a:t>
              </a:r>
              <a:r>
                <a:rPr lang="en-US" sz="2314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ating system = Quality accountability</a:t>
              </a:r>
            </a:p>
            <a:p>
              <a:pPr algn="l" marL="499741" indent="-249870" lvl="1">
                <a:lnSpc>
                  <a:spcPts val="32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14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Transparent dispute resolution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 rot="0">
              <a:off x="518267" y="453500"/>
              <a:ext cx="10751493" cy="3834421"/>
              <a:chOff x="0" y="0"/>
              <a:chExt cx="1926761" cy="68716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926761" cy="687161"/>
              </a:xfrm>
              <a:custGeom>
                <a:avLst/>
                <a:gdLst/>
                <a:ahLst/>
                <a:cxnLst/>
                <a:rect r="r" b="b" t="t" l="l"/>
                <a:pathLst>
                  <a:path h="687161" w="1926761">
                    <a:moveTo>
                      <a:pt x="39156" y="0"/>
                    </a:moveTo>
                    <a:lnTo>
                      <a:pt x="1887605" y="0"/>
                    </a:lnTo>
                    <a:cubicBezTo>
                      <a:pt x="1897990" y="0"/>
                      <a:pt x="1907949" y="4125"/>
                      <a:pt x="1915292" y="11468"/>
                    </a:cubicBezTo>
                    <a:cubicBezTo>
                      <a:pt x="1922636" y="18812"/>
                      <a:pt x="1926761" y="28771"/>
                      <a:pt x="1926761" y="39156"/>
                    </a:cubicBezTo>
                    <a:lnTo>
                      <a:pt x="1926761" y="648006"/>
                    </a:lnTo>
                    <a:cubicBezTo>
                      <a:pt x="1926761" y="658390"/>
                      <a:pt x="1922636" y="668350"/>
                      <a:pt x="1915292" y="675693"/>
                    </a:cubicBezTo>
                    <a:cubicBezTo>
                      <a:pt x="1907949" y="683036"/>
                      <a:pt x="1897990" y="687161"/>
                      <a:pt x="1887605" y="687161"/>
                    </a:cubicBezTo>
                    <a:lnTo>
                      <a:pt x="39156" y="687161"/>
                    </a:lnTo>
                    <a:cubicBezTo>
                      <a:pt x="28771" y="687161"/>
                      <a:pt x="18812" y="683036"/>
                      <a:pt x="11468" y="675693"/>
                    </a:cubicBezTo>
                    <a:cubicBezTo>
                      <a:pt x="4125" y="668350"/>
                      <a:pt x="0" y="658390"/>
                      <a:pt x="0" y="648006"/>
                    </a:cubicBezTo>
                    <a:lnTo>
                      <a:pt x="0" y="39156"/>
                    </a:lnTo>
                    <a:cubicBezTo>
                      <a:pt x="0" y="28771"/>
                      <a:pt x="4125" y="18812"/>
                      <a:pt x="11468" y="11468"/>
                    </a:cubicBezTo>
                    <a:cubicBezTo>
                      <a:pt x="18812" y="4125"/>
                      <a:pt x="28771" y="0"/>
                      <a:pt x="39156" y="0"/>
                    </a:cubicBezTo>
                    <a:close/>
                  </a:path>
                </a:pathLst>
              </a:custGeom>
              <a:ln w="38100" cap="rnd">
                <a:solidFill>
                  <a:srgbClr val="147138"/>
                </a:solidFill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85725"/>
                <a:ext cx="1926761" cy="7728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0541" cy="907000"/>
            </a:xfrm>
            <a:custGeom>
              <a:avLst/>
              <a:gdLst/>
              <a:ahLst/>
              <a:cxnLst/>
              <a:rect r="r" b="b" t="t" l="l"/>
              <a:pathLst>
                <a:path h="907000" w="980541">
                  <a:moveTo>
                    <a:pt x="0" y="0"/>
                  </a:moveTo>
                  <a:lnTo>
                    <a:pt x="980541" y="0"/>
                  </a:lnTo>
                  <a:lnTo>
                    <a:pt x="980541" y="907000"/>
                  </a:lnTo>
                  <a:lnTo>
                    <a:pt x="0" y="90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962025"/>
            <a:ext cx="9265339" cy="98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Competitor 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70870" y="2120979"/>
            <a:ext cx="6609424" cy="332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Traditional Middlemen (Existing System)</a:t>
            </a: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Farmer contacts middleman personally or via phone</a:t>
            </a: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Middleman owns or has relationships with machine owners</a:t>
            </a: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Charges 35-45% markup</a:t>
            </a: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Manual measurement (rope/visual estimation)</a:t>
            </a:r>
          </a:p>
          <a:p>
            <a:pPr algn="l" marL="431797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Cash-only transactions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Market Share: 90-95% of current market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10572087" cy="98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Competitive Advantage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23242" y="2382018"/>
            <a:ext cx="2833942" cy="106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IoT-Verified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Transparency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80577" y="2382018"/>
            <a:ext cx="2856075" cy="106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Hybrid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Phygital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83446" y="3616324"/>
            <a:ext cx="4113532" cy="4432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5" indent="-269872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GPS tracker installed on every machine</a:t>
            </a:r>
          </a:p>
          <a:p>
            <a:pPr algn="l" marL="539745" indent="-269872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Real-time tracking of exact area worked</a:t>
            </a:r>
          </a:p>
          <a:p>
            <a:pPr algn="l" marL="539745" indent="-269872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Automated billing based on GPS data</a:t>
            </a:r>
          </a:p>
          <a:p>
            <a:pPr algn="l" marL="539745" indent="-269872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Farmer can see map overlay proving coverage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434906" y="3662543"/>
            <a:ext cx="4147417" cy="3117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5" indent="-269872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70% of bookings via physical agents (village shopkeepers)</a:t>
            </a:r>
          </a:p>
          <a:p>
            <a:pPr algn="l" marL="539745" indent="-269872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30% via app</a:t>
            </a:r>
          </a:p>
          <a:p>
            <a:pPr algn="l" marL="539745" indent="-269872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Ag</a:t>
            </a: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ents bridge digital divide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2700548" y="2241369"/>
            <a:ext cx="4558752" cy="6074500"/>
            <a:chOff x="0" y="0"/>
            <a:chExt cx="1200659" cy="15998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00659" cy="1599868"/>
            </a:xfrm>
            <a:custGeom>
              <a:avLst/>
              <a:gdLst/>
              <a:ahLst/>
              <a:cxnLst/>
              <a:rect r="r" b="b" t="t" l="l"/>
              <a:pathLst>
                <a:path h="1599868" w="1200659">
                  <a:moveTo>
                    <a:pt x="62835" y="0"/>
                  </a:moveTo>
                  <a:lnTo>
                    <a:pt x="1137823" y="0"/>
                  </a:lnTo>
                  <a:cubicBezTo>
                    <a:pt x="1154488" y="0"/>
                    <a:pt x="1170471" y="6620"/>
                    <a:pt x="1182255" y="18404"/>
                  </a:cubicBezTo>
                  <a:cubicBezTo>
                    <a:pt x="1194039" y="30188"/>
                    <a:pt x="1200659" y="46170"/>
                    <a:pt x="1200659" y="62835"/>
                  </a:cubicBezTo>
                  <a:lnTo>
                    <a:pt x="1200659" y="1537033"/>
                  </a:lnTo>
                  <a:cubicBezTo>
                    <a:pt x="1200659" y="1571736"/>
                    <a:pt x="1172526" y="1599868"/>
                    <a:pt x="1137823" y="1599868"/>
                  </a:cubicBezTo>
                  <a:lnTo>
                    <a:pt x="62835" y="1599868"/>
                  </a:lnTo>
                  <a:cubicBezTo>
                    <a:pt x="46170" y="1599868"/>
                    <a:pt x="30188" y="1593248"/>
                    <a:pt x="18404" y="1581464"/>
                  </a:cubicBezTo>
                  <a:cubicBezTo>
                    <a:pt x="6620" y="1569680"/>
                    <a:pt x="0" y="1553698"/>
                    <a:pt x="0" y="1537033"/>
                  </a:cubicBezTo>
                  <a:lnTo>
                    <a:pt x="0" y="62835"/>
                  </a:lnTo>
                  <a:cubicBezTo>
                    <a:pt x="0" y="46170"/>
                    <a:pt x="6620" y="30188"/>
                    <a:pt x="18404" y="18404"/>
                  </a:cubicBezTo>
                  <a:cubicBezTo>
                    <a:pt x="30188" y="6620"/>
                    <a:pt x="46170" y="0"/>
                    <a:pt x="62835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200659" cy="168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797990" y="2435358"/>
            <a:ext cx="4363869" cy="106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First-Mover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Advantage in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49660" y="3616324"/>
            <a:ext cx="4260528" cy="487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5" indent="-269872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Which districts need which machines when</a:t>
            </a:r>
          </a:p>
          <a:p>
            <a:pPr algn="l" marL="539745" indent="-269872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Pricing </a:t>
            </a: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elasticity (how demand changes with price)</a:t>
            </a:r>
          </a:p>
          <a:p>
            <a:pPr algn="l" marL="539745" indent="-269872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M</a:t>
            </a: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achine utilization patterns</a:t>
            </a:r>
          </a:p>
          <a:p>
            <a:pPr algn="l" marL="539745" indent="-269872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Soil conditions, field sizes, crop yields (via machine work)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7229238" y="2241369"/>
            <a:ext cx="4558752" cy="6074500"/>
            <a:chOff x="0" y="0"/>
            <a:chExt cx="1200659" cy="15998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0659" cy="1599868"/>
            </a:xfrm>
            <a:custGeom>
              <a:avLst/>
              <a:gdLst/>
              <a:ahLst/>
              <a:cxnLst/>
              <a:rect r="r" b="b" t="t" l="l"/>
              <a:pathLst>
                <a:path h="1599868" w="1200659">
                  <a:moveTo>
                    <a:pt x="62835" y="0"/>
                  </a:moveTo>
                  <a:lnTo>
                    <a:pt x="1137823" y="0"/>
                  </a:lnTo>
                  <a:cubicBezTo>
                    <a:pt x="1154488" y="0"/>
                    <a:pt x="1170471" y="6620"/>
                    <a:pt x="1182255" y="18404"/>
                  </a:cubicBezTo>
                  <a:cubicBezTo>
                    <a:pt x="1194039" y="30188"/>
                    <a:pt x="1200659" y="46170"/>
                    <a:pt x="1200659" y="62835"/>
                  </a:cubicBezTo>
                  <a:lnTo>
                    <a:pt x="1200659" y="1537033"/>
                  </a:lnTo>
                  <a:cubicBezTo>
                    <a:pt x="1200659" y="1571736"/>
                    <a:pt x="1172526" y="1599868"/>
                    <a:pt x="1137823" y="1599868"/>
                  </a:cubicBezTo>
                  <a:lnTo>
                    <a:pt x="62835" y="1599868"/>
                  </a:lnTo>
                  <a:cubicBezTo>
                    <a:pt x="46170" y="1599868"/>
                    <a:pt x="30188" y="1593248"/>
                    <a:pt x="18404" y="1581464"/>
                  </a:cubicBezTo>
                  <a:cubicBezTo>
                    <a:pt x="6620" y="1569680"/>
                    <a:pt x="0" y="1553698"/>
                    <a:pt x="0" y="1537033"/>
                  </a:cubicBezTo>
                  <a:lnTo>
                    <a:pt x="0" y="62835"/>
                  </a:lnTo>
                  <a:cubicBezTo>
                    <a:pt x="0" y="46170"/>
                    <a:pt x="6620" y="30188"/>
                    <a:pt x="18404" y="18404"/>
                  </a:cubicBezTo>
                  <a:cubicBezTo>
                    <a:pt x="30188" y="6620"/>
                    <a:pt x="46170" y="0"/>
                    <a:pt x="62835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1200659" cy="168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55992" y="2241369"/>
            <a:ext cx="4558752" cy="6074500"/>
            <a:chOff x="0" y="0"/>
            <a:chExt cx="1200659" cy="15998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00659" cy="1599868"/>
            </a:xfrm>
            <a:custGeom>
              <a:avLst/>
              <a:gdLst/>
              <a:ahLst/>
              <a:cxnLst/>
              <a:rect r="r" b="b" t="t" l="l"/>
              <a:pathLst>
                <a:path h="1599868" w="1200659">
                  <a:moveTo>
                    <a:pt x="62835" y="0"/>
                  </a:moveTo>
                  <a:lnTo>
                    <a:pt x="1137823" y="0"/>
                  </a:lnTo>
                  <a:cubicBezTo>
                    <a:pt x="1154488" y="0"/>
                    <a:pt x="1170471" y="6620"/>
                    <a:pt x="1182255" y="18404"/>
                  </a:cubicBezTo>
                  <a:cubicBezTo>
                    <a:pt x="1194039" y="30188"/>
                    <a:pt x="1200659" y="46170"/>
                    <a:pt x="1200659" y="62835"/>
                  </a:cubicBezTo>
                  <a:lnTo>
                    <a:pt x="1200659" y="1537033"/>
                  </a:lnTo>
                  <a:cubicBezTo>
                    <a:pt x="1200659" y="1571736"/>
                    <a:pt x="1172526" y="1599868"/>
                    <a:pt x="1137823" y="1599868"/>
                  </a:cubicBezTo>
                  <a:lnTo>
                    <a:pt x="62835" y="1599868"/>
                  </a:lnTo>
                  <a:cubicBezTo>
                    <a:pt x="46170" y="1599868"/>
                    <a:pt x="30188" y="1593248"/>
                    <a:pt x="18404" y="1581464"/>
                  </a:cubicBezTo>
                  <a:cubicBezTo>
                    <a:pt x="6620" y="1569680"/>
                    <a:pt x="0" y="1553698"/>
                    <a:pt x="0" y="1537033"/>
                  </a:cubicBezTo>
                  <a:lnTo>
                    <a:pt x="0" y="62835"/>
                  </a:lnTo>
                  <a:cubicBezTo>
                    <a:pt x="0" y="46170"/>
                    <a:pt x="6620" y="30188"/>
                    <a:pt x="18404" y="18404"/>
                  </a:cubicBezTo>
                  <a:cubicBezTo>
                    <a:pt x="30188" y="6620"/>
                    <a:pt x="46170" y="0"/>
                    <a:pt x="62835" y="0"/>
                  </a:cubicBezTo>
                  <a:close/>
                </a:path>
              </a:pathLst>
            </a:custGeom>
            <a:ln w="38100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200659" cy="1685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44101" y="1943101"/>
            <a:ext cx="7315199" cy="731519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32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62025"/>
            <a:ext cx="10572087" cy="98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Market Size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641066" y="3007327"/>
            <a:ext cx="5921269" cy="592126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A0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789164" y="5009912"/>
            <a:ext cx="3625073" cy="362507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713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2217549"/>
            <a:ext cx="5838236" cy="212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399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TAM (Total Addressable Market)</a:t>
            </a:r>
          </a:p>
          <a:p>
            <a:pPr algn="l" marL="474979" indent="-237490" lvl="1">
              <a:lnSpc>
                <a:spcPts val="2309"/>
              </a:lnSpc>
              <a:buFont typeface="Arial"/>
              <a:buChar char="•"/>
            </a:pPr>
            <a:r>
              <a:rPr lang="en-US" sz="21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18.9 million smallholder farmers in Bangladesh (farms &lt;2.5 acres)</a:t>
            </a:r>
          </a:p>
          <a:p>
            <a:pPr algn="l" marL="474979" indent="-237490" lvl="1">
              <a:lnSpc>
                <a:spcPts val="2309"/>
              </a:lnSpc>
              <a:buFont typeface="Arial"/>
              <a:buChar char="•"/>
            </a:pPr>
            <a:r>
              <a:rPr lang="en-US" sz="21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Average machinery rental spend: BDT 10,000-15,000/year per farmer</a:t>
            </a:r>
          </a:p>
          <a:p>
            <a:pPr algn="l" marL="474979" indent="-237490" lvl="1">
              <a:lnSpc>
                <a:spcPts val="230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Total Market Size: ~BDT 170-225 billion/year (~$1.5-2 billion USD)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526281"/>
            <a:ext cx="5838236" cy="179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2199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SAM (Serviceable Available Market)</a:t>
            </a:r>
          </a:p>
          <a:p>
            <a:pPr algn="l" marL="474979" indent="-237490" lvl="1">
              <a:lnSpc>
                <a:spcPts val="2309"/>
              </a:lnSpc>
              <a:buFont typeface="Arial"/>
              <a:buChar char="•"/>
            </a:pPr>
            <a:r>
              <a:rPr lang="en-US" sz="21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T</a:t>
            </a:r>
            <a:r>
              <a:rPr lang="en-US" sz="21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arget: Farmers with 0.5-5 acres (most mechanization-dependent segment)</a:t>
            </a:r>
          </a:p>
          <a:p>
            <a:pPr algn="l" marL="474979" indent="-237490" lvl="1">
              <a:lnSpc>
                <a:spcPts val="2309"/>
              </a:lnSpc>
              <a:buFont typeface="Arial"/>
              <a:buChar char="•"/>
            </a:pPr>
            <a:r>
              <a:rPr lang="en-US" sz="21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Approximately 12 million farmers</a:t>
            </a:r>
          </a:p>
          <a:p>
            <a:pPr algn="l" marL="474979" indent="-237490" lvl="1">
              <a:lnSpc>
                <a:spcPts val="230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Re</a:t>
            </a:r>
            <a:r>
              <a:rPr lang="en-US" sz="21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alistic market capture: BDT 100-120 billion/year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541770"/>
            <a:ext cx="5838236" cy="208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9"/>
              </a:lnSpc>
            </a:pPr>
            <a:r>
              <a:rPr lang="en-US" sz="2199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SOM (Serviceable Obtainable Market)</a:t>
            </a:r>
          </a:p>
          <a:p>
            <a:pPr algn="l" marL="474979" indent="-237490" lvl="1">
              <a:lnSpc>
                <a:spcPts val="2309"/>
              </a:lnSpc>
              <a:buFont typeface="Arial"/>
              <a:buChar char="•"/>
            </a:pPr>
            <a:r>
              <a:rPr lang="en-US" sz="21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Y</a:t>
            </a:r>
            <a:r>
              <a:rPr lang="en-US" sz="21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ear 1: 50,000 farmers across 3 districts</a:t>
            </a:r>
          </a:p>
          <a:p>
            <a:pPr algn="l" marL="474979" indent="-237490" lvl="1">
              <a:lnSpc>
                <a:spcPts val="2309"/>
              </a:lnSpc>
              <a:buFont typeface="Arial"/>
              <a:buChar char="•"/>
            </a:pPr>
            <a:r>
              <a:rPr lang="en-US" sz="21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Y</a:t>
            </a:r>
            <a:r>
              <a:rPr lang="en-US" sz="21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ear 3: 500,000 farmers across 15+ districts</a:t>
            </a:r>
          </a:p>
          <a:p>
            <a:pPr algn="l" marL="474979" indent="-237490" lvl="1">
              <a:lnSpc>
                <a:spcPts val="230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Revenue p</a:t>
            </a:r>
            <a:r>
              <a:rPr lang="en-US" sz="2199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otential (Year 3): BDT 600-900 million (~$5-7 million USD)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53783" y="6475095"/>
            <a:ext cx="1218045" cy="637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7"/>
              </a:lnSpc>
              <a:spcBef>
                <a:spcPct val="0"/>
              </a:spcBef>
            </a:pPr>
            <a:r>
              <a:rPr lang="en-US" b="true" sz="3845">
                <a:solidFill>
                  <a:srgbClr val="025A2C"/>
                </a:solidFill>
                <a:latin typeface="Agrandir Bold"/>
                <a:ea typeface="Agrandir Bold"/>
                <a:cs typeface="Agrandir Bold"/>
                <a:sym typeface="Agrandir Bold"/>
              </a:rPr>
              <a:t>SOM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25736" y="4309239"/>
            <a:ext cx="1151930" cy="635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7"/>
              </a:lnSpc>
              <a:spcBef>
                <a:spcPct val="0"/>
              </a:spcBef>
            </a:pPr>
            <a:r>
              <a:rPr lang="en-US" b="true" sz="38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SAM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53783" y="2055483"/>
            <a:ext cx="1095835" cy="637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7"/>
              </a:lnSpc>
              <a:spcBef>
                <a:spcPct val="0"/>
              </a:spcBef>
            </a:pPr>
            <a:r>
              <a:rPr lang="en-US" b="true" sz="3845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TAM</a:t>
            </a:r>
          </a:p>
        </p:txBody>
      </p:sp>
      <p:sp>
        <p:nvSpPr>
          <p:cNvPr name="AutoShape 18" id="18"/>
          <p:cNvSpPr/>
          <p:nvPr/>
        </p:nvSpPr>
        <p:spPr>
          <a:xfrm>
            <a:off x="6314744" y="2402837"/>
            <a:ext cx="6492240" cy="0"/>
          </a:xfrm>
          <a:prstGeom prst="line">
            <a:avLst/>
          </a:prstGeom>
          <a:ln cap="flat" w="38100">
            <a:solidFill>
              <a:srgbClr val="147138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9" id="19"/>
          <p:cNvSpPr/>
          <p:nvPr/>
        </p:nvSpPr>
        <p:spPr>
          <a:xfrm>
            <a:off x="6314744" y="4680714"/>
            <a:ext cx="6492240" cy="0"/>
          </a:xfrm>
          <a:prstGeom prst="line">
            <a:avLst/>
          </a:prstGeom>
          <a:ln cap="flat" w="38100">
            <a:solidFill>
              <a:srgbClr val="147138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0" id="20"/>
          <p:cNvSpPr/>
          <p:nvPr/>
        </p:nvSpPr>
        <p:spPr>
          <a:xfrm>
            <a:off x="6314744" y="6758940"/>
            <a:ext cx="6492240" cy="0"/>
          </a:xfrm>
          <a:prstGeom prst="line">
            <a:avLst/>
          </a:prstGeom>
          <a:ln cap="flat" w="38100">
            <a:solidFill>
              <a:srgbClr val="147138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78326" y="1028700"/>
            <a:ext cx="2280974" cy="4426588"/>
            <a:chOff x="0" y="0"/>
            <a:chExt cx="3041298" cy="5902117"/>
          </a:xfrm>
        </p:grpSpPr>
        <p:grpSp>
          <p:nvGrpSpPr>
            <p:cNvPr name="Group 3" id="3"/>
            <p:cNvGrpSpPr/>
            <p:nvPr/>
          </p:nvGrpSpPr>
          <p:grpSpPr>
            <a:xfrm rot="5400000">
              <a:off x="531447" y="-531447"/>
              <a:ext cx="1978404" cy="3041298"/>
              <a:chOff x="0" y="0"/>
              <a:chExt cx="481025" cy="739454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025" cy="739454"/>
              </a:xfrm>
              <a:custGeom>
                <a:avLst/>
                <a:gdLst/>
                <a:ahLst/>
                <a:cxnLst/>
                <a:rect r="r" b="b" t="t" l="l"/>
                <a:pathLst>
                  <a:path h="739454" w="481025">
                    <a:moveTo>
                      <a:pt x="277825" y="0"/>
                    </a:moveTo>
                    <a:lnTo>
                      <a:pt x="0" y="0"/>
                    </a:lnTo>
                    <a:lnTo>
                      <a:pt x="0" y="739454"/>
                    </a:lnTo>
                    <a:lnTo>
                      <a:pt x="277825" y="739454"/>
                    </a:lnTo>
                    <a:lnTo>
                      <a:pt x="481025" y="369727"/>
                    </a:lnTo>
                    <a:lnTo>
                      <a:pt x="277825" y="0"/>
                    </a:lnTo>
                    <a:close/>
                  </a:path>
                </a:pathLst>
              </a:custGeom>
              <a:solidFill>
                <a:srgbClr val="59A032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85725"/>
                <a:ext cx="366725" cy="825179"/>
              </a:xfrm>
              <a:prstGeom prst="rect">
                <a:avLst/>
              </a:prstGeom>
            </p:spPr>
            <p:txBody>
              <a:bodyPr anchor="ctr" rtlCol="false" tIns="41271" lIns="41271" bIns="41271" rIns="41271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5400000">
              <a:off x="358879" y="1252374"/>
              <a:ext cx="2323541" cy="3041298"/>
              <a:chOff x="0" y="0"/>
              <a:chExt cx="564940" cy="73945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64940" cy="739454"/>
              </a:xfrm>
              <a:custGeom>
                <a:avLst/>
                <a:gdLst/>
                <a:ahLst/>
                <a:cxnLst/>
                <a:rect r="r" b="b" t="t" l="l"/>
                <a:pathLst>
                  <a:path h="739454" w="564940">
                    <a:moveTo>
                      <a:pt x="0" y="0"/>
                    </a:moveTo>
                    <a:lnTo>
                      <a:pt x="361740" y="0"/>
                    </a:lnTo>
                    <a:lnTo>
                      <a:pt x="564940" y="369727"/>
                    </a:lnTo>
                    <a:lnTo>
                      <a:pt x="361740" y="739454"/>
                    </a:lnTo>
                    <a:lnTo>
                      <a:pt x="0" y="739454"/>
                    </a:lnTo>
                    <a:lnTo>
                      <a:pt x="203200" y="3697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97B5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77800" y="-85725"/>
                <a:ext cx="310940" cy="825179"/>
              </a:xfrm>
              <a:prstGeom prst="rect">
                <a:avLst/>
              </a:prstGeom>
            </p:spPr>
            <p:txBody>
              <a:bodyPr anchor="ctr" rtlCol="false" tIns="41271" lIns="41271" bIns="41271" rIns="41271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5400000">
              <a:off x="358879" y="3219697"/>
              <a:ext cx="2323541" cy="3041298"/>
              <a:chOff x="0" y="0"/>
              <a:chExt cx="564940" cy="73945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64940" cy="739454"/>
              </a:xfrm>
              <a:custGeom>
                <a:avLst/>
                <a:gdLst/>
                <a:ahLst/>
                <a:cxnLst/>
                <a:rect r="r" b="b" t="t" l="l"/>
                <a:pathLst>
                  <a:path h="739454" w="564940">
                    <a:moveTo>
                      <a:pt x="0" y="0"/>
                    </a:moveTo>
                    <a:lnTo>
                      <a:pt x="361740" y="0"/>
                    </a:lnTo>
                    <a:lnTo>
                      <a:pt x="564940" y="369727"/>
                    </a:lnTo>
                    <a:lnTo>
                      <a:pt x="361740" y="739454"/>
                    </a:lnTo>
                    <a:lnTo>
                      <a:pt x="0" y="739454"/>
                    </a:lnTo>
                    <a:lnTo>
                      <a:pt x="203200" y="3697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97B5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77800" y="-85725"/>
                <a:ext cx="310940" cy="825179"/>
              </a:xfrm>
              <a:prstGeom prst="rect">
                <a:avLst/>
              </a:prstGeom>
            </p:spPr>
            <p:txBody>
              <a:bodyPr anchor="ctr" rtlCol="false" tIns="41271" lIns="41271" bIns="41271" rIns="41271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411846" y="353908"/>
              <a:ext cx="2217605" cy="855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9"/>
                </a:lnSpc>
              </a:pPr>
              <a:r>
                <a:rPr lang="en-US" b="true" sz="2199">
                  <a:solidFill>
                    <a:srgbClr val="025A2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Phase-1</a:t>
              </a:r>
            </a:p>
            <a:p>
              <a:pPr algn="ctr">
                <a:lnSpc>
                  <a:spcPts val="2309"/>
                </a:lnSpc>
              </a:pPr>
              <a:r>
                <a:rPr lang="en-US" b="true" sz="2199">
                  <a:solidFill>
                    <a:srgbClr val="025A2C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Pilot Launch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592094" y="2405308"/>
              <a:ext cx="1857110" cy="963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D9D9D9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Phase-2</a:t>
              </a:r>
            </a:p>
            <a:p>
              <a:pPr algn="ctr">
                <a:lnSpc>
                  <a:spcPts val="1803"/>
                </a:lnSpc>
              </a:pPr>
              <a:r>
                <a:rPr lang="en-US" b="true" sz="2199">
                  <a:solidFill>
                    <a:srgbClr val="D9D9D9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Expansion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96910" y="4363418"/>
              <a:ext cx="2047478" cy="963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b="true" sz="2199">
                  <a:solidFill>
                    <a:srgbClr val="D9D9D9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Phase-3</a:t>
              </a:r>
            </a:p>
            <a:p>
              <a:pPr algn="ctr">
                <a:lnSpc>
                  <a:spcPts val="1803"/>
                </a:lnSpc>
              </a:pPr>
              <a:r>
                <a:rPr lang="en-US" b="true" sz="2199">
                  <a:solidFill>
                    <a:srgbClr val="D9D9D9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Dominance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962025"/>
            <a:ext cx="9265339" cy="98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Go-To-Market Strategy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54848" y="2568563"/>
            <a:ext cx="5147902" cy="632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3"/>
              </a:lnSpc>
              <a:spcBef>
                <a:spcPct val="0"/>
              </a:spcBef>
            </a:pPr>
            <a:r>
              <a:rPr lang="en-US" b="true" sz="3841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Phase-1 (Pilot Launch)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8173" y="3162826"/>
            <a:ext cx="581831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  <a:spcBef>
                <a:spcPct val="0"/>
              </a:spcBef>
            </a:pPr>
            <a:r>
              <a:rPr lang="en-US" b="true" sz="21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Duration - 1 year (Dec, 2026 to Dec, 2027)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699434" y="3947663"/>
            <a:ext cx="6217648" cy="2455026"/>
            <a:chOff x="0" y="0"/>
            <a:chExt cx="8290197" cy="327336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290197" cy="3273368"/>
              <a:chOff x="0" y="0"/>
              <a:chExt cx="1646756" cy="65021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646756" cy="650218"/>
              </a:xfrm>
              <a:custGeom>
                <a:avLst/>
                <a:gdLst/>
                <a:ahLst/>
                <a:cxnLst/>
                <a:rect r="r" b="b" t="t" l="l"/>
                <a:pathLst>
                  <a:path h="650218" w="1646756">
                    <a:moveTo>
                      <a:pt x="43139" y="0"/>
                    </a:moveTo>
                    <a:lnTo>
                      <a:pt x="1603617" y="0"/>
                    </a:lnTo>
                    <a:cubicBezTo>
                      <a:pt x="1615058" y="0"/>
                      <a:pt x="1626031" y="4545"/>
                      <a:pt x="1634121" y="12635"/>
                    </a:cubicBezTo>
                    <a:cubicBezTo>
                      <a:pt x="1642211" y="20725"/>
                      <a:pt x="1646756" y="31698"/>
                      <a:pt x="1646756" y="43139"/>
                    </a:cubicBezTo>
                    <a:lnTo>
                      <a:pt x="1646756" y="607079"/>
                    </a:lnTo>
                    <a:cubicBezTo>
                      <a:pt x="1646756" y="618520"/>
                      <a:pt x="1642211" y="629493"/>
                      <a:pt x="1634121" y="637583"/>
                    </a:cubicBezTo>
                    <a:cubicBezTo>
                      <a:pt x="1626031" y="645673"/>
                      <a:pt x="1615058" y="650218"/>
                      <a:pt x="1603617" y="650218"/>
                    </a:cubicBezTo>
                    <a:lnTo>
                      <a:pt x="43139" y="650218"/>
                    </a:lnTo>
                    <a:cubicBezTo>
                      <a:pt x="31698" y="650218"/>
                      <a:pt x="20725" y="645673"/>
                      <a:pt x="12635" y="637583"/>
                    </a:cubicBezTo>
                    <a:cubicBezTo>
                      <a:pt x="4545" y="629493"/>
                      <a:pt x="0" y="618520"/>
                      <a:pt x="0" y="607079"/>
                    </a:cubicBezTo>
                    <a:lnTo>
                      <a:pt x="0" y="43139"/>
                    </a:lnTo>
                    <a:cubicBezTo>
                      <a:pt x="0" y="31698"/>
                      <a:pt x="4545" y="20725"/>
                      <a:pt x="12635" y="12635"/>
                    </a:cubicBezTo>
                    <a:cubicBezTo>
                      <a:pt x="20725" y="4545"/>
                      <a:pt x="31698" y="0"/>
                      <a:pt x="43139" y="0"/>
                    </a:cubicBezTo>
                    <a:close/>
                  </a:path>
                </a:pathLst>
              </a:custGeom>
              <a:ln w="38100" cap="rnd">
                <a:solidFill>
                  <a:srgbClr val="147138"/>
                </a:soli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85725"/>
                <a:ext cx="1646756" cy="735943"/>
              </a:xfrm>
              <a:prstGeom prst="rect">
                <a:avLst/>
              </a:prstGeom>
            </p:spPr>
            <p:txBody>
              <a:bodyPr anchor="ctr" rtlCol="false" tIns="53949" lIns="53949" bIns="53949" rIns="53949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82358" y="287553"/>
              <a:ext cx="7714481" cy="53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10"/>
                </a:lnSpc>
                <a:spcBef>
                  <a:spcPct val="0"/>
                </a:spcBef>
              </a:pPr>
              <a:r>
                <a:rPr lang="en-US" b="true" sz="2486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Targeted Location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70762" y="843236"/>
              <a:ext cx="7714481" cy="2248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6737" indent="-268368" lvl="1">
                <a:lnSpc>
                  <a:spcPts val="2610"/>
                </a:lnSpc>
                <a:buFont typeface="Arial"/>
                <a:buChar char="•"/>
              </a:pPr>
              <a:r>
                <a:rPr lang="en-US" sz="2486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3 districts: Mymensingh (Highest in rice production), Jashore (Highest in vegetable production), Bogra</a:t>
              </a:r>
            </a:p>
            <a:p>
              <a:pPr algn="l" marL="536737" indent="-268368" lvl="1">
                <a:lnSpc>
                  <a:spcPts val="2610"/>
                </a:lnSpc>
                <a:buFont typeface="Arial"/>
                <a:buChar char="•"/>
              </a:pPr>
              <a:r>
                <a:rPr lang="en-US" sz="2486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High concentration of farmers creates networking easier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99434" y="6821790"/>
            <a:ext cx="6217648" cy="2436510"/>
            <a:chOff x="0" y="0"/>
            <a:chExt cx="8290197" cy="324868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8290197" cy="3248680"/>
              <a:chOff x="0" y="0"/>
              <a:chExt cx="1664418" cy="65223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664418" cy="652236"/>
              </a:xfrm>
              <a:custGeom>
                <a:avLst/>
                <a:gdLst/>
                <a:ahLst/>
                <a:cxnLst/>
                <a:rect r="r" b="b" t="t" l="l"/>
                <a:pathLst>
                  <a:path h="652236" w="1664418">
                    <a:moveTo>
                      <a:pt x="46071" y="0"/>
                    </a:moveTo>
                    <a:lnTo>
                      <a:pt x="1618348" y="0"/>
                    </a:lnTo>
                    <a:cubicBezTo>
                      <a:pt x="1643792" y="0"/>
                      <a:pt x="1664418" y="20627"/>
                      <a:pt x="1664418" y="46071"/>
                    </a:cubicBezTo>
                    <a:lnTo>
                      <a:pt x="1664418" y="606165"/>
                    </a:lnTo>
                    <a:cubicBezTo>
                      <a:pt x="1664418" y="631609"/>
                      <a:pt x="1643792" y="652236"/>
                      <a:pt x="1618348" y="652236"/>
                    </a:cubicBezTo>
                    <a:lnTo>
                      <a:pt x="46071" y="652236"/>
                    </a:lnTo>
                    <a:cubicBezTo>
                      <a:pt x="33852" y="652236"/>
                      <a:pt x="22134" y="647382"/>
                      <a:pt x="13494" y="638742"/>
                    </a:cubicBezTo>
                    <a:cubicBezTo>
                      <a:pt x="4854" y="630102"/>
                      <a:pt x="0" y="618384"/>
                      <a:pt x="0" y="606165"/>
                    </a:cubicBezTo>
                    <a:lnTo>
                      <a:pt x="0" y="46071"/>
                    </a:lnTo>
                    <a:cubicBezTo>
                      <a:pt x="0" y="20627"/>
                      <a:pt x="20627" y="0"/>
                      <a:pt x="46071" y="0"/>
                    </a:cubicBezTo>
                    <a:close/>
                  </a:path>
                </a:pathLst>
              </a:custGeom>
              <a:ln w="38100" cap="rnd">
                <a:solidFill>
                  <a:srgbClr val="147138"/>
                </a:soli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85725"/>
                <a:ext cx="1664418" cy="737961"/>
              </a:xfrm>
              <a:prstGeom prst="rect">
                <a:avLst/>
              </a:prstGeom>
            </p:spPr>
            <p:txBody>
              <a:bodyPr anchor="ctr" rtlCol="false" tIns="49981" lIns="49981" bIns="49981" rIns="49981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87858" y="841455"/>
              <a:ext cx="7714481" cy="2215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1041" indent="-265521" lvl="1">
                <a:lnSpc>
                  <a:spcPts val="2582"/>
                </a:lnSpc>
                <a:buFont typeface="Arial"/>
                <a:buChar char="•"/>
              </a:pPr>
              <a:r>
                <a:rPr lang="en-US" sz="245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1,000 farmers and 50+ machinary owners (50-100 machines)</a:t>
              </a:r>
            </a:p>
            <a:p>
              <a:pPr algn="l" marL="531041" indent="-265521" lvl="1">
                <a:lnSpc>
                  <a:spcPts val="2582"/>
                </a:lnSpc>
                <a:buFont typeface="Arial"/>
                <a:buChar char="•"/>
              </a:pPr>
              <a:r>
                <a:rPr lang="en-US" sz="245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30-50 Agents (Village Shopkeepers)</a:t>
              </a:r>
            </a:p>
            <a:p>
              <a:pPr algn="l" marL="531041" indent="-265521" lvl="1">
                <a:lnSpc>
                  <a:spcPts val="2582"/>
                </a:lnSpc>
                <a:buFont typeface="Arial"/>
                <a:buChar char="•"/>
              </a:pPr>
              <a:r>
                <a:rPr lang="en-US" sz="245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1,000 successful rentals</a:t>
              </a:r>
            </a:p>
            <a:p>
              <a:pPr algn="l" marL="531041" indent="-265521" lvl="1">
                <a:lnSpc>
                  <a:spcPts val="2582"/>
                </a:lnSpc>
                <a:buFont typeface="Arial"/>
                <a:buChar char="•"/>
              </a:pPr>
              <a:r>
                <a:rPr lang="en-US" sz="245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Proof of concept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71712" y="301260"/>
              <a:ext cx="7714481" cy="515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82"/>
                </a:lnSpc>
                <a:spcBef>
                  <a:spcPct val="0"/>
                </a:spcBef>
              </a:pPr>
              <a:r>
                <a:rPr lang="en-US" b="true" sz="2459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Key Milestones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flipV="true">
            <a:off x="8793108" y="3077150"/>
            <a:ext cx="0" cy="6492240"/>
          </a:xfrm>
          <a:prstGeom prst="line">
            <a:avLst/>
          </a:prstGeom>
          <a:ln cap="flat" w="38100">
            <a:solidFill>
              <a:srgbClr val="14713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8984497" y="3364756"/>
            <a:ext cx="5394070" cy="1527769"/>
            <a:chOff x="0" y="0"/>
            <a:chExt cx="7192094" cy="2037025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212671" y="-38100"/>
              <a:ext cx="6979423" cy="5754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87"/>
                </a:lnSpc>
                <a:spcBef>
                  <a:spcPct val="0"/>
                </a:spcBef>
              </a:pPr>
              <a:r>
                <a:rPr lang="en-US" b="true" sz="2654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Machinary Owner Onboarding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739110"/>
              <a:ext cx="7192094" cy="12979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00392" indent="-250196" lvl="1">
                <a:lnSpc>
                  <a:spcPts val="2433"/>
                </a:lnSpc>
                <a:buFont typeface="Arial"/>
                <a:buChar char="•"/>
              </a:pPr>
              <a:r>
                <a:rPr lang="en-US" sz="2317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Direct Outreach</a:t>
              </a:r>
            </a:p>
            <a:p>
              <a:pPr algn="l" marL="500392" indent="-250196" lvl="1">
                <a:lnSpc>
                  <a:spcPts val="2433"/>
                </a:lnSpc>
                <a:buFont typeface="Arial"/>
                <a:buChar char="•"/>
              </a:pPr>
              <a:r>
                <a:rPr lang="en-US" sz="2317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Register Machines after a manual machine screening process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144000" y="5105400"/>
            <a:ext cx="5234567" cy="44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7"/>
              </a:lnSpc>
              <a:spcBef>
                <a:spcPct val="0"/>
              </a:spcBef>
            </a:pPr>
            <a:r>
              <a:rPr lang="en-US" b="true" sz="2654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Farmer Aqusition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064249" y="5689377"/>
            <a:ext cx="5394070" cy="158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0392" indent="-250196" lvl="1">
              <a:lnSpc>
                <a:spcPts val="2433"/>
              </a:lnSpc>
              <a:buFont typeface="Arial"/>
              <a:buChar char="•"/>
            </a:pPr>
            <a:r>
              <a:rPr lang="en-US" sz="2317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Village Meetings</a:t>
            </a:r>
          </a:p>
          <a:p>
            <a:pPr algn="l" marL="500392" indent="-250196" lvl="1">
              <a:lnSpc>
                <a:spcPts val="2433"/>
              </a:lnSpc>
              <a:buFont typeface="Arial"/>
              <a:buChar char="•"/>
            </a:pPr>
            <a:r>
              <a:rPr lang="en-US" sz="2317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Leaflets, posters and placards for better reach out</a:t>
            </a:r>
          </a:p>
          <a:p>
            <a:pPr algn="l" marL="500392" indent="-250196" lvl="1">
              <a:lnSpc>
                <a:spcPts val="2433"/>
              </a:lnSpc>
              <a:buFont typeface="Arial"/>
              <a:buChar char="•"/>
            </a:pPr>
            <a:r>
              <a:rPr lang="en-US" sz="2317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Offer discounts on first rentals</a:t>
            </a:r>
          </a:p>
          <a:p>
            <a:pPr algn="l">
              <a:lnSpc>
                <a:spcPts val="2433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9144000" y="7263286"/>
            <a:ext cx="5234567" cy="44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7"/>
              </a:lnSpc>
              <a:spcBef>
                <a:spcPct val="0"/>
              </a:spcBef>
            </a:pPr>
            <a:r>
              <a:rPr lang="en-US" b="true" sz="2654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Agent Recruitment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064249" y="7818688"/>
            <a:ext cx="5394070" cy="158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0392" indent="-250196" lvl="1">
              <a:lnSpc>
                <a:spcPts val="2433"/>
              </a:lnSpc>
              <a:buFont typeface="Arial"/>
              <a:buChar char="•"/>
            </a:pPr>
            <a:r>
              <a:rPr lang="en-US" sz="2317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Assist local shopkeepers to be LANGOL Agents</a:t>
            </a:r>
          </a:p>
          <a:p>
            <a:pPr algn="l" marL="500392" indent="-250196" lvl="1">
              <a:lnSpc>
                <a:spcPts val="2433"/>
              </a:lnSpc>
              <a:buFont typeface="Arial"/>
              <a:buChar char="•"/>
            </a:pPr>
            <a:r>
              <a:rPr lang="en-US" sz="2317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1 week training</a:t>
            </a:r>
          </a:p>
          <a:p>
            <a:pPr algn="l" marL="500392" indent="-250196" lvl="1">
              <a:lnSpc>
                <a:spcPts val="2433"/>
              </a:lnSpc>
              <a:buFont typeface="Arial"/>
              <a:buChar char="•"/>
            </a:pPr>
            <a:r>
              <a:rPr lang="en-US" sz="2317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Partnership Agreement</a:t>
            </a:r>
          </a:p>
          <a:p>
            <a:pPr algn="l">
              <a:lnSpc>
                <a:spcPts val="2433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9265339" cy="98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Go-To-Market Strategy</a:t>
            </a:r>
          </a:p>
        </p:txBody>
      </p:sp>
      <p:grpSp>
        <p:nvGrpSpPr>
          <p:cNvPr name="Group 3" id="3"/>
          <p:cNvGrpSpPr/>
          <p:nvPr/>
        </p:nvGrpSpPr>
        <p:grpSpPr>
          <a:xfrm rot="5400000">
            <a:off x="15376912" y="630115"/>
            <a:ext cx="1483803" cy="2280974"/>
            <a:chOff x="0" y="0"/>
            <a:chExt cx="481025" cy="7394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025" cy="739454"/>
            </a:xfrm>
            <a:custGeom>
              <a:avLst/>
              <a:gdLst/>
              <a:ahLst/>
              <a:cxnLst/>
              <a:rect r="r" b="b" t="t" l="l"/>
              <a:pathLst>
                <a:path h="739454" w="481025">
                  <a:moveTo>
                    <a:pt x="277825" y="0"/>
                  </a:moveTo>
                  <a:lnTo>
                    <a:pt x="0" y="0"/>
                  </a:lnTo>
                  <a:lnTo>
                    <a:pt x="0" y="739454"/>
                  </a:lnTo>
                  <a:lnTo>
                    <a:pt x="277825" y="739454"/>
                  </a:lnTo>
                  <a:lnTo>
                    <a:pt x="481025" y="369727"/>
                  </a:lnTo>
                  <a:lnTo>
                    <a:pt x="277825" y="0"/>
                  </a:lnTo>
                  <a:close/>
                </a:path>
              </a:pathLst>
            </a:custGeom>
            <a:solidFill>
              <a:srgbClr val="597B5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366725" cy="825179"/>
            </a:xfrm>
            <a:prstGeom prst="rect">
              <a:avLst/>
            </a:prstGeom>
          </p:spPr>
          <p:txBody>
            <a:bodyPr anchor="ctr" rtlCol="false" tIns="41271" lIns="41271" bIns="41271" rIns="4127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15247485" y="1967981"/>
            <a:ext cx="1742655" cy="2280974"/>
            <a:chOff x="0" y="0"/>
            <a:chExt cx="564940" cy="7394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4940" cy="739454"/>
            </a:xfrm>
            <a:custGeom>
              <a:avLst/>
              <a:gdLst/>
              <a:ahLst/>
              <a:cxnLst/>
              <a:rect r="r" b="b" t="t" l="l"/>
              <a:pathLst>
                <a:path h="739454" w="564940">
                  <a:moveTo>
                    <a:pt x="0" y="0"/>
                  </a:moveTo>
                  <a:lnTo>
                    <a:pt x="361740" y="0"/>
                  </a:lnTo>
                  <a:lnTo>
                    <a:pt x="564940" y="369727"/>
                  </a:lnTo>
                  <a:lnTo>
                    <a:pt x="361740" y="739454"/>
                  </a:lnTo>
                  <a:lnTo>
                    <a:pt x="0" y="739454"/>
                  </a:lnTo>
                  <a:lnTo>
                    <a:pt x="203200" y="3697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A03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-85725"/>
              <a:ext cx="310940" cy="825179"/>
            </a:xfrm>
            <a:prstGeom prst="rect">
              <a:avLst/>
            </a:prstGeom>
          </p:spPr>
          <p:txBody>
            <a:bodyPr anchor="ctr" rtlCol="false" tIns="41271" lIns="41271" bIns="41271" rIns="4127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5247485" y="3443473"/>
            <a:ext cx="1742655" cy="2280974"/>
            <a:chOff x="0" y="0"/>
            <a:chExt cx="564940" cy="7394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4940" cy="739454"/>
            </a:xfrm>
            <a:custGeom>
              <a:avLst/>
              <a:gdLst/>
              <a:ahLst/>
              <a:cxnLst/>
              <a:rect r="r" b="b" t="t" l="l"/>
              <a:pathLst>
                <a:path h="739454" w="564940">
                  <a:moveTo>
                    <a:pt x="0" y="0"/>
                  </a:moveTo>
                  <a:lnTo>
                    <a:pt x="361740" y="0"/>
                  </a:lnTo>
                  <a:lnTo>
                    <a:pt x="564940" y="369727"/>
                  </a:lnTo>
                  <a:lnTo>
                    <a:pt x="361740" y="739454"/>
                  </a:lnTo>
                  <a:lnTo>
                    <a:pt x="0" y="739454"/>
                  </a:lnTo>
                  <a:lnTo>
                    <a:pt x="203200" y="3697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7B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85725"/>
              <a:ext cx="310940" cy="825179"/>
            </a:xfrm>
            <a:prstGeom prst="rect">
              <a:avLst/>
            </a:prstGeom>
          </p:spPr>
          <p:txBody>
            <a:bodyPr anchor="ctr" rtlCol="false" tIns="41271" lIns="41271" bIns="41271" rIns="4127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287211" y="1284606"/>
            <a:ext cx="1663204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b="true" sz="2199">
                <a:solidFill>
                  <a:srgbClr val="D9D9D9"/>
                </a:solidFill>
                <a:latin typeface="Agrandir Bold"/>
                <a:ea typeface="Agrandir Bold"/>
                <a:cs typeface="Agrandir Bold"/>
                <a:sym typeface="Agrandir Bold"/>
              </a:rPr>
              <a:t>Phase-1</a:t>
            </a:r>
          </a:p>
          <a:p>
            <a:pPr algn="ctr">
              <a:lnSpc>
                <a:spcPts val="2309"/>
              </a:lnSpc>
            </a:pPr>
            <a:r>
              <a:rPr lang="en-US" b="true" sz="2199">
                <a:solidFill>
                  <a:srgbClr val="D9D9D9"/>
                </a:solidFill>
                <a:latin typeface="Agrandir Bold"/>
                <a:ea typeface="Agrandir Bold"/>
                <a:cs typeface="Agrandir Bold"/>
                <a:sym typeface="Agrandir Bold"/>
              </a:rPr>
              <a:t>Pilot Launch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22397" y="2806487"/>
            <a:ext cx="1392833" cy="74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025A2C"/>
                </a:solidFill>
                <a:latin typeface="Agrandir Bold"/>
                <a:ea typeface="Agrandir Bold"/>
                <a:cs typeface="Agrandir Bold"/>
                <a:sym typeface="Agrandir Bold"/>
              </a:rPr>
              <a:t>Phase-2</a:t>
            </a:r>
          </a:p>
          <a:p>
            <a:pPr algn="ctr">
              <a:lnSpc>
                <a:spcPts val="1803"/>
              </a:lnSpc>
            </a:pPr>
            <a:r>
              <a:rPr lang="en-US" b="true" sz="2199">
                <a:solidFill>
                  <a:srgbClr val="025A2C"/>
                </a:solidFill>
                <a:latin typeface="Agrandir Bold"/>
                <a:ea typeface="Agrandir Bold"/>
                <a:cs typeface="Agrandir Bold"/>
                <a:sym typeface="Agrandir Bold"/>
              </a:rPr>
              <a:t>Expansion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51009" y="4275070"/>
            <a:ext cx="1535609" cy="74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D9D9D9"/>
                </a:solidFill>
                <a:latin typeface="Agrandir Bold"/>
                <a:ea typeface="Agrandir Bold"/>
                <a:cs typeface="Agrandir Bold"/>
                <a:sym typeface="Agrandir Bold"/>
              </a:rPr>
              <a:t>Phase-3</a:t>
            </a:r>
          </a:p>
          <a:p>
            <a:pPr algn="ctr">
              <a:lnSpc>
                <a:spcPts val="1803"/>
              </a:lnSpc>
            </a:pPr>
            <a:r>
              <a:rPr lang="en-US" b="true" sz="2199">
                <a:solidFill>
                  <a:srgbClr val="D9D9D9"/>
                </a:solidFill>
                <a:latin typeface="Agrandir Bold"/>
                <a:ea typeface="Agrandir Bold"/>
                <a:cs typeface="Agrandir Bold"/>
                <a:sym typeface="Agrandir Bold"/>
              </a:rPr>
              <a:t>Dominance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4848" y="2568563"/>
            <a:ext cx="6985795" cy="635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3"/>
              </a:lnSpc>
              <a:spcBef>
                <a:spcPct val="0"/>
              </a:spcBef>
            </a:pPr>
            <a:r>
              <a:rPr lang="en-US" b="true" sz="3841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Phase-2 (Expansion)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54848" y="3162826"/>
            <a:ext cx="765582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9"/>
              </a:lnSpc>
              <a:spcBef>
                <a:spcPct val="0"/>
              </a:spcBef>
            </a:pPr>
            <a:r>
              <a:rPr lang="en-US" b="true" sz="2199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Duration - 2 year (Jan, 2027 to Dec, 2028)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699434" y="3947663"/>
            <a:ext cx="6217648" cy="2132983"/>
            <a:chOff x="0" y="0"/>
            <a:chExt cx="8290197" cy="2843977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8290197" cy="2843977"/>
              <a:chOff x="0" y="0"/>
              <a:chExt cx="1646756" cy="5649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646756" cy="564925"/>
              </a:xfrm>
              <a:custGeom>
                <a:avLst/>
                <a:gdLst/>
                <a:ahLst/>
                <a:cxnLst/>
                <a:rect r="r" b="b" t="t" l="l"/>
                <a:pathLst>
                  <a:path h="564925" w="1646756">
                    <a:moveTo>
                      <a:pt x="43139" y="0"/>
                    </a:moveTo>
                    <a:lnTo>
                      <a:pt x="1603617" y="0"/>
                    </a:lnTo>
                    <a:cubicBezTo>
                      <a:pt x="1615058" y="0"/>
                      <a:pt x="1626031" y="4545"/>
                      <a:pt x="1634121" y="12635"/>
                    </a:cubicBezTo>
                    <a:cubicBezTo>
                      <a:pt x="1642211" y="20725"/>
                      <a:pt x="1646756" y="31698"/>
                      <a:pt x="1646756" y="43139"/>
                    </a:cubicBezTo>
                    <a:lnTo>
                      <a:pt x="1646756" y="521785"/>
                    </a:lnTo>
                    <a:cubicBezTo>
                      <a:pt x="1646756" y="533227"/>
                      <a:pt x="1642211" y="544199"/>
                      <a:pt x="1634121" y="552289"/>
                    </a:cubicBezTo>
                    <a:cubicBezTo>
                      <a:pt x="1626031" y="560380"/>
                      <a:pt x="1615058" y="564925"/>
                      <a:pt x="1603617" y="564925"/>
                    </a:cubicBezTo>
                    <a:lnTo>
                      <a:pt x="43139" y="564925"/>
                    </a:lnTo>
                    <a:cubicBezTo>
                      <a:pt x="31698" y="564925"/>
                      <a:pt x="20725" y="560380"/>
                      <a:pt x="12635" y="552289"/>
                    </a:cubicBezTo>
                    <a:cubicBezTo>
                      <a:pt x="4545" y="544199"/>
                      <a:pt x="0" y="533227"/>
                      <a:pt x="0" y="521785"/>
                    </a:cubicBezTo>
                    <a:lnTo>
                      <a:pt x="0" y="43139"/>
                    </a:lnTo>
                    <a:cubicBezTo>
                      <a:pt x="0" y="31698"/>
                      <a:pt x="4545" y="20725"/>
                      <a:pt x="12635" y="12635"/>
                    </a:cubicBezTo>
                    <a:cubicBezTo>
                      <a:pt x="20725" y="4545"/>
                      <a:pt x="31698" y="0"/>
                      <a:pt x="43139" y="0"/>
                    </a:cubicBezTo>
                    <a:close/>
                  </a:path>
                </a:pathLst>
              </a:custGeom>
              <a:ln w="38100" cap="rnd">
                <a:solidFill>
                  <a:srgbClr val="147138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85725"/>
                <a:ext cx="1646756" cy="650650"/>
              </a:xfrm>
              <a:prstGeom prst="rect">
                <a:avLst/>
              </a:prstGeom>
            </p:spPr>
            <p:txBody>
              <a:bodyPr anchor="ctr" rtlCol="false" tIns="53949" lIns="53949" bIns="53949" rIns="53949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82358" y="287553"/>
              <a:ext cx="7714481" cy="53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10"/>
                </a:lnSpc>
                <a:spcBef>
                  <a:spcPct val="0"/>
                </a:spcBef>
              </a:pPr>
              <a:r>
                <a:rPr lang="en-US" b="true" sz="2486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Targeted Location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70762" y="843236"/>
              <a:ext cx="7714481" cy="1818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6737" indent="-268368" lvl="1">
                <a:lnSpc>
                  <a:spcPts val="2610"/>
                </a:lnSpc>
                <a:buFont typeface="Arial"/>
                <a:buChar char="•"/>
              </a:pPr>
              <a:r>
                <a:rPr lang="en-US" sz="2486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Reach out to 15+ districts </a:t>
              </a:r>
            </a:p>
            <a:p>
              <a:pPr algn="l" marL="536737" indent="-268368" lvl="1">
                <a:lnSpc>
                  <a:spcPts val="2610"/>
                </a:lnSpc>
                <a:buFont typeface="Arial"/>
                <a:buChar char="•"/>
              </a:pPr>
              <a:r>
                <a:rPr lang="en-US" sz="2486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Prioritize rice belt (North), potato belt (Southwest), vegetable zones (East)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99434" y="6177703"/>
            <a:ext cx="6217648" cy="3073762"/>
            <a:chOff x="0" y="0"/>
            <a:chExt cx="8290197" cy="409835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8290197" cy="4098350"/>
              <a:chOff x="0" y="0"/>
              <a:chExt cx="1664418" cy="82282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664418" cy="822823"/>
              </a:xfrm>
              <a:custGeom>
                <a:avLst/>
                <a:gdLst/>
                <a:ahLst/>
                <a:cxnLst/>
                <a:rect r="r" b="b" t="t" l="l"/>
                <a:pathLst>
                  <a:path h="822823" w="1664418">
                    <a:moveTo>
                      <a:pt x="46071" y="0"/>
                    </a:moveTo>
                    <a:lnTo>
                      <a:pt x="1618348" y="0"/>
                    </a:lnTo>
                    <a:cubicBezTo>
                      <a:pt x="1643792" y="0"/>
                      <a:pt x="1664418" y="20627"/>
                      <a:pt x="1664418" y="46071"/>
                    </a:cubicBezTo>
                    <a:lnTo>
                      <a:pt x="1664418" y="776753"/>
                    </a:lnTo>
                    <a:cubicBezTo>
                      <a:pt x="1664418" y="788971"/>
                      <a:pt x="1659565" y="800690"/>
                      <a:pt x="1650925" y="809330"/>
                    </a:cubicBezTo>
                    <a:cubicBezTo>
                      <a:pt x="1642285" y="817970"/>
                      <a:pt x="1630566" y="822823"/>
                      <a:pt x="1618348" y="822823"/>
                    </a:cubicBezTo>
                    <a:lnTo>
                      <a:pt x="46071" y="822823"/>
                    </a:lnTo>
                    <a:cubicBezTo>
                      <a:pt x="20627" y="822823"/>
                      <a:pt x="0" y="802197"/>
                      <a:pt x="0" y="776753"/>
                    </a:cubicBezTo>
                    <a:lnTo>
                      <a:pt x="0" y="46071"/>
                    </a:lnTo>
                    <a:cubicBezTo>
                      <a:pt x="0" y="20627"/>
                      <a:pt x="20627" y="0"/>
                      <a:pt x="46071" y="0"/>
                    </a:cubicBezTo>
                    <a:close/>
                  </a:path>
                </a:pathLst>
              </a:custGeom>
              <a:ln w="38100" cap="rnd">
                <a:solidFill>
                  <a:srgbClr val="147138"/>
                </a:solidFill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85725"/>
                <a:ext cx="1664418" cy="908548"/>
              </a:xfrm>
              <a:prstGeom prst="rect">
                <a:avLst/>
              </a:prstGeom>
            </p:spPr>
            <p:txBody>
              <a:bodyPr anchor="ctr" rtlCol="false" tIns="49981" lIns="49981" bIns="49981" rIns="49981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287858" y="841455"/>
              <a:ext cx="7714481" cy="3064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1041" indent="-265521" lvl="1">
                <a:lnSpc>
                  <a:spcPts val="2582"/>
                </a:lnSpc>
                <a:buFont typeface="Arial"/>
                <a:buChar char="•"/>
              </a:pPr>
              <a:r>
                <a:rPr lang="en-US" sz="245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30,000+ active farmers</a:t>
              </a:r>
            </a:p>
            <a:p>
              <a:pPr algn="l" marL="531041" indent="-265521" lvl="1">
                <a:lnSpc>
                  <a:spcPts val="2582"/>
                </a:lnSpc>
                <a:buFont typeface="Arial"/>
                <a:buChar char="•"/>
              </a:pPr>
              <a:r>
                <a:rPr lang="en-US" sz="245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1000+ machine owners</a:t>
              </a:r>
            </a:p>
            <a:p>
              <a:pPr algn="l" marL="531041" indent="-265521" lvl="1">
                <a:lnSpc>
                  <a:spcPts val="2582"/>
                </a:lnSpc>
                <a:buFont typeface="Arial"/>
                <a:buChar char="•"/>
              </a:pPr>
              <a:r>
                <a:rPr lang="en-US" sz="245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500+ agents</a:t>
              </a:r>
            </a:p>
            <a:p>
              <a:pPr algn="l" marL="531041" indent="-265521" lvl="1">
                <a:lnSpc>
                  <a:spcPts val="2582"/>
                </a:lnSpc>
                <a:buFont typeface="Arial"/>
                <a:buChar char="•"/>
              </a:pPr>
              <a:r>
                <a:rPr lang="en-US" sz="245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100,000 successful rentals</a:t>
              </a:r>
            </a:p>
            <a:p>
              <a:pPr algn="l" marL="531041" indent="-265521" lvl="1">
                <a:lnSpc>
                  <a:spcPts val="2582"/>
                </a:lnSpc>
                <a:buFont typeface="Arial"/>
                <a:buChar char="•"/>
              </a:pPr>
              <a:r>
                <a:rPr lang="en-US" sz="245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Implement solar powered cold storage</a:t>
              </a:r>
            </a:p>
            <a:p>
              <a:pPr algn="l" marL="531041" indent="-265521" lvl="1">
                <a:lnSpc>
                  <a:spcPts val="2582"/>
                </a:lnSpc>
                <a:buFont typeface="Arial"/>
                <a:buChar char="•"/>
              </a:pPr>
              <a:r>
                <a:rPr lang="en-US" sz="245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Build Analytic Dashboard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71712" y="301260"/>
              <a:ext cx="7714481" cy="515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82"/>
                </a:lnSpc>
                <a:spcBef>
                  <a:spcPct val="0"/>
                </a:spcBef>
              </a:pPr>
              <a:r>
                <a:rPr lang="en-US" b="true" sz="2459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Key Milestones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flipV="true">
            <a:off x="8793108" y="3077150"/>
            <a:ext cx="0" cy="6492240"/>
          </a:xfrm>
          <a:prstGeom prst="line">
            <a:avLst/>
          </a:prstGeom>
          <a:ln cap="flat" w="38100">
            <a:solidFill>
              <a:srgbClr val="14713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9050283" y="3015259"/>
            <a:ext cx="5394070" cy="2309093"/>
            <a:chOff x="0" y="0"/>
            <a:chExt cx="7192094" cy="3078791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212671" y="-38100"/>
              <a:ext cx="6979423" cy="5754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87"/>
                </a:lnSpc>
                <a:spcBef>
                  <a:spcPct val="0"/>
                </a:spcBef>
              </a:pPr>
              <a:r>
                <a:rPr lang="en-US" b="true" sz="2654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Strategic Partnerships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579932"/>
              <a:ext cx="7192094" cy="249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00392" indent="-250196" lvl="1">
                <a:lnSpc>
                  <a:spcPts val="2433"/>
                </a:lnSpc>
                <a:buFont typeface="Arial"/>
                <a:buChar char="•"/>
              </a:pPr>
              <a:r>
                <a:rPr lang="en-US" sz="2317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Machinery Manufacturers like ACI, Mahindra etc.</a:t>
              </a:r>
            </a:p>
            <a:p>
              <a:pPr algn="l" marL="500392" indent="-250196" lvl="1">
                <a:lnSpc>
                  <a:spcPts val="2433"/>
                </a:lnSpc>
                <a:buFont typeface="Arial"/>
                <a:buChar char="•"/>
              </a:pPr>
              <a:r>
                <a:rPr lang="en-US" sz="2317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Spare part owners</a:t>
              </a:r>
            </a:p>
            <a:p>
              <a:pPr algn="l" marL="500392" indent="-250196" lvl="1">
                <a:lnSpc>
                  <a:spcPts val="2433"/>
                </a:lnSpc>
                <a:buFont typeface="Arial"/>
                <a:buChar char="•"/>
              </a:pPr>
              <a:r>
                <a:rPr lang="en-US" sz="2317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bKash, Nagad - exclusive payment partnership</a:t>
              </a:r>
            </a:p>
            <a:p>
              <a:pPr algn="l">
                <a:lnSpc>
                  <a:spcPts val="2433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209786" y="5105400"/>
            <a:ext cx="5234567" cy="44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7"/>
              </a:lnSpc>
              <a:spcBef>
                <a:spcPct val="0"/>
              </a:spcBef>
            </a:pPr>
            <a:r>
              <a:rPr lang="en-US" b="true" sz="2654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Marketing Scale-Up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0" y="5565552"/>
            <a:ext cx="5394070" cy="188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0392" indent="-250196" lvl="1">
              <a:lnSpc>
                <a:spcPts val="2433"/>
              </a:lnSpc>
              <a:buFont typeface="Arial"/>
              <a:buChar char="•"/>
            </a:pPr>
            <a:r>
              <a:rPr lang="en-US" sz="2317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Facebook Ads targeting farmers in expansion districts</a:t>
            </a:r>
          </a:p>
          <a:p>
            <a:pPr algn="l" marL="500392" indent="-250196" lvl="1">
              <a:lnSpc>
                <a:spcPts val="2433"/>
              </a:lnSpc>
              <a:buFont typeface="Arial"/>
              <a:buChar char="•"/>
            </a:pPr>
            <a:r>
              <a:rPr lang="en-US" sz="2317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YouTube tutorials and success stories</a:t>
            </a:r>
          </a:p>
          <a:p>
            <a:pPr algn="l" marL="500392" indent="-250196" lvl="1">
              <a:lnSpc>
                <a:spcPts val="2433"/>
              </a:lnSpc>
              <a:buFont typeface="Arial"/>
              <a:buChar char="•"/>
            </a:pPr>
            <a:r>
              <a:rPr lang="en-US" sz="2317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Campaigns during planting/harvesting seasons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10675" y="7534947"/>
            <a:ext cx="5234567" cy="44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7"/>
              </a:lnSpc>
              <a:spcBef>
                <a:spcPct val="0"/>
              </a:spcBef>
            </a:pPr>
            <a:r>
              <a:rPr lang="en-US" b="true" sz="2654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Key Actions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10675" y="7995100"/>
            <a:ext cx="5394070" cy="128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0392" indent="-250196" lvl="1">
              <a:lnSpc>
                <a:spcPts val="2433"/>
              </a:lnSpc>
              <a:buFont typeface="Arial"/>
              <a:buChar char="•"/>
            </a:pPr>
            <a:r>
              <a:rPr lang="en-US" sz="2317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Hire 18 team members</a:t>
            </a:r>
          </a:p>
          <a:p>
            <a:pPr algn="l" marL="500392" indent="-250196" lvl="1">
              <a:lnSpc>
                <a:spcPts val="2433"/>
              </a:lnSpc>
              <a:buFont typeface="Arial"/>
              <a:buChar char="•"/>
            </a:pPr>
            <a:r>
              <a:rPr lang="en-US" sz="2317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Secure a series of funding</a:t>
            </a:r>
          </a:p>
          <a:p>
            <a:pPr algn="l" marL="500392" indent="-250196" lvl="1">
              <a:lnSpc>
                <a:spcPts val="2433"/>
              </a:lnSpc>
              <a:buFont typeface="Arial"/>
              <a:buChar char="•"/>
            </a:pPr>
            <a:r>
              <a:rPr lang="en-US" sz="2317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Upgrade platform (AI Matching, GPS Tracking)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9265339" cy="98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Go-To-Market Strategy</a:t>
            </a:r>
          </a:p>
        </p:txBody>
      </p:sp>
      <p:grpSp>
        <p:nvGrpSpPr>
          <p:cNvPr name="Group 3" id="3"/>
          <p:cNvGrpSpPr/>
          <p:nvPr/>
        </p:nvGrpSpPr>
        <p:grpSpPr>
          <a:xfrm rot="5400000">
            <a:off x="15376912" y="630115"/>
            <a:ext cx="1483803" cy="2280974"/>
            <a:chOff x="0" y="0"/>
            <a:chExt cx="481025" cy="7394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025" cy="739454"/>
            </a:xfrm>
            <a:custGeom>
              <a:avLst/>
              <a:gdLst/>
              <a:ahLst/>
              <a:cxnLst/>
              <a:rect r="r" b="b" t="t" l="l"/>
              <a:pathLst>
                <a:path h="739454" w="481025">
                  <a:moveTo>
                    <a:pt x="277825" y="0"/>
                  </a:moveTo>
                  <a:lnTo>
                    <a:pt x="0" y="0"/>
                  </a:lnTo>
                  <a:lnTo>
                    <a:pt x="0" y="739454"/>
                  </a:lnTo>
                  <a:lnTo>
                    <a:pt x="277825" y="739454"/>
                  </a:lnTo>
                  <a:lnTo>
                    <a:pt x="481025" y="369727"/>
                  </a:lnTo>
                  <a:lnTo>
                    <a:pt x="277825" y="0"/>
                  </a:lnTo>
                  <a:close/>
                </a:path>
              </a:pathLst>
            </a:custGeom>
            <a:solidFill>
              <a:srgbClr val="597B5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366725" cy="825179"/>
            </a:xfrm>
            <a:prstGeom prst="rect">
              <a:avLst/>
            </a:prstGeom>
          </p:spPr>
          <p:txBody>
            <a:bodyPr anchor="ctr" rtlCol="false" tIns="41271" lIns="41271" bIns="41271" rIns="4127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15247485" y="1967981"/>
            <a:ext cx="1742655" cy="2280974"/>
            <a:chOff x="0" y="0"/>
            <a:chExt cx="564940" cy="7394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4940" cy="739454"/>
            </a:xfrm>
            <a:custGeom>
              <a:avLst/>
              <a:gdLst/>
              <a:ahLst/>
              <a:cxnLst/>
              <a:rect r="r" b="b" t="t" l="l"/>
              <a:pathLst>
                <a:path h="739454" w="564940">
                  <a:moveTo>
                    <a:pt x="0" y="0"/>
                  </a:moveTo>
                  <a:lnTo>
                    <a:pt x="361740" y="0"/>
                  </a:lnTo>
                  <a:lnTo>
                    <a:pt x="564940" y="369727"/>
                  </a:lnTo>
                  <a:lnTo>
                    <a:pt x="361740" y="739454"/>
                  </a:lnTo>
                  <a:lnTo>
                    <a:pt x="0" y="739454"/>
                  </a:lnTo>
                  <a:lnTo>
                    <a:pt x="203200" y="3697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7B5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77800" y="-85725"/>
              <a:ext cx="310940" cy="825179"/>
            </a:xfrm>
            <a:prstGeom prst="rect">
              <a:avLst/>
            </a:prstGeom>
          </p:spPr>
          <p:txBody>
            <a:bodyPr anchor="ctr" rtlCol="false" tIns="41271" lIns="41271" bIns="41271" rIns="4127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5247485" y="3443473"/>
            <a:ext cx="1742655" cy="2280974"/>
            <a:chOff x="0" y="0"/>
            <a:chExt cx="564940" cy="7394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4940" cy="739454"/>
            </a:xfrm>
            <a:custGeom>
              <a:avLst/>
              <a:gdLst/>
              <a:ahLst/>
              <a:cxnLst/>
              <a:rect r="r" b="b" t="t" l="l"/>
              <a:pathLst>
                <a:path h="739454" w="564940">
                  <a:moveTo>
                    <a:pt x="0" y="0"/>
                  </a:moveTo>
                  <a:lnTo>
                    <a:pt x="361740" y="0"/>
                  </a:lnTo>
                  <a:lnTo>
                    <a:pt x="564940" y="369727"/>
                  </a:lnTo>
                  <a:lnTo>
                    <a:pt x="361740" y="739454"/>
                  </a:lnTo>
                  <a:lnTo>
                    <a:pt x="0" y="739454"/>
                  </a:lnTo>
                  <a:lnTo>
                    <a:pt x="203200" y="3697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A03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77800" y="-85725"/>
              <a:ext cx="310940" cy="825179"/>
            </a:xfrm>
            <a:prstGeom prst="rect">
              <a:avLst/>
            </a:prstGeom>
          </p:spPr>
          <p:txBody>
            <a:bodyPr anchor="ctr" rtlCol="false" tIns="41271" lIns="41271" bIns="41271" rIns="4127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5287211" y="1284606"/>
            <a:ext cx="1663204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b="true" sz="2199">
                <a:solidFill>
                  <a:srgbClr val="D9D9D9"/>
                </a:solidFill>
                <a:latin typeface="Agrandir Bold"/>
                <a:ea typeface="Agrandir Bold"/>
                <a:cs typeface="Agrandir Bold"/>
                <a:sym typeface="Agrandir Bold"/>
              </a:rPr>
              <a:t>Phase-1</a:t>
            </a:r>
          </a:p>
          <a:p>
            <a:pPr algn="ctr">
              <a:lnSpc>
                <a:spcPts val="2309"/>
              </a:lnSpc>
            </a:pPr>
            <a:r>
              <a:rPr lang="en-US" b="true" sz="2199">
                <a:solidFill>
                  <a:srgbClr val="D9D9D9"/>
                </a:solidFill>
                <a:latin typeface="Agrandir Bold"/>
                <a:ea typeface="Agrandir Bold"/>
                <a:cs typeface="Agrandir Bold"/>
                <a:sym typeface="Agrandir Bold"/>
              </a:rPr>
              <a:t>Pilot Launch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22397" y="2806487"/>
            <a:ext cx="1392833" cy="74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D9D9D9"/>
                </a:solidFill>
                <a:latin typeface="Agrandir Bold"/>
                <a:ea typeface="Agrandir Bold"/>
                <a:cs typeface="Agrandir Bold"/>
                <a:sym typeface="Agrandir Bold"/>
              </a:rPr>
              <a:t>Phase-2</a:t>
            </a:r>
          </a:p>
          <a:p>
            <a:pPr algn="ctr">
              <a:lnSpc>
                <a:spcPts val="1803"/>
              </a:lnSpc>
            </a:pPr>
            <a:r>
              <a:rPr lang="en-US" b="true" sz="2199">
                <a:solidFill>
                  <a:srgbClr val="D9D9D9"/>
                </a:solidFill>
                <a:latin typeface="Agrandir Bold"/>
                <a:ea typeface="Agrandir Bold"/>
                <a:cs typeface="Agrandir Bold"/>
                <a:sym typeface="Agrandir Bold"/>
              </a:rPr>
              <a:t>Expansion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51009" y="4275070"/>
            <a:ext cx="1535609" cy="74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025A2C"/>
                </a:solidFill>
                <a:latin typeface="Agrandir Bold"/>
                <a:ea typeface="Agrandir Bold"/>
                <a:cs typeface="Agrandir Bold"/>
                <a:sym typeface="Agrandir Bold"/>
              </a:rPr>
              <a:t>Phase-3</a:t>
            </a:r>
          </a:p>
          <a:p>
            <a:pPr algn="ctr">
              <a:lnSpc>
                <a:spcPts val="1803"/>
              </a:lnSpc>
            </a:pPr>
            <a:r>
              <a:rPr lang="en-US" b="true" sz="2199">
                <a:solidFill>
                  <a:srgbClr val="025A2C"/>
                </a:solidFill>
                <a:latin typeface="Agrandir Bold"/>
                <a:ea typeface="Agrandir Bold"/>
                <a:cs typeface="Agrandir Bold"/>
                <a:sym typeface="Agrandir Bold"/>
              </a:rPr>
              <a:t>Dominance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554848" y="2625713"/>
            <a:ext cx="7655827" cy="902872"/>
            <a:chOff x="0" y="0"/>
            <a:chExt cx="10207769" cy="120383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57150"/>
              <a:ext cx="9314394" cy="8278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33"/>
                </a:lnSpc>
                <a:spcBef>
                  <a:spcPct val="0"/>
                </a:spcBef>
              </a:pPr>
              <a:r>
                <a:rPr lang="en-US" b="true" sz="3841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Phase-3 (Dominance)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728850"/>
              <a:ext cx="10207769" cy="4749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Duration - 2 year (Jan, 2029 to Dec, 2030)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9434" y="3947663"/>
            <a:ext cx="6217648" cy="1488896"/>
            <a:chOff x="0" y="0"/>
            <a:chExt cx="8290197" cy="1985194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290197" cy="1985194"/>
              <a:chOff x="0" y="0"/>
              <a:chExt cx="1646756" cy="39433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646756" cy="394337"/>
              </a:xfrm>
              <a:custGeom>
                <a:avLst/>
                <a:gdLst/>
                <a:ahLst/>
                <a:cxnLst/>
                <a:rect r="r" b="b" t="t" l="l"/>
                <a:pathLst>
                  <a:path h="394337" w="1646756">
                    <a:moveTo>
                      <a:pt x="43139" y="0"/>
                    </a:moveTo>
                    <a:lnTo>
                      <a:pt x="1603617" y="0"/>
                    </a:lnTo>
                    <a:cubicBezTo>
                      <a:pt x="1615058" y="0"/>
                      <a:pt x="1626031" y="4545"/>
                      <a:pt x="1634121" y="12635"/>
                    </a:cubicBezTo>
                    <a:cubicBezTo>
                      <a:pt x="1642211" y="20725"/>
                      <a:pt x="1646756" y="31698"/>
                      <a:pt x="1646756" y="43139"/>
                    </a:cubicBezTo>
                    <a:lnTo>
                      <a:pt x="1646756" y="351198"/>
                    </a:lnTo>
                    <a:cubicBezTo>
                      <a:pt x="1646756" y="362639"/>
                      <a:pt x="1642211" y="373612"/>
                      <a:pt x="1634121" y="381702"/>
                    </a:cubicBezTo>
                    <a:cubicBezTo>
                      <a:pt x="1626031" y="389792"/>
                      <a:pt x="1615058" y="394337"/>
                      <a:pt x="1603617" y="394337"/>
                    </a:cubicBezTo>
                    <a:lnTo>
                      <a:pt x="43139" y="394337"/>
                    </a:lnTo>
                    <a:cubicBezTo>
                      <a:pt x="31698" y="394337"/>
                      <a:pt x="20725" y="389792"/>
                      <a:pt x="12635" y="381702"/>
                    </a:cubicBezTo>
                    <a:cubicBezTo>
                      <a:pt x="4545" y="373612"/>
                      <a:pt x="0" y="362639"/>
                      <a:pt x="0" y="351198"/>
                    </a:cubicBezTo>
                    <a:lnTo>
                      <a:pt x="0" y="43139"/>
                    </a:lnTo>
                    <a:cubicBezTo>
                      <a:pt x="0" y="31698"/>
                      <a:pt x="4545" y="20725"/>
                      <a:pt x="12635" y="12635"/>
                    </a:cubicBezTo>
                    <a:cubicBezTo>
                      <a:pt x="20725" y="4545"/>
                      <a:pt x="31698" y="0"/>
                      <a:pt x="43139" y="0"/>
                    </a:cubicBezTo>
                    <a:close/>
                  </a:path>
                </a:pathLst>
              </a:custGeom>
              <a:ln w="38100" cap="rnd">
                <a:solidFill>
                  <a:srgbClr val="147138"/>
                </a:soli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85725"/>
                <a:ext cx="1646756" cy="480062"/>
              </a:xfrm>
              <a:prstGeom prst="rect">
                <a:avLst/>
              </a:prstGeom>
            </p:spPr>
            <p:txBody>
              <a:bodyPr anchor="ctr" rtlCol="false" tIns="53949" lIns="53949" bIns="53949" rIns="53949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82358" y="287553"/>
              <a:ext cx="7714481" cy="53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10"/>
                </a:lnSpc>
                <a:spcBef>
                  <a:spcPct val="0"/>
                </a:spcBef>
              </a:pPr>
              <a:r>
                <a:rPr lang="en-US" b="true" sz="2486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Geographic Coverage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70762" y="843236"/>
              <a:ext cx="7714481" cy="9600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6737" indent="-268368" lvl="1">
                <a:lnSpc>
                  <a:spcPts val="2610"/>
                </a:lnSpc>
                <a:buFont typeface="Arial"/>
                <a:buChar char="•"/>
              </a:pPr>
              <a:r>
                <a:rPr lang="en-US" sz="2486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All 40+ districts in Bangladesh</a:t>
              </a:r>
            </a:p>
            <a:p>
              <a:pPr algn="l" marL="536737" indent="-268368" lvl="1">
                <a:lnSpc>
                  <a:spcPts val="2610"/>
                </a:lnSpc>
                <a:buFont typeface="Arial"/>
                <a:buChar char="•"/>
              </a:pPr>
              <a:r>
                <a:rPr lang="en-US" sz="2486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Urban peri-agricultural zones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99434" y="5855659"/>
            <a:ext cx="6217648" cy="3073762"/>
            <a:chOff x="0" y="0"/>
            <a:chExt cx="8290197" cy="409835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8290197" cy="4098350"/>
              <a:chOff x="0" y="0"/>
              <a:chExt cx="1664418" cy="82282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664418" cy="822823"/>
              </a:xfrm>
              <a:custGeom>
                <a:avLst/>
                <a:gdLst/>
                <a:ahLst/>
                <a:cxnLst/>
                <a:rect r="r" b="b" t="t" l="l"/>
                <a:pathLst>
                  <a:path h="822823" w="1664418">
                    <a:moveTo>
                      <a:pt x="46071" y="0"/>
                    </a:moveTo>
                    <a:lnTo>
                      <a:pt x="1618348" y="0"/>
                    </a:lnTo>
                    <a:cubicBezTo>
                      <a:pt x="1643792" y="0"/>
                      <a:pt x="1664418" y="20627"/>
                      <a:pt x="1664418" y="46071"/>
                    </a:cubicBezTo>
                    <a:lnTo>
                      <a:pt x="1664418" y="776753"/>
                    </a:lnTo>
                    <a:cubicBezTo>
                      <a:pt x="1664418" y="788971"/>
                      <a:pt x="1659565" y="800690"/>
                      <a:pt x="1650925" y="809330"/>
                    </a:cubicBezTo>
                    <a:cubicBezTo>
                      <a:pt x="1642285" y="817970"/>
                      <a:pt x="1630566" y="822823"/>
                      <a:pt x="1618348" y="822823"/>
                    </a:cubicBezTo>
                    <a:lnTo>
                      <a:pt x="46071" y="822823"/>
                    </a:lnTo>
                    <a:cubicBezTo>
                      <a:pt x="20627" y="822823"/>
                      <a:pt x="0" y="802197"/>
                      <a:pt x="0" y="776753"/>
                    </a:cubicBezTo>
                    <a:lnTo>
                      <a:pt x="0" y="46071"/>
                    </a:lnTo>
                    <a:cubicBezTo>
                      <a:pt x="0" y="20627"/>
                      <a:pt x="20627" y="0"/>
                      <a:pt x="46071" y="0"/>
                    </a:cubicBezTo>
                    <a:close/>
                  </a:path>
                </a:pathLst>
              </a:custGeom>
              <a:ln w="38100" cap="rnd">
                <a:solidFill>
                  <a:srgbClr val="147138"/>
                </a:soli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85725"/>
                <a:ext cx="1664418" cy="908548"/>
              </a:xfrm>
              <a:prstGeom prst="rect">
                <a:avLst/>
              </a:prstGeom>
            </p:spPr>
            <p:txBody>
              <a:bodyPr anchor="ctr" rtlCol="false" tIns="49981" lIns="49981" bIns="49981" rIns="49981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87858" y="841455"/>
              <a:ext cx="7714481" cy="3064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1041" indent="-265521" lvl="1">
                <a:lnSpc>
                  <a:spcPts val="2582"/>
                </a:lnSpc>
                <a:buFont typeface="Arial"/>
                <a:buChar char="•"/>
              </a:pPr>
              <a:r>
                <a:rPr lang="en-US" sz="245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300,000+ active farmers</a:t>
              </a:r>
            </a:p>
            <a:p>
              <a:pPr algn="l" marL="531041" indent="-265521" lvl="1">
                <a:lnSpc>
                  <a:spcPts val="2582"/>
                </a:lnSpc>
                <a:buFont typeface="Arial"/>
                <a:buChar char="•"/>
              </a:pPr>
              <a:r>
                <a:rPr lang="en-US" sz="245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5,000+ machinery owners and agri-entrepreneurs</a:t>
              </a:r>
            </a:p>
            <a:p>
              <a:pPr algn="l" marL="531041" indent="-265521" lvl="1">
                <a:lnSpc>
                  <a:spcPts val="2582"/>
                </a:lnSpc>
                <a:buFont typeface="Arial"/>
                <a:buChar char="•"/>
              </a:pPr>
              <a:r>
                <a:rPr lang="en-US" sz="245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800,000+ successful rentals</a:t>
              </a:r>
            </a:p>
            <a:p>
              <a:pPr algn="l" marL="531041" indent="-265521" lvl="1">
                <a:lnSpc>
                  <a:spcPts val="2582"/>
                </a:lnSpc>
                <a:buFont typeface="Arial"/>
                <a:buChar char="•"/>
              </a:pPr>
              <a:r>
                <a:rPr lang="en-US" sz="245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500+ cold storage units</a:t>
              </a:r>
            </a:p>
            <a:p>
              <a:pPr algn="l" marL="531041" indent="-265521" lvl="1">
                <a:lnSpc>
                  <a:spcPts val="2582"/>
                </a:lnSpc>
                <a:buFont typeface="Arial"/>
                <a:buChar char="•"/>
              </a:pPr>
              <a:r>
                <a:rPr lang="en-US" sz="2459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Market leader position in agri-machinary rentals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71712" y="301260"/>
              <a:ext cx="7714481" cy="515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82"/>
                </a:lnSpc>
                <a:spcBef>
                  <a:spcPct val="0"/>
                </a:spcBef>
              </a:pPr>
              <a:r>
                <a:rPr lang="en-US" b="true" sz="2459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Key Milestones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flipV="true">
            <a:off x="8793108" y="3077150"/>
            <a:ext cx="0" cy="6492240"/>
          </a:xfrm>
          <a:prstGeom prst="line">
            <a:avLst/>
          </a:prstGeom>
          <a:ln cap="flat" w="38100">
            <a:solidFill>
              <a:srgbClr val="14713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9050283" y="2873162"/>
            <a:ext cx="5394070" cy="2609330"/>
            <a:chOff x="0" y="0"/>
            <a:chExt cx="7192094" cy="3479106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212671" y="-38100"/>
              <a:ext cx="6979423" cy="5754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87"/>
                </a:lnSpc>
                <a:spcBef>
                  <a:spcPct val="0"/>
                </a:spcBef>
              </a:pPr>
              <a:r>
                <a:rPr lang="en-US" b="true" sz="2654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Marketplace Expansion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579932"/>
              <a:ext cx="7192094" cy="2899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00392" indent="-250196" lvl="1">
                <a:lnSpc>
                  <a:spcPts val="2433"/>
                </a:lnSpc>
                <a:buFont typeface="Arial"/>
                <a:buChar char="•"/>
              </a:pPr>
              <a:r>
                <a:rPr lang="en-US" sz="2317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Add seeds, fertilizers and pesticides, One Stop Solution</a:t>
              </a:r>
            </a:p>
            <a:p>
              <a:pPr algn="l" marL="500392" indent="-250196" lvl="1">
                <a:lnSpc>
                  <a:spcPts val="2433"/>
                </a:lnSpc>
                <a:buFont typeface="Arial"/>
                <a:buChar char="•"/>
              </a:pPr>
              <a:r>
                <a:rPr lang="en-US" sz="2317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Connect farmers to buyers/wholesalers</a:t>
              </a:r>
            </a:p>
            <a:p>
              <a:pPr algn="l" marL="500392" indent="-250196" lvl="1">
                <a:lnSpc>
                  <a:spcPts val="2433"/>
                </a:lnSpc>
                <a:buFont typeface="Arial"/>
                <a:buChar char="•"/>
              </a:pPr>
              <a:r>
                <a:rPr lang="en-US" sz="2317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Transportation Service</a:t>
              </a:r>
            </a:p>
            <a:p>
              <a:pPr algn="l" marL="500392" indent="-250196" lvl="1">
                <a:lnSpc>
                  <a:spcPts val="2433"/>
                </a:lnSpc>
                <a:buFont typeface="Arial"/>
                <a:buChar char="•"/>
              </a:pPr>
              <a:r>
                <a:rPr lang="en-US" sz="2317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Agronomists Consultation (subscription model)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050283" y="5642725"/>
            <a:ext cx="5394070" cy="2008857"/>
            <a:chOff x="0" y="0"/>
            <a:chExt cx="7192094" cy="2678476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212671" y="-38100"/>
              <a:ext cx="6979423" cy="5754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87"/>
                </a:lnSpc>
                <a:spcBef>
                  <a:spcPct val="0"/>
                </a:spcBef>
              </a:pPr>
              <a:r>
                <a:rPr lang="en-US" b="true" sz="2654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Technology Platform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579932"/>
              <a:ext cx="7192094" cy="2098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00392" indent="-250196" lvl="1">
                <a:lnSpc>
                  <a:spcPts val="2433"/>
                </a:lnSpc>
                <a:buFont typeface="Arial"/>
                <a:buChar char="•"/>
              </a:pPr>
              <a:r>
                <a:rPr lang="en-US" sz="2317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AI powered Agriculture</a:t>
              </a:r>
            </a:p>
            <a:p>
              <a:pPr algn="l" marL="500392" indent="-250196" lvl="1">
                <a:lnSpc>
                  <a:spcPts val="2433"/>
                </a:lnSpc>
                <a:buFont typeface="Arial"/>
                <a:buChar char="•"/>
              </a:pPr>
              <a:r>
                <a:rPr lang="en-US" sz="2317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Crop planning recommendation</a:t>
              </a:r>
            </a:p>
            <a:p>
              <a:pPr algn="l" marL="500392" indent="-250196" lvl="1">
                <a:lnSpc>
                  <a:spcPts val="2433"/>
                </a:lnSpc>
                <a:buFont typeface="Arial"/>
                <a:buChar char="•"/>
              </a:pPr>
              <a:r>
                <a:rPr lang="en-US" sz="2317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Weather-based optimal timing alerts</a:t>
              </a:r>
            </a:p>
            <a:p>
              <a:pPr algn="l" marL="500392" indent="-250196" lvl="1">
                <a:lnSpc>
                  <a:spcPts val="2433"/>
                </a:lnSpc>
                <a:buFont typeface="Arial"/>
                <a:buChar char="•"/>
              </a:pPr>
              <a:r>
                <a:rPr lang="en-US" sz="2317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Pest/Disease early warning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50283" y="7849915"/>
            <a:ext cx="5394070" cy="1708621"/>
            <a:chOff x="0" y="0"/>
            <a:chExt cx="7192094" cy="2278161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212671" y="-38100"/>
              <a:ext cx="6979423" cy="5754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87"/>
                </a:lnSpc>
                <a:spcBef>
                  <a:spcPct val="0"/>
                </a:spcBef>
              </a:pPr>
              <a:r>
                <a:rPr lang="en-US" b="true" sz="2654">
                  <a:solidFill>
                    <a:srgbClr val="147138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Key Actions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0" y="579932"/>
              <a:ext cx="7192094" cy="16982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00392" indent="-250196" lvl="1">
                <a:lnSpc>
                  <a:spcPts val="2433"/>
                </a:lnSpc>
                <a:buFont typeface="Arial"/>
                <a:buChar char="•"/>
              </a:pPr>
              <a:r>
                <a:rPr lang="en-US" sz="2317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Digital Marketing Campaign</a:t>
              </a:r>
            </a:p>
            <a:p>
              <a:pPr algn="l" marL="500392" indent="-250196" lvl="1">
                <a:lnSpc>
                  <a:spcPts val="2433"/>
                </a:lnSpc>
                <a:buFont typeface="Arial"/>
                <a:buChar char="•"/>
              </a:pPr>
              <a:r>
                <a:rPr lang="en-US" sz="2317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Fund raising</a:t>
              </a:r>
            </a:p>
            <a:p>
              <a:pPr algn="l" marL="500392" indent="-250196" lvl="1">
                <a:lnSpc>
                  <a:spcPts val="2433"/>
                </a:lnSpc>
                <a:buFont typeface="Arial"/>
                <a:buChar char="•"/>
              </a:pPr>
              <a:r>
                <a:rPr lang="en-US" sz="2317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Establish 5 Regional Hub Offices</a:t>
              </a:r>
            </a:p>
            <a:p>
              <a:pPr algn="l" marL="500392" indent="-250196" lvl="1">
                <a:lnSpc>
                  <a:spcPts val="2433"/>
                </a:lnSpc>
                <a:buFont typeface="Arial"/>
                <a:buChar char="•"/>
              </a:pPr>
              <a:r>
                <a:rPr lang="en-US" sz="2317">
                  <a:solidFill>
                    <a:srgbClr val="147138"/>
                  </a:solidFill>
                  <a:latin typeface="Agrandir"/>
                  <a:ea typeface="Agrandir"/>
                  <a:cs typeface="Agrandir"/>
                  <a:sym typeface="Agrandir"/>
                </a:rPr>
                <a:t>Hire 40 total team members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10572087" cy="98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Impact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6722752" y="5068578"/>
            <a:ext cx="464785" cy="731316"/>
          </a:xfrm>
          <a:prstGeom prst="line">
            <a:avLst/>
          </a:prstGeom>
          <a:ln cap="rnd" w="66675">
            <a:solidFill>
              <a:srgbClr val="BEC8DB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62834" y="2223413"/>
            <a:ext cx="7034887" cy="703488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" cap="sq">
              <a:solidFill>
                <a:srgbClr val="147138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 flipV="true">
            <a:off x="5206751" y="8000649"/>
            <a:ext cx="865302" cy="553923"/>
          </a:xfrm>
          <a:prstGeom prst="line">
            <a:avLst/>
          </a:prstGeom>
          <a:ln cap="rnd" w="66675">
            <a:solidFill>
              <a:srgbClr val="BEC8DB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206751" y="4988015"/>
            <a:ext cx="1501581" cy="150158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A032"/>
            </a:solidFill>
            <a:ln w="123825" cap="sq">
              <a:solidFill>
                <a:srgbClr val="FAFFD7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9577" lIns="49577" bIns="49577" rIns="49577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705169" y="2047577"/>
            <a:ext cx="1501581" cy="150158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A032"/>
            </a:solidFill>
            <a:ln w="123825" cap="sq">
              <a:solidFill>
                <a:srgbClr val="FAFFD7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9577" lIns="49577" bIns="49577" rIns="49577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705169" y="7803781"/>
            <a:ext cx="1501581" cy="150158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A032"/>
            </a:solidFill>
            <a:ln w="123825" cap="sq">
              <a:solidFill>
                <a:srgbClr val="FAFFD7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49577" lIns="49577" bIns="49577" rIns="49577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true" rot="0">
            <a:off x="6072053" y="1485900"/>
            <a:ext cx="3531338" cy="244355"/>
          </a:xfrm>
          <a:custGeom>
            <a:avLst/>
            <a:gdLst/>
            <a:ahLst/>
            <a:cxnLst/>
            <a:rect r="r" b="b" t="t" l="l"/>
            <a:pathLst>
              <a:path h="244355" w="3531338">
                <a:moveTo>
                  <a:pt x="0" y="244356"/>
                </a:moveTo>
                <a:lnTo>
                  <a:pt x="3531338" y="244356"/>
                </a:lnTo>
                <a:lnTo>
                  <a:pt x="3531338" y="0"/>
                </a:lnTo>
                <a:lnTo>
                  <a:pt x="0" y="0"/>
                </a:lnTo>
                <a:lnTo>
                  <a:pt x="0" y="244356"/>
                </a:lnTo>
                <a:close/>
              </a:path>
            </a:pathLst>
          </a:custGeom>
          <a:blipFill>
            <a:blip r:embed="rId2"/>
            <a:stretch>
              <a:fillRect l="-1678" t="-71094" r="-1678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true" rot="0">
            <a:off x="7187538" y="4436819"/>
            <a:ext cx="3531338" cy="244355"/>
          </a:xfrm>
          <a:custGeom>
            <a:avLst/>
            <a:gdLst/>
            <a:ahLst/>
            <a:cxnLst/>
            <a:rect r="r" b="b" t="t" l="l"/>
            <a:pathLst>
              <a:path h="244355" w="3531338">
                <a:moveTo>
                  <a:pt x="0" y="244355"/>
                </a:moveTo>
                <a:lnTo>
                  <a:pt x="3531338" y="244355"/>
                </a:lnTo>
                <a:lnTo>
                  <a:pt x="3531338" y="0"/>
                </a:lnTo>
                <a:lnTo>
                  <a:pt x="0" y="0"/>
                </a:lnTo>
                <a:lnTo>
                  <a:pt x="0" y="244355"/>
                </a:lnTo>
                <a:close/>
              </a:path>
            </a:pathLst>
          </a:custGeom>
          <a:blipFill>
            <a:blip r:embed="rId2"/>
            <a:stretch>
              <a:fillRect l="-1678" t="-71094" r="-1678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0">
            <a:off x="6072053" y="7387737"/>
            <a:ext cx="3531338" cy="244355"/>
          </a:xfrm>
          <a:custGeom>
            <a:avLst/>
            <a:gdLst/>
            <a:ahLst/>
            <a:cxnLst/>
            <a:rect r="r" b="b" t="t" l="l"/>
            <a:pathLst>
              <a:path h="244355" w="3531338">
                <a:moveTo>
                  <a:pt x="0" y="244355"/>
                </a:moveTo>
                <a:lnTo>
                  <a:pt x="3531338" y="244355"/>
                </a:lnTo>
                <a:lnTo>
                  <a:pt x="3531338" y="0"/>
                </a:lnTo>
                <a:lnTo>
                  <a:pt x="0" y="0"/>
                </a:lnTo>
                <a:lnTo>
                  <a:pt x="0" y="244355"/>
                </a:lnTo>
                <a:close/>
              </a:path>
            </a:pathLst>
          </a:custGeom>
          <a:blipFill>
            <a:blip r:embed="rId2"/>
            <a:stretch>
              <a:fillRect l="-1678" t="-71094" r="-1678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6072053" y="1608078"/>
            <a:ext cx="5895781" cy="2481797"/>
            <a:chOff x="0" y="0"/>
            <a:chExt cx="1717203" cy="7228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17204" cy="722847"/>
            </a:xfrm>
            <a:custGeom>
              <a:avLst/>
              <a:gdLst/>
              <a:ahLst/>
              <a:cxnLst/>
              <a:rect r="r" b="b" t="t" l="l"/>
              <a:pathLst>
                <a:path h="722847" w="1717204">
                  <a:moveTo>
                    <a:pt x="28889" y="0"/>
                  </a:moveTo>
                  <a:lnTo>
                    <a:pt x="1688315" y="0"/>
                  </a:lnTo>
                  <a:cubicBezTo>
                    <a:pt x="1695977" y="0"/>
                    <a:pt x="1703325" y="3044"/>
                    <a:pt x="1708742" y="8461"/>
                  </a:cubicBezTo>
                  <a:cubicBezTo>
                    <a:pt x="1714160" y="13879"/>
                    <a:pt x="1717204" y="21227"/>
                    <a:pt x="1717204" y="28889"/>
                  </a:cubicBezTo>
                  <a:lnTo>
                    <a:pt x="1717204" y="693959"/>
                  </a:lnTo>
                  <a:cubicBezTo>
                    <a:pt x="1717204" y="709913"/>
                    <a:pt x="1704270" y="722847"/>
                    <a:pt x="1688315" y="722847"/>
                  </a:cubicBezTo>
                  <a:lnTo>
                    <a:pt x="28889" y="722847"/>
                  </a:lnTo>
                  <a:cubicBezTo>
                    <a:pt x="21227" y="722847"/>
                    <a:pt x="13879" y="719804"/>
                    <a:pt x="8461" y="714386"/>
                  </a:cubicBezTo>
                  <a:cubicBezTo>
                    <a:pt x="3044" y="708968"/>
                    <a:pt x="0" y="701620"/>
                    <a:pt x="0" y="693959"/>
                  </a:cubicBezTo>
                  <a:lnTo>
                    <a:pt x="0" y="28889"/>
                  </a:lnTo>
                  <a:cubicBezTo>
                    <a:pt x="0" y="12934"/>
                    <a:pt x="12934" y="0"/>
                    <a:pt x="28889" y="0"/>
                  </a:cubicBezTo>
                  <a:close/>
                </a:path>
              </a:pathLst>
            </a:custGeom>
            <a:solidFill>
              <a:srgbClr val="FAFFD7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717203" cy="770472"/>
            </a:xfrm>
            <a:prstGeom prst="rect">
              <a:avLst/>
            </a:prstGeom>
          </p:spPr>
          <p:txBody>
            <a:bodyPr anchor="ctr" rtlCol="false" tIns="49577" lIns="49577" bIns="49577" rIns="49577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187538" y="4558996"/>
            <a:ext cx="6339114" cy="2481797"/>
            <a:chOff x="0" y="0"/>
            <a:chExt cx="1846328" cy="7228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46328" cy="722847"/>
            </a:xfrm>
            <a:custGeom>
              <a:avLst/>
              <a:gdLst/>
              <a:ahLst/>
              <a:cxnLst/>
              <a:rect r="r" b="b" t="t" l="l"/>
              <a:pathLst>
                <a:path h="722847" w="1846328">
                  <a:moveTo>
                    <a:pt x="26868" y="0"/>
                  </a:moveTo>
                  <a:lnTo>
                    <a:pt x="1819460" y="0"/>
                  </a:lnTo>
                  <a:cubicBezTo>
                    <a:pt x="1826586" y="0"/>
                    <a:pt x="1833420" y="2831"/>
                    <a:pt x="1838459" y="7870"/>
                  </a:cubicBezTo>
                  <a:cubicBezTo>
                    <a:pt x="1843498" y="12908"/>
                    <a:pt x="1846328" y="19743"/>
                    <a:pt x="1846328" y="26868"/>
                  </a:cubicBezTo>
                  <a:lnTo>
                    <a:pt x="1846328" y="695979"/>
                  </a:lnTo>
                  <a:cubicBezTo>
                    <a:pt x="1846328" y="710818"/>
                    <a:pt x="1834299" y="722847"/>
                    <a:pt x="1819460" y="722847"/>
                  </a:cubicBezTo>
                  <a:lnTo>
                    <a:pt x="26868" y="722847"/>
                  </a:lnTo>
                  <a:cubicBezTo>
                    <a:pt x="19743" y="722847"/>
                    <a:pt x="12908" y="720017"/>
                    <a:pt x="7870" y="714978"/>
                  </a:cubicBezTo>
                  <a:cubicBezTo>
                    <a:pt x="2831" y="709939"/>
                    <a:pt x="0" y="703105"/>
                    <a:pt x="0" y="695979"/>
                  </a:cubicBezTo>
                  <a:lnTo>
                    <a:pt x="0" y="26868"/>
                  </a:lnTo>
                  <a:cubicBezTo>
                    <a:pt x="0" y="19743"/>
                    <a:pt x="2831" y="12908"/>
                    <a:pt x="7870" y="7870"/>
                  </a:cubicBezTo>
                  <a:cubicBezTo>
                    <a:pt x="12908" y="2831"/>
                    <a:pt x="19743" y="0"/>
                    <a:pt x="26868" y="0"/>
                  </a:cubicBezTo>
                  <a:close/>
                </a:path>
              </a:pathLst>
            </a:custGeom>
            <a:solidFill>
              <a:srgbClr val="FAFFD7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846328" cy="770472"/>
            </a:xfrm>
            <a:prstGeom prst="rect">
              <a:avLst/>
            </a:prstGeom>
          </p:spPr>
          <p:txBody>
            <a:bodyPr anchor="ctr" rtlCol="false" tIns="49577" lIns="49577" bIns="49577" rIns="49577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072053" y="7509915"/>
            <a:ext cx="5895781" cy="2481797"/>
            <a:chOff x="0" y="0"/>
            <a:chExt cx="1717203" cy="7228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17204" cy="722847"/>
            </a:xfrm>
            <a:custGeom>
              <a:avLst/>
              <a:gdLst/>
              <a:ahLst/>
              <a:cxnLst/>
              <a:rect r="r" b="b" t="t" l="l"/>
              <a:pathLst>
                <a:path h="722847" w="1717204">
                  <a:moveTo>
                    <a:pt x="28889" y="0"/>
                  </a:moveTo>
                  <a:lnTo>
                    <a:pt x="1688315" y="0"/>
                  </a:lnTo>
                  <a:cubicBezTo>
                    <a:pt x="1695977" y="0"/>
                    <a:pt x="1703325" y="3044"/>
                    <a:pt x="1708742" y="8461"/>
                  </a:cubicBezTo>
                  <a:cubicBezTo>
                    <a:pt x="1714160" y="13879"/>
                    <a:pt x="1717204" y="21227"/>
                    <a:pt x="1717204" y="28889"/>
                  </a:cubicBezTo>
                  <a:lnTo>
                    <a:pt x="1717204" y="693959"/>
                  </a:lnTo>
                  <a:cubicBezTo>
                    <a:pt x="1717204" y="709913"/>
                    <a:pt x="1704270" y="722847"/>
                    <a:pt x="1688315" y="722847"/>
                  </a:cubicBezTo>
                  <a:lnTo>
                    <a:pt x="28889" y="722847"/>
                  </a:lnTo>
                  <a:cubicBezTo>
                    <a:pt x="21227" y="722847"/>
                    <a:pt x="13879" y="719804"/>
                    <a:pt x="8461" y="714386"/>
                  </a:cubicBezTo>
                  <a:cubicBezTo>
                    <a:pt x="3044" y="708968"/>
                    <a:pt x="0" y="701620"/>
                    <a:pt x="0" y="693959"/>
                  </a:cubicBezTo>
                  <a:lnTo>
                    <a:pt x="0" y="28889"/>
                  </a:lnTo>
                  <a:cubicBezTo>
                    <a:pt x="0" y="12934"/>
                    <a:pt x="12934" y="0"/>
                    <a:pt x="28889" y="0"/>
                  </a:cubicBezTo>
                  <a:close/>
                </a:path>
              </a:pathLst>
            </a:custGeom>
            <a:solidFill>
              <a:srgbClr val="FAFFD7"/>
            </a:solidFill>
            <a:ln w="47625" cap="rnd">
              <a:solidFill>
                <a:srgbClr val="147138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717203" cy="770472"/>
            </a:xfrm>
            <a:prstGeom prst="rect">
              <a:avLst/>
            </a:prstGeom>
          </p:spPr>
          <p:txBody>
            <a:bodyPr anchor="ctr" rtlCol="false" tIns="49577" lIns="49577" bIns="49577" rIns="49577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 flipV="true">
            <a:off x="5206751" y="2145061"/>
            <a:ext cx="865302" cy="653308"/>
          </a:xfrm>
          <a:prstGeom prst="line">
            <a:avLst/>
          </a:prstGeom>
          <a:ln cap="rnd" w="66675">
            <a:solidFill>
              <a:srgbClr val="BEC8DB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4061967" y="2399265"/>
            <a:ext cx="768935" cy="752595"/>
          </a:xfrm>
          <a:custGeom>
            <a:avLst/>
            <a:gdLst/>
            <a:ahLst/>
            <a:cxnLst/>
            <a:rect r="r" b="b" t="t" l="l"/>
            <a:pathLst>
              <a:path h="752595" w="768935">
                <a:moveTo>
                  <a:pt x="0" y="0"/>
                </a:moveTo>
                <a:lnTo>
                  <a:pt x="768936" y="0"/>
                </a:lnTo>
                <a:lnTo>
                  <a:pt x="768936" y="752595"/>
                </a:lnTo>
                <a:lnTo>
                  <a:pt x="0" y="7525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570080" y="5340900"/>
            <a:ext cx="774923" cy="795813"/>
          </a:xfrm>
          <a:custGeom>
            <a:avLst/>
            <a:gdLst/>
            <a:ahLst/>
            <a:cxnLst/>
            <a:rect r="r" b="b" t="t" l="l"/>
            <a:pathLst>
              <a:path h="795813" w="774923">
                <a:moveTo>
                  <a:pt x="0" y="0"/>
                </a:moveTo>
                <a:lnTo>
                  <a:pt x="774923" y="0"/>
                </a:lnTo>
                <a:lnTo>
                  <a:pt x="774923" y="795812"/>
                </a:lnTo>
                <a:lnTo>
                  <a:pt x="0" y="7958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031539" y="8179489"/>
            <a:ext cx="848843" cy="750165"/>
          </a:xfrm>
          <a:custGeom>
            <a:avLst/>
            <a:gdLst/>
            <a:ahLst/>
            <a:cxnLst/>
            <a:rect r="r" b="b" t="t" l="l"/>
            <a:pathLst>
              <a:path h="750165" w="848843">
                <a:moveTo>
                  <a:pt x="0" y="0"/>
                </a:moveTo>
                <a:lnTo>
                  <a:pt x="848842" y="0"/>
                </a:lnTo>
                <a:lnTo>
                  <a:pt x="848842" y="750165"/>
                </a:lnTo>
                <a:lnTo>
                  <a:pt x="0" y="7501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633982" y="3820229"/>
            <a:ext cx="3841255" cy="384125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20" t="0" r="-2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6460050" y="1824405"/>
            <a:ext cx="2755344" cy="46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b="true" sz="2356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Economic Impact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601751" y="4779420"/>
            <a:ext cx="2755344" cy="46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b="true" sz="2356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Social Impact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460050" y="7765206"/>
            <a:ext cx="3666639" cy="46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  <a:spcBef>
                <a:spcPct val="0"/>
              </a:spcBef>
            </a:pPr>
            <a:r>
              <a:rPr lang="en-US" b="true" sz="2356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Environmental Impact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172907" y="2342115"/>
            <a:ext cx="6084974" cy="1562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4525" indent="-247263" lvl="1">
              <a:lnSpc>
                <a:spcPts val="3206"/>
              </a:lnSpc>
              <a:buFont typeface="Arial"/>
              <a:buChar char="•"/>
            </a:pPr>
            <a:r>
              <a:rPr lang="en-US" sz="2290">
                <a:solidFill>
                  <a:srgbClr val="147138"/>
                </a:solidFill>
                <a:latin typeface="TT Hoves"/>
                <a:ea typeface="TT Hoves"/>
                <a:cs typeface="TT Hoves"/>
                <a:sym typeface="TT Hoves"/>
              </a:rPr>
              <a:t>20-30% reduction in production cost</a:t>
            </a:r>
          </a:p>
          <a:p>
            <a:pPr algn="l" marL="494525" indent="-247263" lvl="1">
              <a:lnSpc>
                <a:spcPts val="3206"/>
              </a:lnSpc>
              <a:buFont typeface="Arial"/>
              <a:buChar char="•"/>
            </a:pPr>
            <a:r>
              <a:rPr lang="en-US" sz="2290">
                <a:solidFill>
                  <a:srgbClr val="147138"/>
                </a:solidFill>
                <a:latin typeface="TT Hoves"/>
                <a:ea typeface="TT Hoves"/>
                <a:cs typeface="TT Hoves"/>
                <a:sym typeface="TT Hoves"/>
              </a:rPr>
              <a:t>15-20% increase in net income</a:t>
            </a:r>
          </a:p>
          <a:p>
            <a:pPr algn="l" marL="472936" indent="-236468" lvl="1">
              <a:lnSpc>
                <a:spcPts val="3066"/>
              </a:lnSpc>
              <a:buFont typeface="Arial"/>
              <a:buChar char="•"/>
            </a:pPr>
            <a:r>
              <a:rPr lang="en-US" sz="2190">
                <a:solidFill>
                  <a:srgbClr val="147138"/>
                </a:solidFill>
                <a:latin typeface="TT Hoves"/>
                <a:ea typeface="TT Hoves"/>
                <a:cs typeface="TT Hoves"/>
                <a:sym typeface="TT Hoves"/>
              </a:rPr>
              <a:t>Transforms idle assets into steady income streams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314608" y="5231171"/>
            <a:ext cx="6084974" cy="1599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4525" indent="-247263" lvl="1">
              <a:lnSpc>
                <a:spcPts val="3206"/>
              </a:lnSpc>
              <a:buFont typeface="Arial"/>
              <a:buChar char="•"/>
            </a:pPr>
            <a:r>
              <a:rPr lang="en-US" sz="2290">
                <a:solidFill>
                  <a:srgbClr val="147138"/>
                </a:solidFill>
                <a:latin typeface="TT Hoves"/>
                <a:ea typeface="TT Hoves"/>
                <a:cs typeface="TT Hoves"/>
                <a:sym typeface="TT Hoves"/>
              </a:rPr>
              <a:t>Reduce national post harvest loss</a:t>
            </a:r>
          </a:p>
          <a:p>
            <a:pPr algn="l" marL="494525" indent="-247263" lvl="1">
              <a:lnSpc>
                <a:spcPts val="3206"/>
              </a:lnSpc>
              <a:buFont typeface="Arial"/>
              <a:buChar char="•"/>
            </a:pPr>
            <a:r>
              <a:rPr lang="en-US" sz="2290">
                <a:solidFill>
                  <a:srgbClr val="147138"/>
                </a:solidFill>
                <a:latin typeface="TT Hoves"/>
                <a:ea typeface="TT Hoves"/>
                <a:cs typeface="TT Hoves"/>
                <a:sym typeface="TT Hoves"/>
              </a:rPr>
              <a:t>Rural employment creation</a:t>
            </a:r>
          </a:p>
          <a:p>
            <a:pPr algn="l" marL="494525" indent="-247263" lvl="1">
              <a:lnSpc>
                <a:spcPts val="3206"/>
              </a:lnSpc>
              <a:buFont typeface="Arial"/>
              <a:buChar char="•"/>
            </a:pPr>
            <a:r>
              <a:rPr lang="en-US" sz="2290">
                <a:solidFill>
                  <a:srgbClr val="147138"/>
                </a:solidFill>
                <a:latin typeface="TT Hoves"/>
                <a:ea typeface="TT Hoves"/>
                <a:cs typeface="TT Hoves"/>
                <a:sym typeface="TT Hoves"/>
              </a:rPr>
              <a:t>Empowers smallholder by democratizing access to technology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158663" y="8219697"/>
            <a:ext cx="6084974" cy="1599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4525" indent="-247263" lvl="1">
              <a:lnSpc>
                <a:spcPts val="3206"/>
              </a:lnSpc>
              <a:buFont typeface="Arial"/>
              <a:buChar char="•"/>
            </a:pPr>
            <a:r>
              <a:rPr lang="en-US" sz="2290">
                <a:solidFill>
                  <a:srgbClr val="147138"/>
                </a:solidFill>
                <a:latin typeface="TT Hoves"/>
                <a:ea typeface="TT Hoves"/>
                <a:cs typeface="TT Hoves"/>
                <a:sym typeface="TT Hoves"/>
              </a:rPr>
              <a:t>Better equipment allows for 3 crops/year instead of 2 on the same land</a:t>
            </a:r>
          </a:p>
          <a:p>
            <a:pPr algn="l" marL="494525" indent="-247263" lvl="1">
              <a:lnSpc>
                <a:spcPts val="3206"/>
              </a:lnSpc>
              <a:buFont typeface="Arial"/>
              <a:buChar char="•"/>
            </a:pPr>
            <a:r>
              <a:rPr lang="en-US" sz="2290">
                <a:solidFill>
                  <a:srgbClr val="147138"/>
                </a:solidFill>
                <a:latin typeface="TT Hoves"/>
                <a:ea typeface="TT Hoves"/>
                <a:cs typeface="TT Hoves"/>
                <a:sym typeface="TT Hoves"/>
              </a:rPr>
              <a:t>Address the 5.13M tones wasted</a:t>
            </a:r>
          </a:p>
          <a:p>
            <a:pPr algn="l">
              <a:lnSpc>
                <a:spcPts val="3206"/>
              </a:lnSpc>
            </a:pPr>
            <a:r>
              <a:rPr lang="en-US" sz="2290">
                <a:solidFill>
                  <a:srgbClr val="147138"/>
                </a:solidFill>
                <a:latin typeface="TT Hoves"/>
                <a:ea typeface="TT Hoves"/>
                <a:cs typeface="TT Hoves"/>
                <a:sym typeface="TT Hoves"/>
              </a:rPr>
              <a:t>       annually from 52.57M tones produced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5041127" y="2047577"/>
            <a:ext cx="2296071" cy="7367945"/>
            <a:chOff x="0" y="0"/>
            <a:chExt cx="3061428" cy="982392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61609" cy="2957907"/>
            </a:xfrm>
            <a:custGeom>
              <a:avLst/>
              <a:gdLst/>
              <a:ahLst/>
              <a:cxnLst/>
              <a:rect r="r" b="b" t="t" l="l"/>
              <a:pathLst>
                <a:path h="2957907" w="2961609">
                  <a:moveTo>
                    <a:pt x="0" y="0"/>
                  </a:moveTo>
                  <a:lnTo>
                    <a:pt x="2961609" y="0"/>
                  </a:lnTo>
                  <a:lnTo>
                    <a:pt x="2961609" y="2957907"/>
                  </a:lnTo>
                  <a:lnTo>
                    <a:pt x="0" y="2957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553603" y="551752"/>
              <a:ext cx="1854402" cy="1854402"/>
            </a:xfrm>
            <a:custGeom>
              <a:avLst/>
              <a:gdLst/>
              <a:ahLst/>
              <a:cxnLst/>
              <a:rect r="r" b="b" t="t" l="l"/>
              <a:pathLst>
                <a:path h="1854402" w="1854402">
                  <a:moveTo>
                    <a:pt x="0" y="0"/>
                  </a:moveTo>
                  <a:lnTo>
                    <a:pt x="1854402" y="0"/>
                  </a:lnTo>
                  <a:lnTo>
                    <a:pt x="1854402" y="1854402"/>
                  </a:lnTo>
                  <a:lnTo>
                    <a:pt x="0" y="1854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3393245"/>
              <a:ext cx="2961609" cy="2957907"/>
            </a:xfrm>
            <a:custGeom>
              <a:avLst/>
              <a:gdLst/>
              <a:ahLst/>
              <a:cxnLst/>
              <a:rect r="r" b="b" t="t" l="l"/>
              <a:pathLst>
                <a:path h="2957907" w="2961609">
                  <a:moveTo>
                    <a:pt x="0" y="0"/>
                  </a:moveTo>
                  <a:lnTo>
                    <a:pt x="2961609" y="0"/>
                  </a:lnTo>
                  <a:lnTo>
                    <a:pt x="2961609" y="2957907"/>
                  </a:lnTo>
                  <a:lnTo>
                    <a:pt x="0" y="2957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553603" y="3944997"/>
              <a:ext cx="1854402" cy="1854402"/>
            </a:xfrm>
            <a:custGeom>
              <a:avLst/>
              <a:gdLst/>
              <a:ahLst/>
              <a:cxnLst/>
              <a:rect r="r" b="b" t="t" l="l"/>
              <a:pathLst>
                <a:path h="1854402" w="1854402">
                  <a:moveTo>
                    <a:pt x="0" y="0"/>
                  </a:moveTo>
                  <a:lnTo>
                    <a:pt x="1854402" y="0"/>
                  </a:lnTo>
                  <a:lnTo>
                    <a:pt x="1854402" y="1854402"/>
                  </a:lnTo>
                  <a:lnTo>
                    <a:pt x="0" y="1854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20190" y="6786490"/>
              <a:ext cx="3041238" cy="3037437"/>
            </a:xfrm>
            <a:custGeom>
              <a:avLst/>
              <a:gdLst/>
              <a:ahLst/>
              <a:cxnLst/>
              <a:rect r="r" b="b" t="t" l="l"/>
              <a:pathLst>
                <a:path h="3037437" w="3041238">
                  <a:moveTo>
                    <a:pt x="0" y="0"/>
                  </a:moveTo>
                  <a:lnTo>
                    <a:pt x="3041238" y="0"/>
                  </a:lnTo>
                  <a:lnTo>
                    <a:pt x="3041238" y="3037436"/>
                  </a:lnTo>
                  <a:lnTo>
                    <a:pt x="0" y="3037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620836" y="7353077"/>
              <a:ext cx="1904262" cy="1904262"/>
            </a:xfrm>
            <a:custGeom>
              <a:avLst/>
              <a:gdLst/>
              <a:ahLst/>
              <a:cxnLst/>
              <a:rect r="r" b="b" t="t" l="l"/>
              <a:pathLst>
                <a:path h="1904262" w="1904262">
                  <a:moveTo>
                    <a:pt x="0" y="0"/>
                  </a:moveTo>
                  <a:lnTo>
                    <a:pt x="1904262" y="0"/>
                  </a:lnTo>
                  <a:lnTo>
                    <a:pt x="1904262" y="1904262"/>
                  </a:lnTo>
                  <a:lnTo>
                    <a:pt x="0" y="1904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F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61824" y="3235515"/>
            <a:ext cx="2617826" cy="2883100"/>
            <a:chOff x="0" y="0"/>
            <a:chExt cx="3490434" cy="3844133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32021" t="9056" r="19960" b="11568"/>
            <a:stretch>
              <a:fillRect/>
            </a:stretch>
          </p:blipFill>
          <p:spPr>
            <a:xfrm flipH="false" flipV="false">
              <a:off x="0" y="0"/>
              <a:ext cx="3490434" cy="3844133"/>
            </a:xfrm>
            <a:prstGeom prst="rect">
              <a:avLst/>
            </a:prstGeom>
          </p:spPr>
        </p:pic>
      </p:grpSp>
      <p:sp>
        <p:nvSpPr>
          <p:cNvPr name="AutoShape 4" id="4"/>
          <p:cNvSpPr/>
          <p:nvPr/>
        </p:nvSpPr>
        <p:spPr>
          <a:xfrm rot="5400000">
            <a:off x="4754684" y="5609749"/>
            <a:ext cx="4767518" cy="0"/>
          </a:xfrm>
          <a:prstGeom prst="line">
            <a:avLst/>
          </a:prstGeom>
          <a:ln cap="flat" w="19050">
            <a:solidFill>
              <a:srgbClr val="2E2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400000">
            <a:off x="8582753" y="5609749"/>
            <a:ext cx="4767518" cy="0"/>
          </a:xfrm>
          <a:prstGeom prst="line">
            <a:avLst/>
          </a:prstGeom>
          <a:ln cap="flat" w="19050">
            <a:solidFill>
              <a:srgbClr val="2E2D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9394686"/>
            <a:ext cx="444201" cy="263189"/>
          </a:xfrm>
          <a:custGeom>
            <a:avLst/>
            <a:gdLst/>
            <a:ahLst/>
            <a:cxnLst/>
            <a:rect r="r" b="b" t="t" l="l"/>
            <a:pathLst>
              <a:path h="263189" w="444201">
                <a:moveTo>
                  <a:pt x="0" y="0"/>
                </a:moveTo>
                <a:lnTo>
                  <a:pt x="444201" y="0"/>
                </a:lnTo>
                <a:lnTo>
                  <a:pt x="444201" y="263190"/>
                </a:lnTo>
                <a:lnTo>
                  <a:pt x="0" y="2631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44248" y="3223955"/>
            <a:ext cx="2884114" cy="2884114"/>
          </a:xfrm>
          <a:custGeom>
            <a:avLst/>
            <a:gdLst/>
            <a:ahLst/>
            <a:cxnLst/>
            <a:rect r="r" b="b" t="t" l="l"/>
            <a:pathLst>
              <a:path h="2884114" w="2884114">
                <a:moveTo>
                  <a:pt x="0" y="0"/>
                </a:moveTo>
                <a:lnTo>
                  <a:pt x="2884114" y="0"/>
                </a:lnTo>
                <a:lnTo>
                  <a:pt x="2884114" y="2884115"/>
                </a:lnTo>
                <a:lnTo>
                  <a:pt x="0" y="28841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538" t="-32621" r="-13119" b="-2228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69899" y="3172995"/>
            <a:ext cx="2477209" cy="2980653"/>
          </a:xfrm>
          <a:custGeom>
            <a:avLst/>
            <a:gdLst/>
            <a:ahLst/>
            <a:cxnLst/>
            <a:rect r="r" b="b" t="t" l="l"/>
            <a:pathLst>
              <a:path h="2980653" w="2477209">
                <a:moveTo>
                  <a:pt x="0" y="0"/>
                </a:moveTo>
                <a:lnTo>
                  <a:pt x="2477209" y="0"/>
                </a:lnTo>
                <a:lnTo>
                  <a:pt x="2477209" y="2980652"/>
                </a:lnTo>
                <a:lnTo>
                  <a:pt x="0" y="29806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4677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62025"/>
            <a:ext cx="10572087" cy="98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Team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76114" y="6382247"/>
            <a:ext cx="3486116" cy="103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Washiul Istiak </a:t>
            </a:r>
          </a:p>
          <a:p>
            <a:pPr algn="ctr">
              <a:lnSpc>
                <a:spcPts val="2048"/>
              </a:lnSpc>
            </a:pPr>
            <a:r>
              <a:rPr lang="en-US" b="true" sz="32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Hisham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73863" y="7290190"/>
            <a:ext cx="2869280" cy="4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EEE,BUET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7275" y="1857376"/>
            <a:ext cx="5328607" cy="452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1"/>
              </a:lnSpc>
              <a:spcBef>
                <a:spcPct val="0"/>
              </a:spcBef>
            </a:pPr>
            <a:r>
              <a:rPr lang="en-US" sz="2753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Team “kichu ekta kora lagbe”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3903" y="9324022"/>
            <a:ext cx="6173360" cy="370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  <a:spcBef>
                <a:spcPct val="0"/>
              </a:spcBef>
            </a:pPr>
            <a:r>
              <a:rPr lang="en-US" sz="2660">
                <a:solidFill>
                  <a:srgbClr val="147138"/>
                </a:solidFill>
                <a:latin typeface="Marykate"/>
                <a:ea typeface="Marykate"/>
                <a:cs typeface="Marykate"/>
                <a:sym typeface="Marykate"/>
              </a:rPr>
              <a:t>kichu ekta kora lagbe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30323" y="7664840"/>
            <a:ext cx="3177698" cy="4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Team Leader/CEO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00942" y="6382247"/>
            <a:ext cx="3486116" cy="62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Tanvir Ahmed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16348" y="6890449"/>
            <a:ext cx="2869280" cy="4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EEE,BUET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59082" y="7265099"/>
            <a:ext cx="2869280" cy="4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Co-Founder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99862" y="6347704"/>
            <a:ext cx="3830931" cy="62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147138"/>
                </a:solidFill>
                <a:latin typeface="Agrandir Bold"/>
                <a:ea typeface="Agrandir Bold"/>
                <a:cs typeface="Agrandir Bold"/>
                <a:sym typeface="Agrandir Bold"/>
              </a:rPr>
              <a:t>Moshud Muktadir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6097" y="6847449"/>
            <a:ext cx="2869280" cy="49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ARABIC,CU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36097" y="7246049"/>
            <a:ext cx="286928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UI/UX &amp; Product </a:t>
            </a:r>
          </a:p>
          <a:p>
            <a:pPr algn="ctr">
              <a:lnSpc>
                <a:spcPts val="1600"/>
              </a:lnSpc>
            </a:pPr>
            <a:r>
              <a:rPr lang="en-US" sz="2500">
                <a:solidFill>
                  <a:srgbClr val="147138"/>
                </a:solidFill>
                <a:latin typeface="Agrandir"/>
                <a:ea typeface="Agrandir"/>
                <a:cs typeface="Agrandir"/>
                <a:sym typeface="Agrandir"/>
              </a:rPr>
              <a:t>Designer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DAHAM638Eyc</dc:identifier>
  <dcterms:modified xsi:type="dcterms:W3CDTF">2011-08-01T06:04:30Z</dcterms:modified>
  <cp:revision>1</cp:revision>
  <dc:title>LANGOL 2</dc:title>
</cp:coreProperties>
</file>